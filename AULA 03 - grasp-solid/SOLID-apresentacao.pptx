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27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54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</a:t>
            </a:r>
            <a:endParaRPr lang="pt-BR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200" noProof="0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para projetos orientados a objetos mais compreensíveis e evolutivos</a:t>
            </a:r>
            <a:endParaRPr lang="pt-BR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80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Definições, diagnóstico, correções e trade-</a:t>
            </a:r>
            <a:r>
              <a:rPr lang="pt-BR" sz="1800" i="1" noProof="0" dirty="0" err="1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</a:t>
            </a:r>
            <a:endParaRPr lang="pt-BR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IBMEC  |  Arquitetura de Software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7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SOLID: cinco critérios para avaliar decisões de projeto</a:t>
            </a:r>
            <a:endParaRPr lang="pt-BR" sz="27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6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reúne cinco princípios que ajudam a organizar responsabilidades, extensões, hierarquias, contratos e dependências em sistemas orientados a objetos.</a:t>
            </a:r>
            <a:endParaRPr lang="pt-BR" sz="16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9782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i="1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funciona hoje pode continuar difícil de modificar, testar ou ampliar amanhã.</a:t>
            </a:r>
            <a:endParaRPr lang="pt-B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princípios:</a:t>
            </a:r>
            <a:endParaRPr lang="pt-B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pt-BR" sz="1700" noProof="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135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Responsabilidade Única</a:t>
            </a:r>
            <a:endParaRPr lang="pt-BR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4041648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pt-BR" sz="1700" noProof="0" dirty="0"/>
          </a:p>
        </p:txBody>
      </p:sp>
      <p:sp>
        <p:nvSpPr>
          <p:cNvPr id="13" name="Text 11"/>
          <p:cNvSpPr/>
          <p:nvPr/>
        </p:nvSpPr>
        <p:spPr>
          <a:xfrm>
            <a:off x="1371600" y="40416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135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Aberto/Fechado</a:t>
            </a:r>
            <a:endParaRPr lang="pt-BR" sz="1350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4471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pt-BR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1371600" y="44714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135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Substituição de </a:t>
            </a:r>
            <a:r>
              <a:rPr lang="pt-BR" sz="1350" i="1" noProof="0" dirty="0" err="1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endParaRPr lang="pt-BR" sz="135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4901184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49011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pt-BR" sz="1700" noProof="0" dirty="0"/>
          </a:p>
        </p:txBody>
      </p:sp>
      <p:sp>
        <p:nvSpPr>
          <p:cNvPr id="19" name="Text 17"/>
          <p:cNvSpPr/>
          <p:nvPr/>
        </p:nvSpPr>
        <p:spPr>
          <a:xfrm>
            <a:off x="1371600" y="4901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135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Segregação de Interfaces</a:t>
            </a:r>
            <a:endParaRPr lang="pt-BR" sz="1350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5330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pt-BR" sz="1700" noProof="0" dirty="0"/>
          </a:p>
        </p:txBody>
      </p:sp>
      <p:sp>
        <p:nvSpPr>
          <p:cNvPr id="22" name="Text 20"/>
          <p:cNvSpPr/>
          <p:nvPr/>
        </p:nvSpPr>
        <p:spPr>
          <a:xfrm>
            <a:off x="1371600" y="53309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r>
              <a:rPr lang="pt-BR" sz="13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135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Inversão de Dependência</a:t>
            </a:r>
            <a:endParaRPr lang="pt-BR" sz="1350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" y="61081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</a:t>
            </a:r>
            <a:r>
              <a:rPr lang="pt-BR" sz="11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orienta o raciocínio; não é uma receita para criar o maior número possível de classes e interfaces.</a:t>
            </a:r>
            <a:endParaRPr lang="pt-BR" sz="115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4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 distribui responsabilidades X SOLID avalia a implementação</a:t>
            </a:r>
            <a:endParaRPr lang="pt-BR" sz="24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87082"/>
              </p:ext>
            </p:extLst>
          </p:nvPr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Ajuda a decidir quem deve receber uma responsabilidade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Ajuda a avaliar como a responsabilidade foi implementada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Trabalha com a distribuição de responsabilidades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Trabalha com extensões, contratos, hierarquias e dependências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aplicado durante a modelagem e o projeto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Torna-se especialmente visível na estrutura do código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5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</a:t>
            </a:r>
            <a:r>
              <a:rPr lang="pt-BR" sz="15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e SOLID não são concorrentes. Uma boa atribuição de responsabilidades precisa ser sustentada por contratos e dependências coerentes.</a:t>
            </a:r>
            <a:endParaRPr lang="pt-BR" sz="155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7" name="Text 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7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indício à decisão de projeto</a:t>
            </a:r>
            <a:endParaRPr lang="pt-BR" sz="2700" noProof="0" dirty="0"/>
          </a:p>
        </p:txBody>
      </p:sp>
      <p:sp>
        <p:nvSpPr>
          <p:cNvPr id="3" name="Shape 1"/>
          <p:cNvSpPr/>
          <p:nvPr/>
        </p:nvSpPr>
        <p:spPr>
          <a:xfrm>
            <a:off x="678028" y="19202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1656436" y="1664208"/>
            <a:ext cx="512064" cy="512064"/>
          </a:xfrm>
          <a:prstGeom prst="ellipse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65643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15188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</a:t>
            </a:r>
            <a:endParaRPr lang="pt-BR" sz="1700" noProof="0" dirty="0"/>
          </a:p>
        </p:txBody>
      </p:sp>
      <p:sp>
        <p:nvSpPr>
          <p:cNvPr id="7" name="Text 5"/>
          <p:cNvSpPr/>
          <p:nvPr/>
        </p:nvSpPr>
        <p:spPr>
          <a:xfrm>
            <a:off x="860908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o projeto sem destacar a resposta.</a:t>
            </a:r>
            <a:endParaRPr lang="pt-BR" sz="1250" noProof="0" dirty="0"/>
          </a:p>
        </p:txBody>
      </p:sp>
      <p:sp>
        <p:nvSpPr>
          <p:cNvPr id="8" name="Shape 6"/>
          <p:cNvSpPr/>
          <p:nvPr/>
        </p:nvSpPr>
        <p:spPr>
          <a:xfrm>
            <a:off x="3174340" y="3063240"/>
            <a:ext cx="265176" cy="9144"/>
          </a:xfrm>
          <a:prstGeom prst="line">
            <a:avLst/>
          </a:prstGeom>
          <a:noFill/>
          <a:ln w="19050">
            <a:solidFill>
              <a:srgbClr val="8A97A0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3466948" y="19202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445356" y="1664208"/>
            <a:ext cx="512064" cy="512064"/>
          </a:xfrm>
          <a:prstGeom prst="ellipse">
            <a:avLst/>
          </a:prstGeom>
          <a:solidFill>
            <a:srgbClr val="B4231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44535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3604108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Diagnosticar</a:t>
            </a:r>
            <a:endParaRPr lang="pt-BR" sz="1700" noProof="0" dirty="0"/>
          </a:p>
        </p:txBody>
      </p:sp>
      <p:sp>
        <p:nvSpPr>
          <p:cNvPr id="13" name="Text 11"/>
          <p:cNvSpPr/>
          <p:nvPr/>
        </p:nvSpPr>
        <p:spPr>
          <a:xfrm>
            <a:off x="3649828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em vermelho o ponto focal do problema.</a:t>
            </a:r>
            <a:endParaRPr lang="pt-BR" sz="1250" noProof="0" dirty="0"/>
          </a:p>
        </p:txBody>
      </p:sp>
      <p:sp>
        <p:nvSpPr>
          <p:cNvPr id="14" name="Shape 12"/>
          <p:cNvSpPr/>
          <p:nvPr/>
        </p:nvSpPr>
        <p:spPr>
          <a:xfrm>
            <a:off x="5963260" y="3063240"/>
            <a:ext cx="265176" cy="9144"/>
          </a:xfrm>
          <a:prstGeom prst="line">
            <a:avLst/>
          </a:prstGeom>
          <a:noFill/>
          <a:ln w="19050">
            <a:solidFill>
              <a:srgbClr val="8A97A0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6255868" y="19202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7234276" y="1664208"/>
            <a:ext cx="512064" cy="51206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723427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6393028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Corrigir</a:t>
            </a:r>
            <a:endParaRPr lang="pt-BR" sz="1700" noProof="0" dirty="0"/>
          </a:p>
        </p:txBody>
      </p:sp>
      <p:sp>
        <p:nvSpPr>
          <p:cNvPr id="19" name="Text 17"/>
          <p:cNvSpPr/>
          <p:nvPr/>
        </p:nvSpPr>
        <p:spPr>
          <a:xfrm>
            <a:off x="6438748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em azul a mudança proposta.</a:t>
            </a:r>
            <a:endParaRPr lang="pt-BR" sz="1250" noProof="0" dirty="0"/>
          </a:p>
        </p:txBody>
      </p:sp>
      <p:sp>
        <p:nvSpPr>
          <p:cNvPr id="20" name="Shape 18"/>
          <p:cNvSpPr/>
          <p:nvPr/>
        </p:nvSpPr>
        <p:spPr>
          <a:xfrm>
            <a:off x="8752180" y="3063240"/>
            <a:ext cx="265176" cy="9144"/>
          </a:xfrm>
          <a:prstGeom prst="line">
            <a:avLst/>
          </a:prstGeom>
          <a:noFill/>
          <a:ln w="19050">
            <a:solidFill>
              <a:srgbClr val="8A97A0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9044788" y="19202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EAF6EE"/>
          </a:solidFill>
          <a:ln w="15875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10023196" y="1664208"/>
            <a:ext cx="512064" cy="512064"/>
          </a:xfrm>
          <a:prstGeom prst="ellipse">
            <a:avLst/>
          </a:prstGeom>
          <a:solidFill>
            <a:srgbClr val="287A4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1002319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2400" noProof="0" dirty="0"/>
          </a:p>
        </p:txBody>
      </p:sp>
      <p:sp>
        <p:nvSpPr>
          <p:cNvPr id="24" name="Text 22"/>
          <p:cNvSpPr/>
          <p:nvPr/>
        </p:nvSpPr>
        <p:spPr>
          <a:xfrm>
            <a:off x="9181948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28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pt-BR" sz="1700" noProof="0" dirty="0"/>
          </a:p>
        </p:txBody>
      </p:sp>
      <p:sp>
        <p:nvSpPr>
          <p:cNvPr id="25" name="Text 23"/>
          <p:cNvSpPr/>
          <p:nvPr/>
        </p:nvSpPr>
        <p:spPr>
          <a:xfrm>
            <a:off x="9227668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benefício, custo e necessidade real.</a:t>
            </a:r>
            <a:endParaRPr lang="pt-BR" sz="1250" noProof="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914400" y="4709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50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fechamento: </a:t>
            </a: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refatoração é justificável quando resolve um problema relevante sem introduzir complexidade desnecessária.</a:t>
            </a:r>
            <a:endParaRPr lang="pt-BR" sz="1500" noProof="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9" name="Text 2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66928" cy="566928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pt-BR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141732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da Responsabilidade Única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deve possuir uma única razão relevante para mudar.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cada classe concentrada em uma responsabilidade bem definida, evitando que mudanças motivadas por assuntos diferentes afetem o mesmo componente.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881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3044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UTILIZAR</a:t>
            </a:r>
            <a:endParaRPr lang="pt-BR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10424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executa atividades de naturezas diferentes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 de áreas diferentes modificam a mesma classe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seus métodos poderia formar uma responsabilidade independente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exigem muitos preparativos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cresce a cada nova funcionalidade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i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pt-BR" sz="11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única não significa possuir apenas um método. Vários métodos podem contribuir para o mesmo propósito.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531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592531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PRINCIPAL:  </a:t>
            </a:r>
            <a:r>
              <a:rPr lang="pt-BR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razões diferentes esta classe possui para mudar?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1 · INVESTIGAÇÃO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responsabilidades pertencem à coordenação do ataque e quais tratam de assuntos diferentes?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3809848" y="2148840"/>
            <a:ext cx="4572000" cy="1874520"/>
          </a:xfrm>
          <a:prstGeom prst="roundRect">
            <a:avLst>
              <a:gd name="adj" fmla="val 2439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3919576" y="2212848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ControladorAtaque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3919576" y="2459736"/>
            <a:ext cx="43525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Coordenar o ataque</a:t>
            </a:r>
            <a:endParaRPr lang="pt-BR" sz="13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aplicar o dano</a:t>
            </a:r>
            <a:endParaRPr lang="pt-BR" sz="13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3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os jogadores</a:t>
            </a:r>
            <a:endParaRPr lang="pt-BR" sz="13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auditoria</a:t>
            </a:r>
            <a:endParaRPr lang="pt-BR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diagrama e identifique os pontos de atenção.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1 · DIAGNÓSTICO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ControladorAtaque</a:t>
            </a: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possui razões diferentes para mudar: regras de combate, armazenamento, notificação e auditoria.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3809848" y="2148840"/>
            <a:ext cx="4572000" cy="1874520"/>
          </a:xfrm>
          <a:prstGeom prst="roundRect">
            <a:avLst>
              <a:gd name="adj" fmla="val 2439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3919576" y="2212848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ControladorAtaque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3919576" y="2459736"/>
            <a:ext cx="43525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Coordenar o ataque</a:t>
            </a:r>
            <a:endParaRPr lang="pt-BR" sz="13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aplicar o dano</a:t>
            </a:r>
            <a:endParaRPr lang="pt-BR" sz="13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3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os jogadores</a:t>
            </a:r>
            <a:endParaRPr lang="pt-BR" sz="13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auditoria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FOCAL:  </a:t>
            </a:r>
            <a:r>
              <a:rPr lang="pt-BR" sz="1300" noProof="0" dirty="0">
                <a:solidFill>
                  <a:srgbClr val="7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mudança em qualquer um desses assuntos obriga a alteração da mesma classe.</a:t>
            </a:r>
            <a:endParaRPr lang="pt-B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1 · SOLUÇÃO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controlador permanece responsável pela coordenação e delega as demais atividades para classes com propósitos específicos.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267048" y="1463040"/>
            <a:ext cx="365760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376776" y="152704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ControladorAtaque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376776" y="1773936"/>
            <a:ext cx="3438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o caso de uso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792328" y="306324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902056" y="312724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902056" y="3374136"/>
            <a:ext cx="22951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 aplica o dano</a:t>
            </a:r>
            <a:endParaRPr lang="pt-BR" sz="1050" noProof="0" dirty="0"/>
          </a:p>
        </p:txBody>
      </p:sp>
      <p:sp>
        <p:nvSpPr>
          <p:cNvPr id="10" name="Shape 8"/>
          <p:cNvSpPr/>
          <p:nvPr/>
        </p:nvSpPr>
        <p:spPr>
          <a:xfrm flipH="1">
            <a:off x="2049628" y="2240280"/>
            <a:ext cx="4046220" cy="8229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569818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3489808" y="306324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3599536" y="312724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ArmazenamentoPartida</a:t>
            </a:r>
            <a:endParaRPr lang="pt-BR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3599536" y="3374136"/>
            <a:ext cx="22951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 partida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 flipH="1">
            <a:off x="4747108" y="2240280"/>
            <a:ext cx="1348740" cy="8229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18558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pt-B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6187288" y="306324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297016" y="312724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NotificadorJogadores</a:t>
            </a:r>
            <a:endParaRPr lang="pt-BR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6297016" y="3374136"/>
            <a:ext cx="22951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avisos</a:t>
            </a:r>
            <a:endParaRPr lang="pt-BR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6095848" y="2240280"/>
            <a:ext cx="1348740" cy="8229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267298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pt-B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8884768" y="306324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8994496" y="312724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RegistroAuditoria</a:t>
            </a:r>
            <a:endParaRPr lang="pt-BR" sz="1250" noProof="0" dirty="0"/>
          </a:p>
        </p:txBody>
      </p:sp>
      <p:sp>
        <p:nvSpPr>
          <p:cNvPr id="24" name="Text 22"/>
          <p:cNvSpPr/>
          <p:nvPr/>
        </p:nvSpPr>
        <p:spPr>
          <a:xfrm>
            <a:off x="8994496" y="3374136"/>
            <a:ext cx="22951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operação</a:t>
            </a:r>
            <a:endParaRPr lang="pt-BR" sz="1050" noProof="0" dirty="0"/>
          </a:p>
        </p:txBody>
      </p:sp>
      <p:sp>
        <p:nvSpPr>
          <p:cNvPr id="25" name="Shape 23"/>
          <p:cNvSpPr/>
          <p:nvPr/>
        </p:nvSpPr>
        <p:spPr>
          <a:xfrm>
            <a:off x="6095848" y="2240280"/>
            <a:ext cx="4046220" cy="8229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7616038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pt-BR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 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forma de salvar a partida mudar, </a:t>
            </a:r>
            <a:r>
              <a:rPr lang="pt-BR" sz="12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ControladorAtaque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 implementar o novo armazenamento?   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A mudança pertence a </a:t>
            </a:r>
            <a:r>
              <a:rPr lang="pt-BR" sz="1250" b="1" noProof="0" dirty="0" err="1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ArmazenamentoPartida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 controlador apenas solicita o salvamento.</a:t>
            </a:r>
            <a:endParaRPr lang="pt-BR" sz="1250" noProof="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66928" cy="566928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Open/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pt-BR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141732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Aberto/Fechado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unidade de software deve estar aberta para extensão e fechada para modificações recorrentes.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novos comportamentos sem alterar repetidamente um componente que já está funcionando.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881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3044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UTILIZAR</a:t>
            </a:r>
            <a:endParaRPr lang="pt-BR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10424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muda sempre que surge um novo tipo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decisões baseadas no tipo do objeto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comportamento possui diferentes implementações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extensão é esperada e relevante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contrato estável pode representar a variação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i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pt-BR" sz="11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 para modificação não significa que o código nunca poderá mudar. O princípio evita alterações recorrentes causadas pela mesma espécie de extensão.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531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592531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PRINCIPAL:  </a:t>
            </a:r>
            <a:r>
              <a:rPr lang="pt-BR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incluir novos comportamentos sem modificar repetidamente a classe central?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Open/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2 · INVESTIGAÇÃO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precisa mudar quando uma nova unidade possui uma forma diferente de calcular dano?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449928" y="150876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59656" y="157276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559656" y="181965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dano conforme o tipo da unidade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154670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65643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Espadachim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 flipH="1">
            <a:off x="2598268" y="2423160"/>
            <a:ext cx="3497580" cy="822960"/>
          </a:xfrm>
          <a:prstGeom prst="line">
            <a:avLst/>
          </a:prstGeom>
          <a:noFill/>
          <a:ln w="19050">
            <a:solidFill>
              <a:srgbClr val="263238"/>
            </a:solidFill>
            <a:prstDash val="dash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84413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pt-B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387842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398815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Arqueiro</a:t>
            </a:r>
            <a:endParaRPr lang="pt-BR" sz="1250" noProof="0" dirty="0"/>
          </a:p>
        </p:txBody>
      </p:sp>
      <p:sp>
        <p:nvSpPr>
          <p:cNvPr id="13" name="Shape 11"/>
          <p:cNvSpPr/>
          <p:nvPr/>
        </p:nvSpPr>
        <p:spPr>
          <a:xfrm flipH="1">
            <a:off x="4929988" y="2423160"/>
            <a:ext cx="1165860" cy="822960"/>
          </a:xfrm>
          <a:prstGeom prst="line">
            <a:avLst/>
          </a:prstGeom>
          <a:noFill/>
          <a:ln w="19050">
            <a:solidFill>
              <a:srgbClr val="263238"/>
            </a:solidFill>
            <a:prstDash val="dash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0999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621014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631987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</a:t>
            </a:r>
            <a:endParaRPr lang="pt-BR" sz="1250" noProof="0" dirty="0"/>
          </a:p>
        </p:txBody>
      </p:sp>
      <p:sp>
        <p:nvSpPr>
          <p:cNvPr id="17" name="Shape 15"/>
          <p:cNvSpPr/>
          <p:nvPr/>
        </p:nvSpPr>
        <p:spPr>
          <a:xfrm>
            <a:off x="6095848" y="2423160"/>
            <a:ext cx="1165860" cy="822960"/>
          </a:xfrm>
          <a:prstGeom prst="line">
            <a:avLst/>
          </a:prstGeom>
          <a:noFill/>
          <a:ln w="19050">
            <a:solidFill>
              <a:srgbClr val="263238"/>
            </a:solidFill>
            <a:prstDash val="dash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17585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854186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8A97A0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865159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Catapulta ?</a:t>
            </a:r>
            <a:endParaRPr lang="pt-BR" sz="1250" noProof="0" dirty="0"/>
          </a:p>
        </p:txBody>
      </p:sp>
      <p:sp>
        <p:nvSpPr>
          <p:cNvPr id="21" name="Shape 19"/>
          <p:cNvSpPr/>
          <p:nvPr/>
        </p:nvSpPr>
        <p:spPr>
          <a:xfrm>
            <a:off x="6095848" y="2423160"/>
            <a:ext cx="3497580" cy="822960"/>
          </a:xfrm>
          <a:prstGeom prst="line">
            <a:avLst/>
          </a:prstGeom>
          <a:noFill/>
          <a:ln w="19050">
            <a:solidFill>
              <a:srgbClr val="8A97A0"/>
            </a:solidFill>
            <a:prstDash val="dash"/>
            <a:tailEnd type="non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34171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tipo?</a:t>
            </a:r>
            <a:endParaRPr lang="pt-B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diagrama e identifique os pontos de atenção.</a:t>
            </a:r>
            <a:endParaRPr lang="pt-BR" sz="115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Open/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2 · DIAGNÓSTICO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novo tipo de unidade obriga a inclusão de outra decisão em Combate.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449928" y="150876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59656" y="157276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559656" y="181965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dano conforme o tipo da unidade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154670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65643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Espadachim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 flipH="1">
            <a:off x="2598268" y="2423160"/>
            <a:ext cx="3497580" cy="82296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84413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pt-B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387842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398815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Arqueiro</a:t>
            </a:r>
            <a:endParaRPr lang="pt-BR" sz="1250" noProof="0" dirty="0"/>
          </a:p>
        </p:txBody>
      </p:sp>
      <p:sp>
        <p:nvSpPr>
          <p:cNvPr id="13" name="Shape 11"/>
          <p:cNvSpPr/>
          <p:nvPr/>
        </p:nvSpPr>
        <p:spPr>
          <a:xfrm flipH="1">
            <a:off x="4929988" y="2423160"/>
            <a:ext cx="1165860" cy="82296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0999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621014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631987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</a:t>
            </a:r>
            <a:endParaRPr lang="pt-BR" sz="1250" noProof="0" dirty="0"/>
          </a:p>
        </p:txBody>
      </p:sp>
      <p:sp>
        <p:nvSpPr>
          <p:cNvPr id="17" name="Shape 15"/>
          <p:cNvSpPr/>
          <p:nvPr/>
        </p:nvSpPr>
        <p:spPr>
          <a:xfrm>
            <a:off x="6095848" y="2423160"/>
            <a:ext cx="1165860" cy="82296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17585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854186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865159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Catapulta ?</a:t>
            </a:r>
            <a:endParaRPr lang="pt-BR" sz="1250" noProof="0" dirty="0"/>
          </a:p>
        </p:txBody>
      </p:sp>
      <p:sp>
        <p:nvSpPr>
          <p:cNvPr id="21" name="Shape 19"/>
          <p:cNvSpPr/>
          <p:nvPr/>
        </p:nvSpPr>
        <p:spPr>
          <a:xfrm>
            <a:off x="6095848" y="2423160"/>
            <a:ext cx="3497580" cy="82296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  <a:tailEnd type="non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341718" y="2560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tipo?</a:t>
            </a:r>
            <a:endParaRPr lang="pt-BR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FOCAL:  </a:t>
            </a:r>
            <a:r>
              <a:rPr lang="pt-BR" sz="1300" noProof="0" dirty="0">
                <a:solidFill>
                  <a:srgbClr val="7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extensão de tipos provoca modificações recorrentes em uma classe já existente.</a:t>
            </a:r>
            <a:endParaRPr lang="pt-BR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Open/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2 · SOLUÇÃO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 define a capacidade comum de calcular dano, e cada subtipo fornece seu próprio comportamento.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32688" y="161848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932688" y="1865376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o dano à Unidade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681728" y="161848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4681728" y="1865376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Contrato: calcular dano</a:t>
            </a:r>
            <a:endParaRPr lang="pt-BR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1280160" cy="914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429000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154670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165643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Espadachim</a:t>
            </a:r>
            <a:endParaRPr lang="pt-BR" sz="1250" noProof="0" dirty="0"/>
          </a:p>
        </p:txBody>
      </p:sp>
      <p:sp>
        <p:nvSpPr>
          <p:cNvPr id="14" name="Shape 12"/>
          <p:cNvSpPr/>
          <p:nvPr/>
        </p:nvSpPr>
        <p:spPr>
          <a:xfrm flipV="1">
            <a:off x="2598268" y="2377440"/>
            <a:ext cx="3711092" cy="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3950894" y="2537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387842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398815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Arqueiro</a:t>
            </a:r>
            <a:endParaRPr lang="pt-BR" sz="1250" noProof="0" dirty="0"/>
          </a:p>
        </p:txBody>
      </p:sp>
      <p:sp>
        <p:nvSpPr>
          <p:cNvPr id="18" name="Shape 16"/>
          <p:cNvSpPr/>
          <p:nvPr/>
        </p:nvSpPr>
        <p:spPr>
          <a:xfrm flipV="1">
            <a:off x="4929988" y="2377440"/>
            <a:ext cx="1379372" cy="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5116754" y="2537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621014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31987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</a:t>
            </a:r>
            <a:endParaRPr lang="pt-BR" sz="1250" noProof="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6309360" y="2377440"/>
            <a:ext cx="952348" cy="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6282614" y="2537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8541868" y="324612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8651596" y="33101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Catapulta</a:t>
            </a:r>
            <a:endParaRPr lang="pt-BR" sz="1250" noProof="0" dirty="0"/>
          </a:p>
        </p:txBody>
      </p:sp>
      <p:sp>
        <p:nvSpPr>
          <p:cNvPr id="26" name="Shape 24"/>
          <p:cNvSpPr/>
          <p:nvPr/>
        </p:nvSpPr>
        <p:spPr>
          <a:xfrm flipH="1" flipV="1">
            <a:off x="6309360" y="2377440"/>
            <a:ext cx="3284068" cy="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448474" y="2537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 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adicionar Catapulta, seria necessário modificar Combate?   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Catapulta fornece seu próprio comportamento e Combate continua utilizando o contrato comum.</a:t>
            </a:r>
            <a:endParaRPr lang="pt-BR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31" name="Text 2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Open/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66928" cy="566928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Liskov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pt-BR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141732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da Substituição de </a:t>
            </a:r>
            <a:r>
              <a:rPr lang="pt-BR" sz="1500" i="1" noProof="0" dirty="0" err="1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de um subtipo deve poder substituir um objeto de seu tipo-base sem violar o comportamento esperado pelo cliente.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hierarquias nas quais os subtipos respeitem as expectativas e os contratos definidos pelos tipos mais gerais.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881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3044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UTILIZAR</a:t>
            </a:r>
            <a:endParaRPr lang="pt-BR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10424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subtipo rejeita uma operação válida do tipo-base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subtipo ignora um comportamento herdado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precisa verificar o tipo real antes de usar o objeto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subtipo exige condições especiais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herança foi escolhida somente para reaproveitar elementos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i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pt-BR" sz="11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subtipos podem executar uma operação de maneiras diferentes, desde que preservem o contrato esperado.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531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592531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PRINCIPAL:  </a:t>
            </a:r>
            <a:r>
              <a:rPr lang="pt-BR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subtipo pode cumprir as promessas realizadas pelo tipo-base?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3 · INVESTIGAÇÃO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Unidade pode realmente executar a operação de movimento prometida pelo tipo geral?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2377440" y="1874520"/>
            <a:ext cx="310896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2487168" y="19385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2487168" y="2185416"/>
            <a:ext cx="2889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pt-BR" sz="10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329184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510528" y="193852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6510528" y="2185416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qualquer Unidade</a:t>
            </a:r>
            <a:endParaRPr lang="pt-BR" sz="1050" noProof="0" dirty="0"/>
          </a:p>
        </p:txBody>
      </p:sp>
      <p:sp>
        <p:nvSpPr>
          <p:cNvPr id="10" name="Shape 8"/>
          <p:cNvSpPr/>
          <p:nvPr/>
        </p:nvSpPr>
        <p:spPr>
          <a:xfrm flipH="1">
            <a:off x="5486400" y="2263140"/>
            <a:ext cx="914400" cy="9144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440680" y="21808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2666848" y="33375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2776576" y="3401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Espadachim</a:t>
            </a:r>
            <a:endParaRPr lang="pt-BR" sz="1250" noProof="0" dirty="0"/>
          </a:p>
        </p:txBody>
      </p:sp>
      <p:sp>
        <p:nvSpPr>
          <p:cNvPr id="14" name="Shape 12"/>
          <p:cNvSpPr/>
          <p:nvPr/>
        </p:nvSpPr>
        <p:spPr>
          <a:xfrm flipV="1">
            <a:off x="3718408" y="2651760"/>
            <a:ext cx="213512" cy="68580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3322244" y="27546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5044288" y="33375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154016" y="3401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Arqueiro</a:t>
            </a:r>
            <a:endParaRPr lang="pt-BR" sz="1250" noProof="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3931920" y="2651760"/>
            <a:ext cx="2163928" cy="68580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4510964" y="27546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7421728" y="33375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531456" y="3401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</a:t>
            </a:r>
            <a:endParaRPr lang="pt-BR" sz="1250" noProof="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3931920" y="2651760"/>
            <a:ext cx="4541368" cy="68580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5699684" y="27546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7421728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 mover</a:t>
            </a:r>
            <a:endParaRPr lang="pt-B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diagrama e identifique os pontos de atenção.</a:t>
            </a:r>
            <a:endParaRPr lang="pt-BR" sz="1150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3 · DIAGNÓSTICO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pode ser utilizada como Unidade, mas não consegue cumprir a operação de movimento prometida pelo tipo-base.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2377440" y="1874520"/>
            <a:ext cx="3108960" cy="777240"/>
          </a:xfrm>
          <a:prstGeom prst="roundRect">
            <a:avLst>
              <a:gd name="adj" fmla="val 5882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2487168" y="19385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2487168" y="2185416"/>
            <a:ext cx="2889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pt-BR" sz="10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329184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510528" y="193852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6510528" y="2185416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qualquer Unidade</a:t>
            </a:r>
            <a:endParaRPr lang="pt-BR" sz="1050" noProof="0" dirty="0"/>
          </a:p>
        </p:txBody>
      </p:sp>
      <p:sp>
        <p:nvSpPr>
          <p:cNvPr id="10" name="Shape 8"/>
          <p:cNvSpPr/>
          <p:nvPr/>
        </p:nvSpPr>
        <p:spPr>
          <a:xfrm flipH="1">
            <a:off x="5486400" y="2263140"/>
            <a:ext cx="914400" cy="9144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440680" y="21808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2666848" y="33375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2776576" y="3401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Espadachim</a:t>
            </a:r>
            <a:endParaRPr lang="pt-BR" sz="1250" noProof="0" dirty="0"/>
          </a:p>
        </p:txBody>
      </p:sp>
      <p:sp>
        <p:nvSpPr>
          <p:cNvPr id="14" name="Shape 12"/>
          <p:cNvSpPr/>
          <p:nvPr/>
        </p:nvSpPr>
        <p:spPr>
          <a:xfrm flipV="1">
            <a:off x="3718408" y="2651760"/>
            <a:ext cx="213512" cy="68580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3322244" y="27546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5044288" y="33375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154016" y="3401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Arqueiro</a:t>
            </a:r>
            <a:endParaRPr lang="pt-BR" sz="1250" noProof="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3931920" y="2651760"/>
            <a:ext cx="2163928" cy="68580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4510964" y="27546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7421728" y="33375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531456" y="34015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</a:t>
            </a:r>
            <a:endParaRPr lang="pt-BR" sz="1250" noProof="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3931920" y="2651760"/>
            <a:ext cx="4541368" cy="685800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5699684" y="27546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7421728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 mover</a:t>
            </a:r>
            <a:endParaRPr lang="pt-B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FOCAL:  </a:t>
            </a:r>
            <a:r>
              <a:rPr lang="pt-BR" sz="1300" noProof="0" dirty="0">
                <a:solidFill>
                  <a:srgbClr val="7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subtipo quebra a expectativa estabelecida pelo tipo-base.</a:t>
            </a:r>
            <a:endParaRPr lang="pt-BR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3 · SOLUÇÃO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tipo geral mantém somente capacidades comuns, e </a:t>
            </a:r>
            <a:r>
              <a:rPr lang="pt-BR" sz="19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UnidadeMovel</a:t>
            </a: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representa explicitamente os elementos que podem se mover.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541368" y="1371600"/>
            <a:ext cx="310896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651096" y="143560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651096" y="168249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Contrato: combate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358488" y="2331720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468216" y="239572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4468216" y="264261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Contrato: movimento</a:t>
            </a:r>
            <a:endParaRPr lang="pt-BR" sz="1000" noProof="0" dirty="0"/>
          </a:p>
        </p:txBody>
      </p:sp>
      <p:sp>
        <p:nvSpPr>
          <p:cNvPr id="10" name="Shape 8"/>
          <p:cNvSpPr/>
          <p:nvPr/>
        </p:nvSpPr>
        <p:spPr>
          <a:xfrm flipH="1" flipV="1">
            <a:off x="6095848" y="2011680"/>
            <a:ext cx="9144" cy="3200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92928" y="205968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9418320" y="233172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528048" y="239572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</a:t>
            </a:r>
            <a:endParaRPr lang="pt-BR" sz="1250" noProof="0" dirty="0"/>
          </a:p>
        </p:txBody>
      </p:sp>
      <p:sp>
        <p:nvSpPr>
          <p:cNvPr id="14" name="Shape 12"/>
          <p:cNvSpPr/>
          <p:nvPr/>
        </p:nvSpPr>
        <p:spPr>
          <a:xfrm flipH="1" flipV="1">
            <a:off x="7650328" y="1755648"/>
            <a:ext cx="2773832" cy="57607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8534324" y="184205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3947008" y="33832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4056736" y="344728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Espadachim</a:t>
            </a:r>
            <a:endParaRPr lang="pt-BR" sz="1250" noProof="0" dirty="0"/>
          </a:p>
        </p:txBody>
      </p:sp>
      <p:sp>
        <p:nvSpPr>
          <p:cNvPr id="18" name="Shape 16"/>
          <p:cNvSpPr/>
          <p:nvPr/>
        </p:nvSpPr>
        <p:spPr>
          <a:xfrm flipV="1">
            <a:off x="4952848" y="2971800"/>
            <a:ext cx="1143000" cy="4114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5021428" y="303352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6233008" y="33832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342736" y="344728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Arqueiro</a:t>
            </a:r>
            <a:endParaRPr lang="pt-BR" sz="1250" noProof="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6095848" y="2971800"/>
            <a:ext cx="1143000" cy="4114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6164428" y="303352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3855568" y="4434840"/>
            <a:ext cx="4480560" cy="640080"/>
          </a:xfrm>
          <a:prstGeom prst="roundRect">
            <a:avLst>
              <a:gd name="adj" fmla="val 714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3965296" y="449884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endParaRPr lang="pt-BR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3965296" y="474573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apenas </a:t>
            </a:r>
            <a:r>
              <a:rPr lang="pt-BR" sz="100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000" noProof="0" dirty="0"/>
          </a:p>
        </p:txBody>
      </p:sp>
      <p:sp>
        <p:nvSpPr>
          <p:cNvPr id="27" name="Shape 25"/>
          <p:cNvSpPr/>
          <p:nvPr/>
        </p:nvSpPr>
        <p:spPr>
          <a:xfrm flipV="1">
            <a:off x="6095848" y="2971800"/>
            <a:ext cx="9144" cy="14630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5592928" y="3429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endParaRPr lang="pt-BR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 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pode ser enviada ao </a:t>
            </a:r>
            <a:r>
              <a:rPr lang="pt-BR" sz="12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depois da correção?   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O controlador exige uma </a:t>
            </a:r>
            <a:r>
              <a:rPr lang="pt-BR" sz="1250" b="1" noProof="0" dirty="0" err="1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Torre não promete essa capacidade.</a:t>
            </a:r>
            <a:endParaRPr lang="pt-BR" sz="1250" noProof="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32" name="Text 3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66928" cy="566928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Segregation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pt-BR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141732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da Segregação de Interfaces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não deve ser obrigado a depender de operações que não utiliza.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contratos pequenos e coerentes, evitando operações sem significado, implementações vazias e exceções usadas apenas para satisfazer interfaces amplas.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881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3044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UTILIZAR</a:t>
            </a:r>
            <a:endParaRPr lang="pt-BR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10424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implementação deixa operações vazias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rejeita operações exigidas pelo contrato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utilizam apenas uma pequena parte da interface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afetam clientes que não utilizam a operação alterada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diferentes podem variar separadamente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i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pt-BR" sz="11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Segregar não significa criar automaticamente uma interface para cada operação. O agrupamento deve refletir necessidades reais dos clientes.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531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592531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PRINCIPAL:  </a:t>
            </a:r>
            <a:r>
              <a:rPr lang="pt-BR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obriga alguma classe a oferecer operações que ela não utiliza?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Interface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4 · INVESTIGAÇÃO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classes de apoio precisam oferecer salvamento, notificação e auditoria?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129888" y="1417320"/>
            <a:ext cx="3931920" cy="1143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239616" y="148132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AcoesApoio</a:t>
            </a: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(interface ampla)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239616" y="1728216"/>
            <a:ext cx="3712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1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1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1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1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1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1706728" y="31546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816456" y="32186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ArmazenamentoPartida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1816456" y="3465576"/>
            <a:ext cx="25237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000" noProof="0" dirty="0"/>
          </a:p>
        </p:txBody>
      </p:sp>
      <p:sp>
        <p:nvSpPr>
          <p:cNvPr id="10" name="Shape 8"/>
          <p:cNvSpPr/>
          <p:nvPr/>
        </p:nvSpPr>
        <p:spPr>
          <a:xfrm flipV="1">
            <a:off x="3078328" y="2560320"/>
            <a:ext cx="3017520" cy="59436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084168" y="264947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4724248" y="31546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4833976" y="32186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NotificadorJogadores</a:t>
            </a:r>
            <a:endParaRPr lang="pt-BR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4833976" y="3465576"/>
            <a:ext cx="25237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000" noProof="0" dirty="0"/>
          </a:p>
        </p:txBody>
      </p:sp>
      <p:sp>
        <p:nvSpPr>
          <p:cNvPr id="15" name="Shape 13"/>
          <p:cNvSpPr/>
          <p:nvPr/>
        </p:nvSpPr>
        <p:spPr>
          <a:xfrm flipV="1">
            <a:off x="6095848" y="2560320"/>
            <a:ext cx="9144" cy="59436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92928" y="264947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7741768" y="31546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851496" y="32186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RegistroAuditoria</a:t>
            </a:r>
            <a:endParaRPr lang="pt-BR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7851496" y="3465576"/>
            <a:ext cx="25237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000" noProof="0" dirty="0"/>
          </a:p>
        </p:txBody>
      </p:sp>
      <p:sp>
        <p:nvSpPr>
          <p:cNvPr id="20" name="Shape 18"/>
          <p:cNvSpPr/>
          <p:nvPr/>
        </p:nvSpPr>
        <p:spPr>
          <a:xfrm flipH="1" flipV="1">
            <a:off x="6095848" y="2560320"/>
            <a:ext cx="3017520" cy="59436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101688" y="264947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diagrama e identifique os pontos de atenção.</a:t>
            </a:r>
            <a:endParaRPr lang="pt-BR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Interface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4 · DIAGNÓSTICO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classes são obrigadas a oferecer operações que não fazem parte de suas responsabilidades.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129888" y="1417320"/>
            <a:ext cx="3931920" cy="114300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239616" y="148132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AcoesApoio</a:t>
            </a:r>
            <a:r>
              <a:rPr lang="pt-BR" sz="12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(interface ampla)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239616" y="1728216"/>
            <a:ext cx="3712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1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1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1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1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1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1706728" y="31546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816456" y="32186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ArmazenamentoPartida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1816456" y="3465576"/>
            <a:ext cx="25237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000" noProof="0" dirty="0"/>
          </a:p>
        </p:txBody>
      </p:sp>
      <p:sp>
        <p:nvSpPr>
          <p:cNvPr id="10" name="Shape 8"/>
          <p:cNvSpPr/>
          <p:nvPr/>
        </p:nvSpPr>
        <p:spPr>
          <a:xfrm flipV="1">
            <a:off x="3078328" y="2560320"/>
            <a:ext cx="3017520" cy="594360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084168" y="264947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4724248" y="31546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4833976" y="32186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NotificadorJogadores</a:t>
            </a:r>
            <a:endParaRPr lang="pt-BR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4833976" y="3465576"/>
            <a:ext cx="25237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000" noProof="0" dirty="0"/>
          </a:p>
        </p:txBody>
      </p:sp>
      <p:sp>
        <p:nvSpPr>
          <p:cNvPr id="15" name="Shape 13"/>
          <p:cNvSpPr/>
          <p:nvPr/>
        </p:nvSpPr>
        <p:spPr>
          <a:xfrm flipV="1">
            <a:off x="6095848" y="2560320"/>
            <a:ext cx="9144" cy="594360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92928" y="264947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7741768" y="31546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851496" y="32186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RegistroAuditoria</a:t>
            </a:r>
            <a:endParaRPr lang="pt-BR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7851496" y="3465576"/>
            <a:ext cx="25237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partida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jogadores</a:t>
            </a:r>
            <a:endParaRPr lang="pt-BR" sz="100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</a:t>
            </a:r>
            <a:endParaRPr lang="pt-BR" sz="1000" noProof="0" dirty="0"/>
          </a:p>
        </p:txBody>
      </p:sp>
      <p:sp>
        <p:nvSpPr>
          <p:cNvPr id="20" name="Shape 18"/>
          <p:cNvSpPr/>
          <p:nvPr/>
        </p:nvSpPr>
        <p:spPr>
          <a:xfrm flipH="1" flipV="1">
            <a:off x="6095848" y="2560320"/>
            <a:ext cx="3017520" cy="594360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101688" y="264947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FOCAL:  </a:t>
            </a:r>
            <a:r>
              <a:rPr lang="pt-BR" sz="1300" noProof="0" dirty="0">
                <a:solidFill>
                  <a:srgbClr val="7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amplo cria dependências e promessas sem significado para os implementadores.</a:t>
            </a:r>
            <a:endParaRPr lang="pt-BR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Interface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4 · SOLUÇÃO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contrato amplo é dividido em interfaces menores, associadas às capacidades reais de cada classe.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449928" y="137160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59656" y="143560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ControladorAtaque</a:t>
            </a:r>
            <a:endParaRPr lang="pt-BR" sz="1250" noProof="0" dirty="0"/>
          </a:p>
        </p:txBody>
      </p:sp>
      <p:sp>
        <p:nvSpPr>
          <p:cNvPr id="6" name="Shape 4"/>
          <p:cNvSpPr/>
          <p:nvPr/>
        </p:nvSpPr>
        <p:spPr>
          <a:xfrm>
            <a:off x="2072488" y="233172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2182216" y="239572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SalvamentoPartida</a:t>
            </a:r>
            <a:endParaRPr lang="pt-BR" sz="1250" noProof="0" dirty="0"/>
          </a:p>
        </p:txBody>
      </p:sp>
      <p:sp>
        <p:nvSpPr>
          <p:cNvPr id="8" name="Shape 6"/>
          <p:cNvSpPr/>
          <p:nvPr/>
        </p:nvSpPr>
        <p:spPr>
          <a:xfrm flipH="1">
            <a:off x="3306928" y="1965960"/>
            <a:ext cx="2788920" cy="3657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4198468" y="2020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2072488" y="34290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2182216" y="349300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ArmazenamentoPartida</a:t>
            </a:r>
            <a:endParaRPr lang="pt-BR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2182216" y="3739896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 partida</a:t>
            </a:r>
            <a:endParaRPr lang="pt-BR" sz="1000" noProof="0" dirty="0"/>
          </a:p>
        </p:txBody>
      </p:sp>
      <p:sp>
        <p:nvSpPr>
          <p:cNvPr id="13" name="Shape 11"/>
          <p:cNvSpPr/>
          <p:nvPr/>
        </p:nvSpPr>
        <p:spPr>
          <a:xfrm flipV="1">
            <a:off x="3306928" y="2880360"/>
            <a:ext cx="9144" cy="548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2804008" y="2962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4861408" y="233172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71136" y="239572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NotificacaoJogadores</a:t>
            </a:r>
            <a:endParaRPr lang="pt-BR" sz="1250" noProof="0" dirty="0"/>
          </a:p>
        </p:txBody>
      </p:sp>
      <p:sp>
        <p:nvSpPr>
          <p:cNvPr id="17" name="Shape 15"/>
          <p:cNvSpPr/>
          <p:nvPr/>
        </p:nvSpPr>
        <p:spPr>
          <a:xfrm flipH="1">
            <a:off x="6095848" y="1965960"/>
            <a:ext cx="9144" cy="3657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5592928" y="2020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4861408" y="34290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4971136" y="349300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NotificadorJogadores</a:t>
            </a:r>
            <a:endParaRPr lang="pt-BR" sz="1250" noProof="0" dirty="0"/>
          </a:p>
        </p:txBody>
      </p:sp>
      <p:sp>
        <p:nvSpPr>
          <p:cNvPr id="21" name="Text 19"/>
          <p:cNvSpPr/>
          <p:nvPr/>
        </p:nvSpPr>
        <p:spPr>
          <a:xfrm>
            <a:off x="4971136" y="3739896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avisos</a:t>
            </a:r>
            <a:endParaRPr lang="pt-BR" sz="1000" noProof="0" dirty="0"/>
          </a:p>
        </p:txBody>
      </p:sp>
      <p:sp>
        <p:nvSpPr>
          <p:cNvPr id="22" name="Shape 20"/>
          <p:cNvSpPr/>
          <p:nvPr/>
        </p:nvSpPr>
        <p:spPr>
          <a:xfrm flipV="1">
            <a:off x="6095848" y="2880360"/>
            <a:ext cx="9144" cy="548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5592928" y="2962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7650328" y="233172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7760056" y="239572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pt-BR" sz="1250" noProof="0" dirty="0"/>
          </a:p>
        </p:txBody>
      </p:sp>
      <p:sp>
        <p:nvSpPr>
          <p:cNvPr id="26" name="Shape 24"/>
          <p:cNvSpPr/>
          <p:nvPr/>
        </p:nvSpPr>
        <p:spPr>
          <a:xfrm>
            <a:off x="6095848" y="1965960"/>
            <a:ext cx="2788920" cy="36576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6987388" y="2020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pt-BR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7650328" y="34290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7760056" y="349300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RegistroAuditoria</a:t>
            </a:r>
            <a:endParaRPr lang="pt-BR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7760056" y="3739896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operação</a:t>
            </a:r>
            <a:endParaRPr lang="pt-BR" sz="1000" noProof="0" dirty="0"/>
          </a:p>
        </p:txBody>
      </p:sp>
      <p:sp>
        <p:nvSpPr>
          <p:cNvPr id="31" name="Shape 29"/>
          <p:cNvSpPr/>
          <p:nvPr/>
        </p:nvSpPr>
        <p:spPr>
          <a:xfrm flipV="1">
            <a:off x="8884768" y="2880360"/>
            <a:ext cx="9144" cy="548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8381848" y="2962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32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 </a:t>
            </a:r>
            <a:r>
              <a:rPr lang="pt-BR" sz="12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NotificadorJogadores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ainda precisa oferecer a capacidade de salvar uma partida?   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A classe depende somente do contrato de notificação.</a:t>
            </a:r>
            <a:endParaRPr lang="pt-BR" sz="1250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Interface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66928" cy="566928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Inversion</a:t>
            </a: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28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pt-BR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141732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i="1" noProof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da Inversão de Dependência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alto nível não devem depender diretamente de detalhes concretos; ambos devem depender de abstrações estáveis.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1837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4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detalhes de implementação sejam substituídos sem obrigar a alteração da classe que coordena a regra ou o caso de uso.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881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3044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UTILIZAR</a:t>
            </a:r>
            <a:endParaRPr lang="pt-BR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10424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de coordenação cria diretamente um colaborador concreto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um detalhe exige alterar uma regra de alto nível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implementações relevantes que podem variar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precisam substituir um colaborador</a:t>
            </a:r>
            <a:endParaRPr lang="pt-BR" sz="1300" noProof="0" dirty="0"/>
          </a:p>
          <a:p>
            <a:pPr marL="177800" indent="-177800" algn="l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pt-BR" sz="13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contrato estável pode separar a política do detalhe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i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pt-BR" sz="11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não exige uma interface para todas as classes. A abstração deve proteger uma dependência relevante ou um ponto real de variação.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531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592531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PRINCIPAL:  </a:t>
            </a:r>
            <a:r>
              <a:rPr lang="pt-BR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alto nível conhece uma abstração ou um detalhe concreto?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5 · INVESTIGAÇÃO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ControladorMovimento</a:t>
            </a: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precisa conhecer e escolher diretamente a forma concreta de calcular o caminho?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129888" y="155448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239616" y="16184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239616" y="186537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o movimento de </a:t>
            </a:r>
            <a:r>
              <a:rPr lang="pt-BR" sz="10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0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forma de calcular o caminho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024128" y="335584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 flipH="1">
            <a:off x="2377440" y="2468880"/>
            <a:ext cx="3718408" cy="82296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733724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</a:t>
            </a:r>
            <a:endParaRPr lang="pt-B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8138160" y="3291840"/>
            <a:ext cx="3108960" cy="6858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247888" y="335584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CaminhoSimples</a:t>
            </a:r>
            <a:endParaRPr lang="pt-BR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8247888" y="3602736"/>
            <a:ext cx="2889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concreta</a:t>
            </a:r>
            <a:endParaRPr lang="pt-BR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6095848" y="2468880"/>
            <a:ext cx="3596792" cy="82296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391324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usa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diagrama e identifique os pontos de atenção.</a:t>
            </a:r>
            <a:endParaRPr lang="pt-B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5 · DIAGNÓSTICO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ControladorMovimento</a:t>
            </a: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depende de um detalhe concreto e decide internamente qual implementação utilizar.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129888" y="155448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239616" y="16184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239616" y="186537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o movimento de </a:t>
            </a:r>
            <a:r>
              <a:rPr lang="pt-BR" sz="10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050" noProof="0" dirty="0"/>
          </a:p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forma de calcular o caminho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024128" y="335584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 flipH="1">
            <a:off x="2377440" y="2468880"/>
            <a:ext cx="3718408" cy="822960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733724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</a:t>
            </a:r>
            <a:endParaRPr lang="pt-B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8138160" y="3291840"/>
            <a:ext cx="3108960" cy="685800"/>
          </a:xfrm>
          <a:prstGeom prst="roundRect">
            <a:avLst>
              <a:gd name="adj" fmla="val 6667"/>
            </a:avLst>
          </a:prstGeom>
          <a:solidFill>
            <a:srgbClr val="FDECEA"/>
          </a:solidFill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247888" y="335584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CaminhoSimples</a:t>
            </a:r>
            <a:endParaRPr lang="pt-BR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8247888" y="3602736"/>
            <a:ext cx="2889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5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concreta</a:t>
            </a:r>
            <a:endParaRPr lang="pt-BR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6095848" y="2468880"/>
            <a:ext cx="3596792" cy="822960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391324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usa</a:t>
            </a:r>
            <a:endParaRPr lang="pt-BR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FOCAL:  </a:t>
            </a:r>
            <a:r>
              <a:rPr lang="pt-BR" sz="1300" noProof="0" dirty="0">
                <a:solidFill>
                  <a:srgbClr val="7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troca do cálculo de caminho obriga a modificação da classe de coordenação.</a:t>
            </a:r>
            <a:endParaRPr lang="pt-B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5 · SOLUÇÃO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9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ControladorMovimento</a:t>
            </a: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depende do contrato </a:t>
            </a:r>
            <a:r>
              <a:rPr lang="pt-BR" sz="19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CalculadorCaminho</a:t>
            </a:r>
            <a:r>
              <a:rPr lang="pt-BR" sz="19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recebe externamente a implementação escolhida.</a:t>
            </a:r>
            <a:endParaRPr lang="pt-BR" sz="1900" noProof="0" dirty="0"/>
          </a:p>
        </p:txBody>
      </p:sp>
      <p:sp>
        <p:nvSpPr>
          <p:cNvPr id="4" name="Shape 2"/>
          <p:cNvSpPr/>
          <p:nvPr/>
        </p:nvSpPr>
        <p:spPr>
          <a:xfrm>
            <a:off x="4129888" y="137160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239616" y="143560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4239616" y="1682496"/>
            <a:ext cx="3712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o movimento de </a:t>
            </a:r>
            <a:r>
              <a:rPr lang="pt-BR" sz="100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587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841248" y="14356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UnidadeMovel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 flipH="1">
            <a:off x="3383280" y="1714500"/>
            <a:ext cx="746608" cy="9144"/>
          </a:xfrm>
          <a:prstGeom prst="line">
            <a:avLst/>
          </a:prstGeom>
          <a:noFill/>
          <a:ln w="19050">
            <a:solidFill>
              <a:srgbClr val="26323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253664" y="16322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</a:t>
            </a:r>
            <a:endParaRPr lang="pt-B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4495648" y="246888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605376" y="25328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CalculadorCaminho</a:t>
            </a:r>
            <a:endParaRPr lang="pt-BR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4605376" y="277977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pt-BR" sz="10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estável</a:t>
            </a:r>
            <a:endParaRPr lang="pt-BR" sz="1000" noProof="0" dirty="0"/>
          </a:p>
        </p:txBody>
      </p:sp>
      <p:sp>
        <p:nvSpPr>
          <p:cNvPr id="14" name="Shape 12"/>
          <p:cNvSpPr/>
          <p:nvPr/>
        </p:nvSpPr>
        <p:spPr>
          <a:xfrm flipH="1">
            <a:off x="6095848" y="2057400"/>
            <a:ext cx="9144" cy="4114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5592928" y="211912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pt-BR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3169768" y="365760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3279496" y="37216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CaminhoSimples</a:t>
            </a:r>
            <a:endParaRPr lang="pt-BR" sz="1250" noProof="0" dirty="0"/>
          </a:p>
        </p:txBody>
      </p:sp>
      <p:sp>
        <p:nvSpPr>
          <p:cNvPr id="18" name="Shape 16"/>
          <p:cNvSpPr/>
          <p:nvPr/>
        </p:nvSpPr>
        <p:spPr>
          <a:xfrm flipV="1">
            <a:off x="4541368" y="3108960"/>
            <a:ext cx="1554480" cy="548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4815688" y="3191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6278728" y="365760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388456" y="37216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noProof="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CaminhoComObstaculos</a:t>
            </a:r>
            <a:endParaRPr lang="pt-BR" sz="1250" noProof="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6095848" y="3108960"/>
            <a:ext cx="1554480" cy="548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6370168" y="3191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da implementação ocorre fora do controlador.</a:t>
            </a:r>
            <a:endParaRPr lang="pt-B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56509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 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utilizar </a:t>
            </a:r>
            <a:r>
              <a:rPr lang="pt-BR" sz="12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CaminhoComObstaculos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seria necessário modificar </a:t>
            </a:r>
            <a:r>
              <a:rPr lang="pt-BR" sz="1250" noProof="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ControladorMovimento</a:t>
            </a: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 </a:t>
            </a:r>
            <a:r>
              <a:rPr lang="pt-BR" sz="12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O controlador continua dependendo do mesmo contrato e recebe outra implementação.</a:t>
            </a:r>
            <a:endParaRPr lang="pt-BR" sz="1250" noProof="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00" noProof="0" dirty="0" err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7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— benefícios e trade-</a:t>
            </a:r>
            <a:r>
              <a:rPr lang="pt-BR" sz="2700" b="1" noProof="0" dirty="0" err="1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</a:t>
            </a:r>
            <a:endParaRPr lang="pt-BR" sz="27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SRP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554480" y="123444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mais focadas reduzem razões para mudar</a:t>
            </a:r>
            <a:r>
              <a:rPr lang="pt-BR" sz="12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porém aumenta a quantidade de objetos e delegações</a:t>
            </a:r>
            <a:endParaRPr lang="pt-BR" sz="125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94767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</a:t>
            </a:r>
            <a:endParaRPr lang="pt-B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comportamentos podem ser adicionados com menor impacto</a:t>
            </a:r>
            <a:r>
              <a:rPr lang="pt-BR" sz="12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porém exige abstrações e novos tipos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LSP</a:t>
            </a:r>
            <a:endParaRPr lang="pt-B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554480" y="2660904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herança tornam-se mais confiáveis</a:t>
            </a:r>
            <a:r>
              <a:rPr lang="pt-BR" sz="12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porém a hierarquia pode precisar ser reorganizada</a:t>
            </a:r>
            <a:endParaRPr lang="pt-BR" sz="125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37413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</a:t>
            </a:r>
            <a:endParaRPr lang="pt-BR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554480" y="33741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dependem somente das capacidades necessárias</a:t>
            </a:r>
            <a:r>
              <a:rPr lang="pt-BR" sz="12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porém cresce a quantidade de contratos</a:t>
            </a:r>
            <a:endParaRPr lang="pt-BR" sz="125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4087368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408736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</a:t>
            </a:r>
            <a:endParaRPr lang="pt-B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554480" y="408736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12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podem ser substituídos com menor impacto</a:t>
            </a:r>
            <a:r>
              <a:rPr lang="pt-BR" sz="125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porém a criação e a configuração dos objetos ficam mais explícitas</a:t>
            </a:r>
            <a:endParaRPr lang="pt-BR" sz="1250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A224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350" b="1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projeto:  </a:t>
            </a:r>
            <a:r>
              <a:rPr lang="pt-BR" sz="13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 solução não é aquela que possui mais classes ou interfaces. É aquela que reduz um problema relevante sem introduzir complexidade desnecessária.</a:t>
            </a:r>
            <a:endParaRPr lang="pt-BR" sz="135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dos princípios SOLID</a:t>
            </a:r>
            <a:endParaRPr lang="pt-BR" sz="280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870198"/>
              </p:ext>
            </p:extLst>
          </p:nvPr>
        </p:nvGraphicFramePr>
        <p:xfrm>
          <a:off x="640080" y="1188720"/>
          <a:ext cx="10881360" cy="3749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Princípio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Indício principal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Síntese da decisão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noProof="0" dirty="0">
                          <a:solidFill>
                            <a:srgbClr val="E978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SRP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Razões diferentes para mudar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Separar responsabilidades de naturezas diferentes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noProof="0" dirty="0">
                          <a:solidFill>
                            <a:srgbClr val="E978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extensão modifica a classe central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Representar a variação por um contrato extensível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noProof="0" dirty="0">
                          <a:solidFill>
                            <a:srgbClr val="E978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LSP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subtipo não cumpre o contrato do tipo-base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Reorganizar a hierarquia para preservar a substituição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noProof="0" dirty="0">
                          <a:solidFill>
                            <a:srgbClr val="E978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cliente depende de operações sem significado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Dividir contratos conforme as capacidades utilizadas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noProof="0" dirty="0">
                          <a:solidFill>
                            <a:srgbClr val="E978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</a:t>
                      </a:r>
                      <a:endParaRPr lang="pt-B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regra depende diretamente de um detalhe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 regra e detalhe dependerem de uma abstração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51663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pt-BR" sz="1350" b="1" noProof="0" dirty="0">
                <a:solidFill>
                  <a:srgbClr val="28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r>
              <a:rPr lang="pt-BR" sz="13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ajuda a tornar explícitas as decisões de implementação, mas deve ser aplicado de acordo com os problemas e as mudanças esperadas.</a:t>
            </a:r>
            <a:endParaRPr lang="pt-BR" sz="135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7" name="Text 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7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requisito: cura de unidades</a:t>
            </a:r>
            <a:endParaRPr lang="pt-BR" sz="27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50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Cenário:  </a:t>
            </a: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deverá permitir que uma unidade seja curada após um combate. A solução inicial concentra em um único componente a escolha do tipo de cura, a recuperação da unidade, o registro da ação e o aviso ao jogador.</a:t>
            </a:r>
            <a:endParaRPr lang="pt-BR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100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2971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pelo menos duas possíveis violações SOLID.</a:t>
            </a:r>
            <a:endParaRPr lang="pt-BR" sz="145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3502152"/>
            <a:ext cx="365760" cy="365760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188720" y="35021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a consequência de cada problema.</a:t>
            </a:r>
            <a:endParaRPr lang="pt-BR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365760" cy="365760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188720" y="40325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uma nova distribuição de responsabilidades.</a:t>
            </a:r>
            <a:endParaRPr lang="pt-BR" sz="145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4562856"/>
            <a:ext cx="365760" cy="365760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4562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188720" y="45628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se algum comportamento precisa variar por contrato.</a:t>
            </a:r>
            <a:endParaRPr lang="pt-BR" sz="1450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5093208"/>
            <a:ext cx="365760" cy="365760"/>
          </a:xfrm>
          <a:prstGeom prst="ellipse">
            <a:avLst/>
          </a:prstGeom>
          <a:solidFill>
            <a:srgbClr val="E978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1188720" y="5093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5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um benefício e um trade-off da proposta.</a:t>
            </a:r>
            <a:endParaRPr lang="pt-BR" sz="145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7150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868680" y="57150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b="1" noProof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discretas:  </a:t>
            </a:r>
            <a:r>
              <a:rPr lang="pt-BR" sz="1250" i="1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Única, Aberto/Fechado e Inversão de Dependência podem contribuir para a análise.</a:t>
            </a:r>
            <a:endParaRPr lang="pt-BR" sz="1250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" y="63733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i="1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apresentar a solução pronta neste slide.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400" b="1" noProof="0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é um instrumento de análise, não uma meta de complexidade</a:t>
            </a:r>
            <a:endParaRPr lang="pt-BR" sz="24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SRP</a:t>
            </a:r>
            <a:endParaRPr lang="pt-BR" sz="1700" noProof="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razão relevante para mudar.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2276856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2768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</a:t>
            </a:r>
            <a:endParaRPr lang="pt-BR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1828800" y="22768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 sem modificar repetidamente.</a:t>
            </a:r>
            <a:endParaRPr lang="pt-BR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LSP</a:t>
            </a:r>
            <a:endParaRPr lang="pt-BR" sz="1700" noProof="0" dirty="0"/>
          </a:p>
        </p:txBody>
      </p:sp>
      <p:sp>
        <p:nvSpPr>
          <p:cNvPr id="11" name="Text 9"/>
          <p:cNvSpPr/>
          <p:nvPr/>
        </p:nvSpPr>
        <p:spPr>
          <a:xfrm>
            <a:off x="1828800" y="29535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Subtipos preservam o contrato do tipo-base.</a:t>
            </a:r>
            <a:endParaRPr lang="pt-BR" sz="15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</a:t>
            </a:r>
            <a:endParaRPr lang="pt-BR" sz="1700" noProof="0" dirty="0"/>
          </a:p>
        </p:txBody>
      </p:sp>
      <p:sp>
        <p:nvSpPr>
          <p:cNvPr id="14" name="Text 12"/>
          <p:cNvSpPr/>
          <p:nvPr/>
        </p:nvSpPr>
        <p:spPr>
          <a:xfrm>
            <a:off x="1828800" y="36301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dependem apenas das operações necessárias.</a:t>
            </a:r>
            <a:endParaRPr lang="pt-BR" sz="15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430682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4306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E978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</a:t>
            </a:r>
            <a:endParaRPr lang="pt-BR" sz="1700" noProof="0" dirty="0"/>
          </a:p>
        </p:txBody>
      </p:sp>
      <p:sp>
        <p:nvSpPr>
          <p:cNvPr id="17" name="Text 15"/>
          <p:cNvSpPr/>
          <p:nvPr/>
        </p:nvSpPr>
        <p:spPr>
          <a:xfrm>
            <a:off x="1828800" y="43068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noProof="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alto nível dependem de abstrações.</a:t>
            </a:r>
            <a:endParaRPr lang="pt-BR" sz="1500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500" b="1" noProof="0" dirty="0">
                <a:solidFill>
                  <a:srgbClr val="E97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final:  </a:t>
            </a:r>
            <a:r>
              <a:rPr lang="pt-BR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criar uma abstração, identifique o problema que ela resolve, a mudança que ela protege e o custo que ela introduz.</a:t>
            </a:r>
            <a:endParaRPr lang="pt-BR" sz="15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Princípios de Projeto Orientado a Objetos</a:t>
            </a:r>
            <a:endParaRPr lang="pt-B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pt-BR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2570</Words>
  <Application>Microsoft Office PowerPoint</Application>
  <PresentationFormat>Widescreen</PresentationFormat>
  <Paragraphs>485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beLIVE</cp:lastModifiedBy>
  <cp:revision>2</cp:revision>
  <dcterms:created xsi:type="dcterms:W3CDTF">2026-08-25T18:33:17Z</dcterms:created>
  <dcterms:modified xsi:type="dcterms:W3CDTF">2026-08-26T17:37:36Z</dcterms:modified>
</cp:coreProperties>
</file>