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4" r:id="rId3"/>
    <p:sldId id="275" r:id="rId4"/>
    <p:sldId id="258" r:id="rId5"/>
    <p:sldId id="259" r:id="rId6"/>
    <p:sldId id="260" r:id="rId7"/>
    <p:sldId id="261" r:id="rId8"/>
    <p:sldId id="262" r:id="rId9"/>
    <p:sldId id="263" r:id="rId10"/>
    <p:sldId id="264" r:id="rId11"/>
    <p:sldId id="269" r:id="rId12"/>
    <p:sldId id="270" r:id="rId13"/>
    <p:sldId id="265" r:id="rId14"/>
    <p:sldId id="266" r:id="rId15"/>
    <p:sldId id="267" r:id="rId16"/>
    <p:sldId id="27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A2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799B23B-EC83-4686-B30A-512413B5E67A}" styleName="Estilo Claro 3 - Ênfase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9" autoAdjust="0"/>
    <p:restoredTop sz="94610"/>
  </p:normalViewPr>
  <p:slideViewPr>
    <p:cSldViewPr snapToGrid="0" snapToObjects="1">
      <p:cViewPr varScale="1">
        <p:scale>
          <a:sx n="113" d="100"/>
          <a:sy n="113" d="100"/>
        </p:scale>
        <p:origin x="1758" y="11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5287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Situar a discussão técnica de qualidade de código dentro de um argumento econômico, mostrando que a estrutura interna do software tem consequência mensurável em custo, velocidade e inovação para o negócio.
[Explicação detalhada]
Duas pesquisas independentes são apresentadas lado a lado. A Stripe (The Developer Coefficient, 2018) mediu como desenvolvedores alocam o tempo de trabalho: em média, 13,5 das 41,1 horas semanais (~33%) são dedicadas a lidar com dívida técnica, e 17,3 horas semanais são consumidas por manutenção, depuração, refatoração e modificação de código já existente — ou seja, menos da metade do tempo sobra para construir funcionalidades novas. A pesquisa também estimou perdas de produtividade em escala de PIB global (~US$ 300 bilhões/ano, dos quais ~US$ 85 bilhões atribuídos a código ruim). A McKinsey (Developer Velocity Index, 2020) correlacionou práticas de engenharia de alto desempenho com resultados de negócio: empresas no quartil superior do índice cresceram receita 4 a 5 vezes mais rápido, pontuaram 55% mais em inovação e tiveram 47% mais satisfação/retenção de talentos.
[Sugestão de fala]
"Antes de falarmos de sintaxe, nomes de variáveis ou funções pequenas, quero que vocês guardem um número: quase metade da semana de um desenvolvedor profissional é gasta entendendo e consertando código que já existe, não construindo o que é novo. Isso tem um preço, e as empresas medem esse preço."
[Pergunta para a turma]
Se a empresa de vocês descobrisse que a equipe gasta 17 das 41 horas semanais só mantendo código antigo, que decisão de investimento isso deveria provocar?
[Resposta ou direção esperada]
Investir tempo deliberado em legibilidade e estrutura interna (refatoração, Clean Code, eliminação de duplicação, redução de acoplamento) não é luxo: é redução de custo operacional recorrente, liberando capacidade de engenharia para gerar valor novo.
[Interpretação equivocada comum]
Tratar "US$ 3 trilhões" como uma perda anual — o dado correto é um ganho potencial acumulado ao longo de dez anos, caso a eficiência de engenharia melhore. Também evitar afirmar que o DVI "mede Clean Code": ele mede um conjunto mais amplo de práticas, ferramentas, cultura e gestão.
[Tempo aproximado]
7 minutos (parte dos 15 minutos reservados aos slides 1 e 2).
[Transição para o próximo slide]
Se dívida técnica custa caro, qual é exatamente o mecanismo pelo qual a limpeza do código se traduz em dinheiro? É isso que o próximo slide detalha.
[Momento de abrir a IDE]
Não abrir a IDE neste slide — é contextualização econômica, sem exemplo de código.
[Sources]
STRIPE. The Developer Coefficient. 2018. Disponível em: https://stripe.com/files/reports/the-developer-coefficient.pdf
MCKINSEY &amp; COMPANY. Developer Velocity: How software excellence fuels business performance. 2020. Disponível em: https://www.mckinsey.com/industries/technology-media-and-telecommunications/our-insights/developer-velocity-how-software-excellence-fuels-business-performance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737B5-E4D2-E037-619A-F619E01E8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82EE8-E9FD-2A54-FA92-D21F7217A3FA}"/>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B1425CD3-16B7-C255-8D14-9ABFAACE028A}"/>
              </a:ext>
            </a:extLst>
          </p:cNvPr>
          <p:cNvSpPr>
            <a:spLocks noGrp="1"/>
          </p:cNvSpPr>
          <p:nvPr>
            <p:ph type="body" idx="1"/>
          </p:nvPr>
        </p:nvSpPr>
        <p:spPr/>
        <p:txBody>
          <a:bodyPr/>
          <a:lstStyle/>
          <a:p>
            <a:r>
              <a:rPr lang="en-US" dirty="0"/>
              <a:t>[Objetivo pedagógico]
Situar a discussão técnica de qualidade de código dentro de um argumento econômico, mostrando que a estrutura interna do software tem consequência mensurável em custo, velocidade e inovação para o negócio.
[Explicação detalhada]
Duas pesquisas independentes são apresentadas lado a lado. A Stripe (The Developer Coefficient, 2018) mediu como desenvolvedores alocam o tempo de trabalho: em média, 13,5 das 41,1 horas semanais (~33%) são dedicadas a lidar com dívida técnica, e 17,3 horas semanais são consumidas por manutenção, depuração, refatoração e modificação de código já existente — ou seja, menos da metade do tempo sobra para construir funcionalidades novas. A pesquisa também estimou perdas de produtividade em escala de PIB global (~US$ 300 bilhões/ano, dos quais ~US$ 85 bilhões atribuídos a código ruim). A McKinsey (Developer Velocity Index, 2020) correlacionou práticas de engenharia de alto desempenho com resultados de negócio: empresas no quartil superior do índice cresceram receita 4 a 5 vezes mais rápido, pontuaram 55% mais em inovação e tiveram 47% mais satisfação/retenção de talentos.
[Sugestão de fala]
"Antes de falarmos de sintaxe, nomes de variáveis ou funções pequenas, quero que vocês guardem um número: quase metade da semana de um desenvolvedor profissional é gasta entendendo e consertando código que já existe, não construindo o que é novo. Isso tem um preço, e as empresas medem esse preço."
[Pergunta para a turma]
Se a empresa de vocês descobrisse que a equipe gasta 17 das 41 horas semanais só mantendo código antigo, que decisão de investimento isso deveria provocar?
[Resposta ou direção esperada]
Investir tempo deliberado em legibilidade e estrutura interna (refatoração, Clean Code, eliminação de duplicação, redução de acoplamento) não é luxo: é redução de custo operacional recorrente, liberando capacidade de engenharia para gerar valor novo.
[Interpretação equivocada comum]
Tratar "US$ 3 trilhões" como uma perda anual — o dado correto é um ganho potencial acumulado ao longo de dez anos, caso a eficiência de engenharia melhore. Também evitar afirmar que o DVI "mede Clean Code": ele mede um conjunto mais amplo de práticas, ferramentas, cultura e gestão.
[Tempo aproximado]
7 minutos (parte dos 15 minutos reservados aos slides 1 e 2).
[Transição para o próximo slide]
Se dívida técnica custa caro, qual é exatamente o mecanismo pelo qual a limpeza do código se traduz em dinheiro? É isso que o próximo slide detalha.
[Momento de abrir a IDE]
Não abrir a IDE neste slide — é contextualização econômica, sem exemplo de código.
[Sources]
STRIPE. The Developer Coefficient. 2018. Disponível em: https://stripe.com/files/reports/the-developer-coefficient.pdf
MCKINSEY &amp; COMPANY. Developer Velocity: How software excellence fuels business performance. 2020. Disponível em: https://www.mckinsey.com/industries/technology-media-and-telecommunications/our-insights/developer-velocity-how-software-excellence-fuels-business-performance
[/Sources]</a:t>
            </a:r>
          </a:p>
        </p:txBody>
      </p:sp>
      <p:sp>
        <p:nvSpPr>
          <p:cNvPr id="4" name="Slide Number Placeholder 3">
            <a:extLst>
              <a:ext uri="{FF2B5EF4-FFF2-40B4-BE49-F238E27FC236}">
                <a16:creationId xmlns:a16="http://schemas.microsoft.com/office/drawing/2014/main" id="{E6A4E58A-FB61-7404-20E1-F602C7C334D3}"/>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29082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D0EBC-63C2-D465-DB48-56B6C014C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296B2-CB67-3183-129D-4227B0668F0A}"/>
              </a:ext>
            </a:extLst>
          </p:cNvPr>
          <p:cNvSpPr>
            <a:spLocks noGrp="1" noRot="1" noChangeAspect="1"/>
          </p:cNvSpPr>
          <p:nvPr>
            <p:ph type="sldImg"/>
          </p:nvPr>
        </p:nvSpPr>
        <p:spPr/>
        <p:txBody>
          <a:bodyPr/>
          <a:lstStyle/>
          <a:p>
            <a:endParaRPr lang="pt-BR"/>
          </a:p>
        </p:txBody>
      </p:sp>
      <p:sp>
        <p:nvSpPr>
          <p:cNvPr id="3" name="Notes Placeholder 2">
            <a:extLst>
              <a:ext uri="{FF2B5EF4-FFF2-40B4-BE49-F238E27FC236}">
                <a16:creationId xmlns:a16="http://schemas.microsoft.com/office/drawing/2014/main" id="{E48A7D11-0B20-9A4C-3A36-5B14072D648F}"/>
              </a:ext>
            </a:extLst>
          </p:cNvPr>
          <p:cNvSpPr>
            <a:spLocks noGrp="1"/>
          </p:cNvSpPr>
          <p:nvPr>
            <p:ph type="body" idx="1"/>
          </p:nvPr>
        </p:nvSpPr>
        <p:spPr/>
        <p:txBody>
          <a:bodyPr/>
          <a:lstStyle/>
          <a:p>
            <a:r>
              <a:rPr lang="en-US" dirty="0"/>
              <a:t>[Objetivo pedagógico]
Situar a discussão técnica de qualidade de código dentro de um argumento econômico, mostrando que a estrutura interna do software tem consequência mensurável em custo, velocidade e inovação para o negócio.
[Explicação detalhada]
Duas pesquisas independentes são apresentadas lado a lado. A Stripe (The Developer Coefficient, 2018) mediu como desenvolvedores alocam o tempo de trabalho: em média, 13,5 das 41,1 horas semanais (~33%) são dedicadas a lidar com dívida técnica, e 17,3 horas semanais são consumidas por manutenção, depuração, refatoração e modificação de código já existente — ou seja, menos da metade do tempo sobra para construir funcionalidades novas. A pesquisa também estimou perdas de produtividade em escala de PIB global (~US$ 300 bilhões/ano, dos quais ~US$ 85 bilhões atribuídos a código ruim). A McKinsey (Developer Velocity Index, 2020) correlacionou práticas de engenharia de alto desempenho com resultados de negócio: empresas no quartil superior do índice cresceram receita 4 a 5 vezes mais rápido, pontuaram 55% mais em inovação e tiveram 47% mais satisfação/retenção de talentos.
[Sugestão de fala]
"Antes de falarmos de sintaxe, nomes de variáveis ou funções pequenas, quero que vocês guardem um número: quase metade da semana de um desenvolvedor profissional é gasta entendendo e consertando código que já existe, não construindo o que é novo. Isso tem um preço, e as empresas medem esse preço."
[Pergunta para a turma]
Se a empresa de vocês descobrisse que a equipe gasta 17 das 41 horas semanais só mantendo código antigo, que decisão de investimento isso deveria provocar?
[Resposta ou direção esperada]
Investir tempo deliberado em legibilidade e estrutura interna (refatoração, Clean Code, eliminação de duplicação, redução de acoplamento) não é luxo: é redução de custo operacional recorrente, liberando capacidade de engenharia para gerar valor novo.
[Interpretação equivocada comum]
Tratar "US$ 3 trilhões" como uma perda anual — o dado correto é um ganho potencial acumulado ao longo de dez anos, caso a eficiência de engenharia melhore. Também evitar afirmar que o DVI "mede Clean Code": ele mede um conjunto mais amplo de práticas, ferramentas, cultura e gestão.
[Tempo aproximado]
7 minutos (parte dos 15 minutos reservados aos slides 1 e 2).
[Transição para o próximo slide]
Se dívida técnica custa caro, qual é exatamente o mecanismo pelo qual a limpeza do código se traduz em dinheiro? É isso que o próximo slide detalha.
[Momento de abrir a IDE]
Não abrir a IDE neste slide — é contextualização econômica, sem exemplo de código.
[Sources]
STRIPE. The Developer Coefficient. 2018. Disponível em: https://stripe.com/files/reports/the-developer-coefficient.pdf
MCKINSEY &amp; COMPANY. Developer Velocity: How software excellence fuels business performance. 2020. Disponível em: https://www.mckinsey.com/industries/technology-media-and-telecommunications/our-insights/developer-velocity-how-software-excellence-fuels-business-performance
[/Sources]</a:t>
            </a:r>
          </a:p>
        </p:txBody>
      </p:sp>
      <p:sp>
        <p:nvSpPr>
          <p:cNvPr id="4" name="Slide Number Placeholder 3">
            <a:extLst>
              <a:ext uri="{FF2B5EF4-FFF2-40B4-BE49-F238E27FC236}">
                <a16:creationId xmlns:a16="http://schemas.microsoft.com/office/drawing/2014/main" id="{9641A2B9-0510-8E3F-317C-1C8CDB4406F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366877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Estabelecer com precisão o que é e o que não é refatoração, fixando a distinção entre comportamento externo (o que não pode mudar) e estrutura interna (o que pode e deve mudar).
[Explicação detalhada]
A definição central é dupla: existe um comportamento observável (entradas, saídas, mensagens, efeitos, contratos públicos) que funciona como um contrato inegociável durante a refatoração, e uma estrutura interna (nomes, funções, responsabilidades, dependências, organização) que é o espaço de manobra. O diagrama mostra que duas estruturas internas diferentes (A e B) podem produzir exatamente o mesmo resultado observável X — a refatoração é o movimento de uma estrutura para outra sem alterar X. A lista "refatoração não é" demarca fronteiras importantes: não é reescrever do zero, não é adicionar funcionalidade, não é corrigir um requisito errado, não é aplicar padrões de projeto automaticamente, e não é apenas reformatar.
[Sugestão de fala]
"Se depois de uma mudança o sistema aceita entradas diferentes, produz resultados diferentes ou muda uma mensagem que o usuário vê, isso não foi refatoração — foi outra coisa. Pode ter sido uma correção, uma nova funcionalidade, mas não refatoração."
[Pergunta para a turma]
O que precisa permanecer igual para que uma mudança seja considerada refatoração?
[Resposta ou direção esperada]
O comportamento observável — entradas aceitas, resultados produzidos, mensagens e efeitos perceptíveis externamente, e os contratos públicos da classe ou método. A estrutura interna (nomes, organização, divisão em funções) é livre para mudar.
[Interpretação equivocada comum]
Confundir "refatorar" com "melhorar o código de qualquer forma", incluindo corrigir bugs ou adicionar validações. Também é comum achar que aplicar um padrão de projeto é sempre refatoração — só é, se o comportamento observável permanecer idêntico.
[Tempo aproximado]
10 minutos (dentro dos 25 minutos reservados aos slides 3 e 4, seguidos de aplicação na IDE).
[Transição para o próximo slide]
Se a estrutura interna pode mudar, como garantir, na prática, que o comportamento realmente não mudou? O próximo slide apresenta o ciclo seguro de refatoração.
[Momento de abrir a IDE]
Ainda não — abrir a IDE apenas após o slide 4, ao final do bloco de refatoração.
[Sources]
FOWLER, Martin. Refatoração: aperfeiçoando o design de códigos existentes. 2. ed. São Paulo: Novatec, 2020. Capítulo 2.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Apresentar um procedimento seguro e repetível para refatorar (o ciclo) e demonstrar, com um exemplo mínimo em Java, como a extração de uma regra para um método nomeado altera a estrutura sem alterar o comportamento.
[Explicação detalhada]
O ciclo seguro é iterativo: compreender o comportamento atual, garantir que existem testes e que passam, aplicar uma transformação pequena, compilar, rodar os testes de novo e avaliar se a clareza realmente melhorou — voltando ao início a cada novo passo. A distinção "dois chapéus" de Fowler separa dois modos de trabalho que não devem ser misturados na mesma alteração: ou se adiciona funcionalidade (mudando comportamento e testes), ou se refatora (preservando comportamento e testes). O exemplo mostra a extração de uma expressão de cálculo ("+valor*0.10") para um método com nome de domínio ("aplicarTaxaDeServico"). O ganho não é a extração em si, mas o nome que explicita a intenção.
[Sugestão de fala]
"Reparem que o 'antes' e o 'depois' fazem exatamente a mesma conta. A diferença inteira está no nome. Isso é o núcleo da refatoração: o comportamento não mudou nem um bit, mas agora existe um lugar único, nomeado, onde essa regra vive."
[Pergunta para a turma]
A extração de um método garante, sozinha, que o código ficou melhor?
[Resposta ou direção esperada]
Não. O método extraído precisa possuir um nome significativo, representar uma intenção útil e efetivamente reduzir o esforço de compreensão — extrair por extrair pode até fragmentar a leitura.
[Interpretação equivocada comum]
Achar que qualquer extração de método é, por definição, uma melhoria, ou tentar refatorar e adicionar funcionalidade na mesma alteração ("já que estou mexendo, aproveito e mudo a regra") — isso mistura os dois chapéus e quebra a segurança do ciclo.
[Tempo aproximado]
15 minutos (dentro dos 25 minutos reservados aos slides 3 e 4).
[Transição para o próximo slide]
Encerrado o bloco de refatoração, a aula muda de registro: como reconhecer, de forma mais ampla, que uma estrutura de código é compreensível? Isso é o território de Clean Code.
[Momento de abrir a IDE]
Abrir a IDE agora. Aplicar o ciclo seguro (compreender → testar → pequena transformação → compilar → testar → avaliar clareza) em um projeto Java, sem utilizar classes, regras ou dados do laboratório prático.
[Sources]
FOWLER, Martin. Refatoração: aperfeiçoando o design de códigos existentes. 2. ed. São Paulo: Novatec, 2020. Capítulos 2 e 3 (definição do ciclo e dos "dois chapéus").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Construir uma definição abrangente de Clean Code (não restrita a nomenclatura) e apresentar critérios objetivos para avaliar se um código é compreensível.
[Explicação detalhada]
A definição liga Clean Code a redução de esforço cognitivo para compreender, verificar e modificar software, e associa qualidade interna a cinco dimensões: intenção, responsabilidades, regras, dependências e efeitos. Os critérios operacionalizam isso em perguntas que um leitor deveria conseguir responder olhando o código. O exemplo compara duas versões do mesmo cálculo: a Versão A usa nomes de uma letra e um condicional obscuro; a Versão B usa nomes de domínio (precoUnitario, quantidade, clientePossuiDesconto) e extrai a regra de desconto. As duas podem ter exatamente o mesmo comportamento — a diferença inteira é o esforço de leitura.
[Sugestão de fala]
"Eu quero que vocês tentem responder, só olhando a Versão A: o que é 'd'? Provavelmente não conseguem sem contexto adicional. Agora olhem a Versão B — a pergunta nem precisa ser feita."
[Pergunta para a turma]
O comportamento mudou entre a Versão A e a Versão B, ou mudou somente a comunicação?
[Resposta ou direção esperada]
Apenas a comunicação. As duas versões podem ser comportamentalmente idênticas — o que muda é o esforço necessário para um leitor entender e confiar no código.
[Interpretação equivocada comum]
Tratar Clean Code como um conjunto fechado de regras obrigatórias e universais. A observação do slide é explícita: são heurísticas, sensíveis a domínio, equipe e risco da mudança — não uma especificação formal a ser seguida cegamente.
[Tempo aproximado]
13 minutos (dentro dos 40 minutos reservados aos slides 5, 6 e 7, seguidos de aplicação na IDE).
[Transição para o próximo slide]
Um dos elementos mais determinantes da clareza é o nome que escolhemos para cada coisa. O próximo slide aprofunda esse ponto.
[Momento de abrir a IDE]
Ainda não — abrir a IDE apenas ao final do bloco de Clean Code (após o slide 7).
[Sources]
MARTIN, Robert C. Código limpo: habilidades práticas do Agile Software. Rio de Janeiro: Alta Books, 2009. Capítulo 1.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Detalhar critérios objetivos para nomear classes, métodos e variáveis booleanas em Java, e mostrar como nomes específicos evitam ambiguidade de papel.
[Explicação detalhada]
Um nome significativo não é apenas "descritivo" — ele deve revelar intenção, propósito e papel dentro do contexto. As convenções semânticas em Java associam categorias gramaticais a categorias de elementos: substantivos para classes/objetos, verbos para métodos, perguntas/estados para booleanos. O exemplo de "nome fraco" mostra três variáveis do mesmo tipo (Produto) diferenciadas apenas por sufixos genéricos (produto, produtoInfo, produtoData), que não comunicam papel algum; a versão com "papel explícito" nomeia cada variável pelo que ela representa no fluxo (selecionado, substituto, promocional). A consistência terminológica evita que a mesma operação apareça com nomes diferentes em partes distintas do sistema.
[Sugestão de fala]
"'produtoInfo' e 'produtoData' — vocês conseguem me dizer, só pelo nome, a diferença entre os dois? Provavelmente não. Isso é o problema: o nome não carrega papel, só tipo."
[Pergunta para a turma]
A equipe de vocês, no laboratório ou em projetos anteriores, já usou mais de uma palavra para a mesma operação (por exemplo, "adicionar", "incluir", "inserir" para a mesma ideia)?
[Resposta ou direção esperada]
Provavelmente sim — é um sintoma comum quando não há um vocabulário compartilhado explícito. A recomendação é escolher um termo por conceito e mantê-lo em todo o código.
[Interpretação equivocada comum]
Achar que "nome bom" é sinônimo de "nome longo" ou que basta seguir convenções gramaticais (substantivo para classe, verbo para método) sem se preocupar com o vocabulário do domínio — as convenções são estruturais, mas o conteúdo semântico do nome precisa vir do domínio do problema.
[Tempo aproximado]
13 minutos (dentro dos 40 minutos reservados aos slides 5, 6 e 7).
[Transição para o próximo slide]
Nomes significativos ajudam a entender o que uma função faz — mas a forma como essa função é organizada internamente também determina sua clareza. É o próximo tema.
[Momento de abrir a IDE]
Ainda não — abrir a IDE apenas ao final do bloco de Clean Code (após o slide 7).
[Sources]
MARTIN, Robert C. Código limpo: habilidades práticas do Agile Software. Rio de Janeiro: Alta Books, 2009. Capítulo 2 (Nomes Significativos).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Mostrar que "função pequena" não é uma métrica de contagem de linhas, mas sim de coesão de intenção e uniformidade do nível de abstração; e apresentar critérios adicionais (argumentos, efeitos colaterais) para avaliar funções.
[Explicação detalhada]
O exemplo de "responsabilidades misturadas" mostra um método com cinco preocupações diferentes (validar, calcular, salvar, notificar, formatar) — a alternativa separa cada preocupação em uma função nomeada. O exemplo de "nível de abstração" mostra que uma função de alto nível (finalizarCompra) deve narrar a operação através de chamadas a outras funções, sem misturar detalhes de baixo nível (laços, condicionais de infraestrutura). O exemplo de argumentos mostra que uma lista longa de parâmetros primitivos (cep, cidade, estado, peso, altura, largura, profundidade) pode ser substituída por objetos de domínio (destino, pacote) que agrupam conceitos relacionados. Por fim, efeitos colaterais: um método de consulta não deveria alterar estado — isso viola a expectativa criada pelo próprio nome.
[Sugestão de fala]
"Reparem que eu não falei em nenhum momento 'a função tem que ter no máximo X linhas'. O critério é outro: dá pra dar um nome único e honesto pro que ela faz? Se não dá, ela provavelmente está fazendo mais de uma coisa."
[Pergunta para a turma]
A assinatura de calcularFrete(cep, cidade, estado, peso, altura, largura, profundidade) revela algum conceito ausente no código?
[Resposta ou direção esperada]
Sim — os sete parâmetros sugerem dois conceitos implícitos que não têm nome no código: um "endereço de destino" e um "pacote". Agrupá-los em objetos (destino, pacote) tanto reduz os argumentos quanto revela esses conceitos.
[Interpretação equivocada comum]
Aplicar extração de função mecanicamente até que cada função tenha 3 ou 4 linhas, fragmentando a leitura em excesso — o slide explicita esse limite: uma função longa pode representar uma sequência coesa, e extrações sem significado criam saltos desnecessários.
[Tempo aproximado]
14 minutos (dentro dos 40 minutos reservados aos slides 5, 6 e 7).
[Transição para o próximo slide]
Encerrado o bloco de Clean Code, a aula avança para outro tipo de problema estrutural: quando o mesmo conhecimento está representado em mais de um lugar do sistema — o princípio DRY.
[Momento de abrir a IDE]
Abrir a IDE agora. Aplicar nomes significativos e extração de funções focadas em um projeto Java, sem utilizar classes, métodos ou regras do laboratório prático.
[Sources]
MARTIN, Robert C. Código limpo: habilidades práticas do Agile Software. Rio de Janeiro: Alta Books, 2009. Capítulos 3 e 4 (Funções e Comentários).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Definir DRY como um princípio sobre conhecimento (não sobre linhas de código parecidas) e mapear onde esse conhecimento pode se manifestar em um sistema, além de suas quatro origens típicas.
[Explicação detalhada]
DRY afirma que cada conhecimento relevante — uma regra de negócio, um cálculo, uma validação, um esquema de dados, um contrato — deve ter uma única representação oficial no sistema. O conhecimento pode aparecer em muitos lugares diferentes (código, configuração, documentação, testes), e o risco cresce quando a mesma regra é representada em mais de um desses lugares e precisa ser mantida sincronizada manualmente. As quatro origens (imposta, inadvertida, impaciente, entre desenvolvedores) explicam por que a duplicação acontece na prática: às vezes é uma limitação de ferramenta, às vezes falta de percepção, às vezes pressa, às vezes falta de comunicação entre pessoas do mesmo time.
[Sugestão de fala]
"DRY não é sobre copiar e colar código parecido. É sobre uma pergunta bem mais séria: se essa regra de negócio mudar amanhã, quantos lugares diferentes eu preciso lembrar de mudar junto? Se a resposta for mais de um, e eles puderem ficar dessincronizados, temos duplicação de conhecimento."
[Pergunta para a turma]
Se uma regra mudar, quantos lugares precisam ser alterados juntos?
[Resposta ou direção esperada]
Idealmente, apenas um. Se a resposta for "mais de um lugar, e eles podem ficar diferentes entre si", isso é o sintoma central de duplicação de conhecimento que o DRY busca eliminar.
[Interpretação equivocada comum]
Confundir DRY com "nunca escrever duas linhas parecidas" — código parecido nem sempre representa o mesmo conhecimento (isso será aprofundado no próximo slide, no limite do princípio).
[Tempo aproximado]
12 minutos (dentro dos 25 minutos reservados aos slides 8 e 9, seguidos de aplicação na IDE).
[Transição para o próximo slide]
Como isso aparece na prática, e onde está o limite entre duplicação real e simples semelhança? O próximo slide traz exemplos concretos.
[Momento de abrir a IDE]
Ainda não — abrir a IDE apenas após o slide 9, ao final do bloco de DRY.
[Sources]
HUNT, Andrew; THOMAS, David. O Programador Pragmático: de aprendiz a mestre. Porto Alegre: Bookman, 2010. Seção "Os males da duplicação".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Mostrar, com um exemplo concreto, como a duplicação de conhecimento causa inconsistência real (uma alteração incompleta), diferenciar dado derivado de dado duplicado, e estabelecer o limite do princípio: nem toda semelhança textual é duplicação de conhecimento.
[Explicação detalhada]
O exemplo da taxa mostra dois lugares (previsão e cobrança) que representam a mesma regra (multiplicar por 1,10). Quando a regra muda, um dos lugares é esquecido — a previsão passa a usar 1,12 e a cobrança continua em 1,10, gerando inconsistência sem que ninguém tenha "errado a conta": o erro está na duplicação em si. A correção concentra a regra em um único ponto (politicaDeTaxa.aplicar(valor)), consultado tanto pela previsão quanto pela cobrança. O exemplo de "dado derivado" mostra outra forma de duplicação: se o comprimento pode ser sempre calculado a partir do ponto inicial e do ponto final, armazená-lo como um terceiro valor independente cria uma segunda fonte da mesma informação, que pode ficar dessincronizada. O exemplo do "limite" mostra o contraponto: duas funções de validação parecidas na forma (comparar um número com zero) podem representar regras de domínio completamente diferentes (quantidade mínima de um pedido, idade mínima de um usuário) — unificá-las seria um erro, pois juntaria conhecimentos que não têm relação nenhuma e que podem evoluir de forma independente.
[Sugestão de fala]
"Reparem que ninguém digitou o número errado na cobrança. O problema é estrutural: existiam dois lugares guardando a mesma regra, e bastou lembrar de atualizar só um deles para o sistema ficar inconsistente."
[Pergunta para a turma]
As duas funções de validação do slide (quantidade mínima e idade mínima) deveriam ser unificadas em uma função genérica de "validar mínimo"?
[Resposta ou direção esperada]
Não necessariamente — comparar com zero é uma semelhança textual, não uma prova de que é o mesmo conhecimento. Quantidade mínima e idade mínima são regras de domínio distintas, que podem evoluir de forma independente; unificá-las criaria um acoplamento artificial entre conceitos não relacionados.
[Interpretação equivocada comum]
Extrair qualquer trecho de código parecido para uma função compartilhada só porque "parece igual" — isso pode juntar regras que deveriam ser independentes e criar um acoplamento indevido entre partes do sistema que não têm relação de negócio.
[Tempo aproximado]
13 minutos (dentro dos 25 minutos reservados aos slides 8 e 9).
[Transição para o próximo slide]
Depois do intervalo, a aula trata de outra forma de acoplamento: quanto um objeto conhece da estrutura interna de outro — a Lei de Demeter.
[Momento de abrir a IDE]
Abrir a IDE agora. Identificar, em um projeto Java, uma regra representada em mais de um lugar e unificá-la, sem utilizar classes ou regras do laboratório prático. Em seguida, intervalo de 15 minutos.
[Sources]
HUNT, Andrew; THOMAS, David. O Programador Pragmático: de aprendiz a mestre. Porto Alegre: Bookman, 2010. Seção "Os males da duplicação".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Definir KISS com rigor, diferenciar simplicidade de simplificação ingênua e introduzir a distinção entre complexidade essencial e acidental.
[Explicação detalhada]
KISS não orienta a escrever o mínimo de código possível — orienta a escolher, entre as soluções corretas disponíveis, a mais simples que atenda aos requisitos conhecidos e permaneça compreensível para a equipe. A distinção central é entre complexidade essencial, que nasce do próprio problema (cálculo de impostos, estados válidos de um pedido, regras de pagamento) e não pode ser eliminada sem eliminar o problema, e complexidade acidental, introduzida pela solução sem necessidade atual (camadas sem propósito, hierarquias prematuras, configuração excessiva). KISS atua sobre a complexidade acidental — reduzindo-a quando ela não agrega valor — e não sobre a complexidade essencial, que deve permanecer explícita. O fechamento distingue "simples" (preserva a correção, remove o desnecessário) de "simplista" (esconde ou elimina partes necessárias do problema).
[Sugestão de fala]
"KISS não é sobre escrever pouco código. É sobre perguntar, para cada mecanismo que existe na solução, se ele resolve um problema real de hoje ou se foi criado 'por garantia'. A complexidade que vem do domínio, a gente mantém — a que a gente mesmo criou sem necessidade, a gente questiona."
[Pergunta para a turma]
A complexidade de uma solução vem do problema (essencial) ou foi introduzida pela implementação (acidental)?
[Resposta ou direção esperada]
Depende do caso concreto: regras de negócio, restrições legais e estados válidos do domínio são complexidade essencial e devem permanecer explícitos no código; camadas, parâmetros genéricos e abstrações criadas para variações que ainda não existem são complexidade acidental e são o alvo de KISS.
[Interpretação equivocada comum]
Achar que KISS autoriza remover validações, testes ou regras de domínio para "simplificar" — isso produz uma solução simplista, não simples. Simplicidade não é ausência de estrutura: é ausência de estrutura desnecessária.
[Tempo aproximado]
12 minutos (dentro dos 25 minutos reservados aos slides 10 e 11, seguidos de aplicação na IDE).
[Transição para o próximo slide]
O próximo slide mostra três decisões concretas de código guiadas por KISS, incluindo os limites de aplicar o princípio de forma mecânica.
[Momento de abrir a IDE]
Ainda não — abrir a IDE apenas após o slide 11, ao final do bloco de KISS.
[Sources]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Mostrar como KISS orienta decisões concretas de código (abstração, parâmetros, representação de estado) sem transformar "simplicidade" em uma regra absoluta.
[Explicação detalhada]
O exemplo 1 contrasta uma hierarquia de quatro níveis criada para uma única estratégia de entrega — sem nenhuma variação real ainda existente — com uma solução direta que resolve o requisito atual. O exemplo 2 mostra como um comando genérico com parâmetros de controle (processar(valor, "DESCONTAR", 10, true)) esconde a intenção, enquanto um método com nome específico (aplicarDescontoPercentual) a torna explícita. O exemplo 3 substitui uma string livre (que aceita qualquer valor em tempo de compilação) por um enum, que restringe o conjunto de estados válidos, adiciona segurança de tipo e habilita autocompletar — um caso em que adicionar um novo tipo ao programa torna a leitura mais simples, não mais complexa. Os limites reforçam que KISS não é uma métrica de contagem de linhas e que pode entrar em tensão com DRY quando a busca por eliminar duplicação cria abstrações genéricas demais.
[Sugestão de fala]
"Reparem no enum: ele adiciona uma linha nova ao programa, um tipo novo. Isso é 'mais código'. Mas ele é mais simples de ler, porque deixa explícito quais são os únicos valores válidos — o compilador passa a garantir isso para vocês."
[Pergunta para a turma]
Por que o enum é mais simples para o leitor, embora adicione um novo tipo ao programa?
[Resposta ou direção esperada]
Porque a simplicidade de KISS não é medida em número de linhas ou tipos, mas em esforço de compreensão e segurança: o enum torna os estados válidos explícitos, elimina a possibilidade de um valor de string inválido e permite que a IDE e o compilador ajudem o leitor — o que reduz a complexidade real de uso, mesmo aumentando a complexidade textual em uma linha.
[Interpretação equivocada comum]
Achar que o exemplo 1 prova que hierarquias e abstrações são sempre erradas — o slide é explícito: a hierarquia não é errada por definição, é prematura na ausência de variação real. Também é comum não perceber a tensão entre KISS e DRY: eliminar toda duplicação pode exigir uma abstração genérica que torna o código mais difícil de seguir do que a duplicação que ela eliminou.
[Tempo aproximado]
13 minutos (dentro dos 25 minutos reservados aos slides 10 e 11).
[Transição para o próximo slide]
Encerrados os cinco conceitos da aula, o roteiro de análise a seguir integra Refatoração, Clean Code, DRY, KISS e Lei de Demeter em uma única sequência de investigação — mas antes, a turma retorna do intervalo para o bloco de Lei de Demeter.
[Momento de abrir a IDE]
Abrir a IDE agora. Identificar um mecanismo (hierarquia, parâmetro genérico ou string livre) sem justificativa concreta em um projeto Java e simplificá-lo, sem utilizar classes ou regras do laboratório prático. Em seguida, intervalo de 15 minutos.
[Sources]
BLOCH, Joshua. Effective Java. 3. ed. Addison-Wesley Professional, 2018. Item 34: Use enums instead of int constants.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Apresentar a Lei de Demeter como princípio de mínimo conhecimento estrutural entre objetos, formalizar os quatro colaboradores "permitidos" e distingui-la de Tell, Don't Ask.
[Explicação detalhada]
A formulação prática lista quem um método pode, em geral, conhecer diretamente: o próprio objeto, parâmetros recebidos, objetos que ele mesmo cria, e componentes que ele mantém diretamente. Qualquer navegação além disso — atravessar um objeto para chegar a outro, e desse a um terceiro — aumenta o conhecimento estrutural que o cliente precisa ter sobre uma rede de objetos que não é dele. O diagrama mostra a relação esperada: o cliente conversa com seu colaborador direto, que por sua vez conhece sua própria estrutura interna; o cliente não deveria atravessar o colaborador para chegar à estrutura interna diretamente. A relação com Tell, Don't Ask é próxima mas não idêntica: Demeter é sobre quantos colaboradores um método conhece; Tell, Don't Ask é sobre pedir uma ação ao objeto responsável em vez de extrair dados dele para decidir por fora.
[Sugestão de fala]
"Pensem em uma cadeia de comando: vocês não pedem para o motorista de um caminhão de entrega abrir o cofre da empresa. Vocês pedem para o gerente resolver o problema. O gerente é o colaborador direto; o cofre é a estrutura interna que vocês nem deveriam saber que existe."
[Pergunta para a turma]
Por que reduzir o conhecimento estrutural entre objetos reduz também o esforço de manutenção?
[Resposta ou direção esperada]
Porque, se um cliente não conhece a organização interna de um colaborador, essa organização pode mudar livremente sem quebrar o cliente — a mudança fica localizada. Menos conhecimento compartilhado significa menos pontos de código que precisam ser revisados quando algo interno muda.
[Interpretação equivocada comum]
Achar que Demeter proíbe qualquer sequência de chamadas de método (isso será desfeito no próximo slide, com o exemplo da interface fluente) ou confundi-la totalmente com Tell, Don't Ask — são princípios relacionados, mas com focos diferentes.
[Tempo aproximado]
14 minutos (dentro dos 30 minutos reservados aos slides 10 e 11, seguidos de aplicação na IDE).
[Transição para o próximo slide]
O próximo slide mostra um exemplo concreto de violação e correção, além de contrapartidas importantes da aplicação mecânica do princípio.
[Momento de abrir a IDE]
Ainda não — abrir a IDE apenas após o slide 11, ao final do bloco de Lei de Demeter.
[Sources]
LIEBERHERR, Karl J.; HOLLAND, Ian; RIEL, Arthur J. Object-oriented programming: an objective sense of style. In: OOPSLA '88 Conference Proceedings. San Diego: ACM, 1988. p. 323–334.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Demonstrar, com exemplos concretos, a diferença entre navegação estrutural (violação) e delegação de comportamento (conformidade), e apresentar as contrapartidas de aplicar Demeter de forma mecânica.
[Explicação detalhada]
No exemplo do pedido, a cadeia pedido.getCliente().getEndereco().getCidade() obriga o código cliente a conhecer três relações internas (pedido tem cliente, cliente tem endereço, endereço tem cidade); a versão pedido.consultarCidadeDeEntrega() delega essa navegação para dentro do próprio objeto Pedido, que decide como obter a informação. O exemplo do jornaleiro (de David Bock, "The Paperboy, the Wallet, and the Law of Demeter") é o caso clássico: em vez de o jornaleiro abrir a carteira do cliente para retirar o valor, o cliente é quem decide pagar — cliente.pagar(valor). O terceiro bloco desfaz uma leitura equivocada comum: Demeter não proíbe qualquer sequência de chamadas encadeadas. Uma interface fluente (como um stream de Java) mantém as chamadas dentro da mesma abstração — o encadeamento não expõe estrutura interna de objetos diferentes, ao contrário da cadeia getCliente().getEndereco().getCidade(), que atravessa três objetos de domínio distintos.
[Sugestão de fala]
"Reparem que o stream do slide também tem 'pontos empilhados' — mas ninguém diria que ele viola Demeter. A diferença não é a quantidade de pontos, é se você está atravessando objetos de domínio diferentes ou continuando dentro da mesma abstração de fluxo."
[Pergunta para a turma]
A redução de acoplamento sempre compensa a criação de um novo método de delegação, como consultarCidadeDeEntrega()?
[Resposta ou direção esperada]
Não necessariamente. Se a delegação apenas repassa a chamada sem agregar responsabilidade real, o resultado pode ser uma interface inchada com métodos artificiais — o ganho de encapsulamento precisa compensar o custo da nova operação criada.
[Interpretação equivocada comum]
Tratar Demeter como "no máximo um ponto por linha" e aplicar a regra mecanicamente a qualquer código encadeado, inclusive interfaces fluentes que não violam o princípio, ou criar métodos de repasse (wrappers) sem responsabilidade real só para "cumprir a regra".
[Tempo aproximado]
16 minutos (dentro dos 30 minutos reservados aos slides 10 e 11).
[Transição para o próximo slide]
Encerrados os quatro conceitos da aula, o próximo slide organiza um roteiro único de perguntas para analisar qualquer proposta de refatoração.
[Momento de abrir a IDE]
Abrir a IDE agora. Identificar uma cadeia de chamadas que atravessa objetos de domínio distintos em um projeto Java e substituí-la por uma operação delegada, sem utilizar classes ou regras do laboratório prático.
[Sources]
BOCK, David. The Paperboy, the Wallet, and the Law of Demeter.
LIEBERHERR, Karl J.; HOLLAND, Ian; RIEL, Arthur J. Object-oriented programming: an objective sense of style. In: OOPSLA '88 Conference Proceedings. San Diego: ACM, 1988. p. 323–334.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Consolidar os quatro conceitos da aula (refatoração, Clean Code, DRY, Lei de Demeter) em um roteiro único e prático de perguntas que o estudante pode aplicar diante de qualquer código real.
[Explicação detalhada]
O fluxo de oito etapas organiza, em sequência lógica, os passos que conectam os quatro conceitos: primeiro garantir que o comportamento será preservado (refatoração), depois compreender o propósito e melhorar nomes e separação de intenções (Clean Code), investigar duplicações (DRY), limitar conhecimento estrutural (Demeter), executar testes e, por fim, comparar custo e benefício da mudança — reconhecendo que nem toda melhoria estrutural compensa o esforço e o risco envolvidos. As quatro perguntas-síntese resumem o critério de decisão de cada conceito em uma única frase, servindo como checklist rápido para qualquer revisão de código.
[Sugestão de fala]
"A partir de hoje, sempre que vocês olharem para um código e sentirem que 'tem algo errado', tentem passar por essas quatro perguntas, nessa ordem. Elas não substituem a experiência de vocês, mas organizam por onde começar."
[Pergunta para a turma]
Das quatro perguntas-síntese, qual vocês aplicariam primeiro ao olhar para um código desconhecido, e por quê?
[Resposta ou direção esperada]
Não há uma ordem obrigatória fora da preservação do comportamento (que é sempre o primeiro compromisso da refatoração); a partir daí, a ordem pode variar conforme o sintoma mais evidente no código — nomes confusos, duplicação visível ou cadeias de acesso longas.
[Interpretação equivocada comum]
Tratar o roteiro como uma sequência rígida e obrigatória para qualquer mudança, mesmo mudanças triviais — o próprio slide afirma que os princípios "não substituem julgamento técnico": são perguntas de investigação, não um algoritmo a ser seguido cegamente em toda alteração.
[Tempo aproximado]
10 minutos.
[Transição para o próximo slide]
Para consolidar o estudo posterior, o próximo e último slide reúne as referências bibliográficas utilizadas na aula.
[Momento de abrir a IDE]
Não é necessário abrir a IDE neste slide; o tempo restante da aula fica disponível para live coding, dúvidas e execução de testes nos exercícios já iniciados.
[Sources]
Síntese elaborada a partir de FOWLER (2020), MARTIN (2009), HUNT; THOMAS (2010) e LIEBERHERR; HOLLAND; RIEL (1988), já referenciados nos slides anteriores.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r>
              <a:rPr lang="en-US" dirty="0"/>
              <a:t>[Objetivo pedagógico]
Registrar as referências bibliográficas completas utilizadas ao longo da aula, incluindo a base conceitual de KISS, e permitir aprofundamento autônomo do estudante após a disciplina.
[Explicação detalhada]
As referências cobrem as cinco fontes conceituais centrais na ordem em que os temas foram apresentados (Fowler para Refatoração, Martin para Clean Code, Hunt e Thomas para DRY, Bloch para KISS/enums, e Lieberherr/Holland/Riel com Bock para a Lei de Demeter) e as duas fontes de dados econômicos apresentadas na abertura (Stripe e McKinsey). A observação no rodapé reforça que a distinção entre complexidade essencial e acidental, usada para explicar KISS, é uma ferramenta de discussão qualitativa, não uma métrica de contagem de código.
[Sugestão de fala]
"Este slide funciona como material de consulta: se algum conceito de hoje despertou curiosidade, os capítulos indicados aqui são o próximo passo natural de leitura — o item do Bloch, em especial, é uma leitura curta e direta sobre por que enums existem."
[Pergunta para a turma]
Não há pergunta de análise associada a este slide — é um slide de referência bibliográfica.
[Resposta ou direção esperada]
Não aplicável.
[Interpretação equivocada comum]
Não aplicável.
[Tempo aproximado]
2 a 3 minutos, dentro do tempo remanescente reservado a live coding e dúvidas.
[Transição para o próximo slide]
Encerramento da apresentação; o tempo restante das quatro horas de aula fica disponível para live coding, perguntas e execução de testes nos exercícios do laboratório.
[Momento de abrir a IDE]
Não aplicável a este slide.
[Sources]
Lista completa acima — todas as fontes citadas ao longo da apresentação.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365760"/>
            <a:ext cx="11155680" cy="640080"/>
          </a:xfrm>
          <a:prstGeom prst="rect">
            <a:avLst/>
          </a:prstGeom>
          <a:noFill/>
          <a:ln/>
        </p:spPr>
        <p:txBody>
          <a:bodyPr wrap="square" lIns="0" tIns="0" rIns="0" bIns="0" rtlCol="0" anchor="ctr"/>
          <a:lstStyle/>
          <a:p>
            <a:pPr marL="0" indent="0">
              <a:buNone/>
            </a:pPr>
            <a:r>
              <a:rPr lang="pt-BR" sz="2800" b="1" noProof="0" dirty="0">
                <a:solidFill>
                  <a:srgbClr val="FFFFFF"/>
                </a:solidFill>
                <a:latin typeface="Cambria" pitchFamily="34" charset="0"/>
                <a:ea typeface="Cambria" pitchFamily="34" charset="-122"/>
                <a:cs typeface="Cambria" pitchFamily="34" charset="-120"/>
              </a:rPr>
              <a:t>O Impacto Financeiro da Baixa Qualidade do Código</a:t>
            </a:r>
            <a:endParaRPr lang="pt-BR" sz="2800" noProof="0" dirty="0"/>
          </a:p>
        </p:txBody>
      </p:sp>
      <p:sp>
        <p:nvSpPr>
          <p:cNvPr id="3" name="Text 1"/>
          <p:cNvSpPr/>
          <p:nvPr/>
        </p:nvSpPr>
        <p:spPr>
          <a:xfrm>
            <a:off x="502920" y="960120"/>
            <a:ext cx="11155680" cy="457200"/>
          </a:xfrm>
          <a:prstGeom prst="rect">
            <a:avLst/>
          </a:prstGeom>
          <a:noFill/>
          <a:ln/>
        </p:spPr>
        <p:txBody>
          <a:bodyPr wrap="square" lIns="0" tIns="0" rIns="0" bIns="0" rtlCol="0" anchor="ctr"/>
          <a:lstStyle/>
          <a:p>
            <a:pPr marL="0" indent="0">
              <a:buNone/>
            </a:pPr>
            <a:r>
              <a:rPr lang="pt-BR" sz="1300" i="1" noProof="0" dirty="0">
                <a:solidFill>
                  <a:srgbClr val="C7D0E0"/>
                </a:solidFill>
                <a:latin typeface="Calibri" pitchFamily="34" charset="0"/>
                <a:ea typeface="Calibri" pitchFamily="34" charset="-122"/>
                <a:cs typeface="Calibri" pitchFamily="34" charset="-120"/>
              </a:rPr>
              <a:t>Pesquisas mostram que problemas técnicos consomem tempo de trabalho e afetam os resultados das empresas.</a:t>
            </a:r>
            <a:endParaRPr lang="pt-BR" sz="1300" noProof="0" dirty="0"/>
          </a:p>
        </p:txBody>
      </p:sp>
      <p:sp>
        <p:nvSpPr>
          <p:cNvPr id="4" name="Shape 2"/>
          <p:cNvSpPr/>
          <p:nvPr/>
        </p:nvSpPr>
        <p:spPr>
          <a:xfrm>
            <a:off x="6053328" y="1600200"/>
            <a:ext cx="41148" cy="4160520"/>
          </a:xfrm>
          <a:prstGeom prst="rect">
            <a:avLst/>
          </a:prstGeom>
          <a:solidFill>
            <a:srgbClr val="C9A227"/>
          </a:solidFill>
          <a:ln/>
        </p:spPr>
        <p:txBody>
          <a:bodyPr/>
          <a:lstStyle/>
          <a:p>
            <a:endParaRPr lang="pt-BR" noProof="0" dirty="0"/>
          </a:p>
        </p:txBody>
      </p:sp>
      <p:sp>
        <p:nvSpPr>
          <p:cNvPr id="5" name="Text 3"/>
          <p:cNvSpPr/>
          <p:nvPr/>
        </p:nvSpPr>
        <p:spPr>
          <a:xfrm>
            <a:off x="502920" y="1554480"/>
            <a:ext cx="5303520" cy="292608"/>
          </a:xfrm>
          <a:prstGeom prst="rect">
            <a:avLst/>
          </a:prstGeom>
          <a:noFill/>
          <a:ln/>
        </p:spPr>
        <p:txBody>
          <a:bodyPr wrap="square" lIns="0" tIns="0" rIns="0" bIns="0" rtlCol="0" anchor="ctr"/>
          <a:lstStyle/>
          <a:p>
            <a:pPr marL="0" indent="0">
              <a:buNone/>
            </a:pPr>
            <a:r>
              <a:rPr lang="pt-BR" sz="1250" b="1" kern="0" spc="50" noProof="0" dirty="0">
                <a:solidFill>
                  <a:srgbClr val="C9A227"/>
                </a:solidFill>
                <a:latin typeface="Calibri" pitchFamily="34" charset="0"/>
                <a:ea typeface="Calibri" pitchFamily="34" charset="-122"/>
                <a:cs typeface="Calibri" pitchFamily="34" charset="-120"/>
              </a:rPr>
              <a:t>STRIPE — THE DEVELOPER COEFFICIENT</a:t>
            </a:r>
            <a:endParaRPr lang="pt-BR" sz="1250" noProof="0" dirty="0"/>
          </a:p>
        </p:txBody>
      </p:sp>
      <p:sp>
        <p:nvSpPr>
          <p:cNvPr id="6" name="Text 4"/>
          <p:cNvSpPr/>
          <p:nvPr/>
        </p:nvSpPr>
        <p:spPr>
          <a:xfrm>
            <a:off x="502920" y="1965960"/>
            <a:ext cx="5303520" cy="365760"/>
          </a:xfrm>
          <a:prstGeom prst="rect">
            <a:avLst/>
          </a:prstGeom>
          <a:noFill/>
          <a:ln/>
        </p:spPr>
        <p:txBody>
          <a:bodyPr wrap="square" lIns="0" tIns="0" rIns="0" bIns="0" rtlCol="0" anchor="ctr"/>
          <a:lstStyle/>
          <a:p>
            <a:pPr marL="0" indent="0">
              <a:buNone/>
            </a:pPr>
            <a:r>
              <a:rPr lang="pt-BR" sz="2100" b="1" noProof="0" dirty="0">
                <a:solidFill>
                  <a:srgbClr val="C9A227"/>
                </a:solidFill>
                <a:latin typeface="Calibri" pitchFamily="34" charset="0"/>
                <a:ea typeface="Calibri" pitchFamily="34" charset="-122"/>
                <a:cs typeface="Calibri" pitchFamily="34" charset="-120"/>
              </a:rPr>
              <a:t>13,5 horas por semana</a:t>
            </a:r>
            <a:endParaRPr lang="pt-BR" sz="2100" noProof="0" dirty="0"/>
          </a:p>
        </p:txBody>
      </p:sp>
      <p:sp>
        <p:nvSpPr>
          <p:cNvPr id="7" name="Text 5"/>
          <p:cNvSpPr/>
          <p:nvPr/>
        </p:nvSpPr>
        <p:spPr>
          <a:xfrm>
            <a:off x="502920" y="2366942"/>
            <a:ext cx="5303520" cy="566928"/>
          </a:xfrm>
          <a:prstGeom prst="rect">
            <a:avLst/>
          </a:prstGeom>
          <a:noFill/>
          <a:ln/>
        </p:spPr>
        <p:txBody>
          <a:bodyPr wrap="square" lIns="0" tIns="0" rIns="0" bIns="0" rtlCol="0" anchor="ctr"/>
          <a:lstStyle/>
          <a:p>
            <a:pPr marL="0" indent="0">
              <a:lnSpc>
                <a:spcPct val="108000"/>
              </a:lnSpc>
              <a:buNone/>
            </a:pPr>
            <a:r>
              <a:rPr lang="pt-BR" sz="1300" noProof="0" dirty="0">
                <a:solidFill>
                  <a:srgbClr val="E4E8F0"/>
                </a:solidFill>
                <a:latin typeface="Calibri" pitchFamily="34" charset="0"/>
                <a:ea typeface="Calibri" pitchFamily="34" charset="-122"/>
                <a:cs typeface="Calibri" pitchFamily="34" charset="-120"/>
              </a:rPr>
              <a:t>Tempo médio dedicado ao tratamento de dívida técnica, aproximadamente 33% de uma semana de trabalho de 41,1 horas.</a:t>
            </a:r>
            <a:endParaRPr lang="pt-BR" sz="1300" noProof="0" dirty="0"/>
          </a:p>
        </p:txBody>
      </p:sp>
      <p:sp>
        <p:nvSpPr>
          <p:cNvPr id="8" name="Text 6"/>
          <p:cNvSpPr/>
          <p:nvPr/>
        </p:nvSpPr>
        <p:spPr>
          <a:xfrm>
            <a:off x="502920" y="3008376"/>
            <a:ext cx="5303520" cy="365760"/>
          </a:xfrm>
          <a:prstGeom prst="rect">
            <a:avLst/>
          </a:prstGeom>
          <a:noFill/>
          <a:ln/>
        </p:spPr>
        <p:txBody>
          <a:bodyPr wrap="square" lIns="0" tIns="0" rIns="0" bIns="0" rtlCol="0" anchor="ctr"/>
          <a:lstStyle/>
          <a:p>
            <a:pPr marL="0" indent="0">
              <a:buNone/>
            </a:pPr>
            <a:r>
              <a:rPr lang="pt-BR" sz="2100" b="1" noProof="0" dirty="0">
                <a:solidFill>
                  <a:srgbClr val="C9A227"/>
                </a:solidFill>
                <a:latin typeface="Calibri" pitchFamily="34" charset="0"/>
                <a:ea typeface="Calibri" pitchFamily="34" charset="-122"/>
                <a:cs typeface="Calibri" pitchFamily="34" charset="-120"/>
              </a:rPr>
              <a:t>17,3 horas por semana</a:t>
            </a:r>
            <a:endParaRPr lang="pt-BR" sz="2100" noProof="0" dirty="0"/>
          </a:p>
        </p:txBody>
      </p:sp>
      <p:sp>
        <p:nvSpPr>
          <p:cNvPr id="9" name="Text 7"/>
          <p:cNvSpPr/>
          <p:nvPr/>
        </p:nvSpPr>
        <p:spPr>
          <a:xfrm>
            <a:off x="502920" y="3409358"/>
            <a:ext cx="5303520" cy="566928"/>
          </a:xfrm>
          <a:prstGeom prst="rect">
            <a:avLst/>
          </a:prstGeom>
          <a:noFill/>
          <a:ln/>
        </p:spPr>
        <p:txBody>
          <a:bodyPr wrap="square" lIns="0" tIns="0" rIns="0" bIns="0" rtlCol="0" anchor="ctr"/>
          <a:lstStyle/>
          <a:p>
            <a:pPr marL="0" indent="0">
              <a:lnSpc>
                <a:spcPct val="108000"/>
              </a:lnSpc>
              <a:buNone/>
            </a:pPr>
            <a:r>
              <a:rPr lang="pt-BR" sz="1300" noProof="0" dirty="0">
                <a:solidFill>
                  <a:srgbClr val="E4E8F0"/>
                </a:solidFill>
                <a:latin typeface="Calibri" pitchFamily="34" charset="0"/>
                <a:ea typeface="Calibri" pitchFamily="34" charset="-122"/>
                <a:cs typeface="Calibri" pitchFamily="34" charset="-120"/>
              </a:rPr>
              <a:t>Tempo médio total dedicado a manutenção, depuração, refatoração e modificação de código.</a:t>
            </a:r>
            <a:endParaRPr lang="pt-BR" sz="1300" noProof="0" dirty="0"/>
          </a:p>
        </p:txBody>
      </p:sp>
      <p:sp>
        <p:nvSpPr>
          <p:cNvPr id="10" name="Text 8"/>
          <p:cNvSpPr/>
          <p:nvPr/>
        </p:nvSpPr>
        <p:spPr>
          <a:xfrm>
            <a:off x="502920" y="4050792"/>
            <a:ext cx="5303520" cy="365760"/>
          </a:xfrm>
          <a:prstGeom prst="rect">
            <a:avLst/>
          </a:prstGeom>
          <a:noFill/>
          <a:ln/>
        </p:spPr>
        <p:txBody>
          <a:bodyPr wrap="square" lIns="0" tIns="0" rIns="0" bIns="0" rtlCol="0" anchor="ctr"/>
          <a:lstStyle/>
          <a:p>
            <a:pPr marL="0" indent="0">
              <a:buNone/>
            </a:pPr>
            <a:r>
              <a:rPr lang="pt-BR" sz="2100" b="1" noProof="0" dirty="0">
                <a:solidFill>
                  <a:srgbClr val="C9A227"/>
                </a:solidFill>
                <a:latin typeface="Calibri" pitchFamily="34" charset="0"/>
                <a:ea typeface="Calibri" pitchFamily="34" charset="-122"/>
                <a:cs typeface="Calibri" pitchFamily="34" charset="-120"/>
              </a:rPr>
              <a:t>US$ 300 bilhões por ano</a:t>
            </a:r>
            <a:endParaRPr lang="pt-BR" sz="2100" noProof="0" dirty="0"/>
          </a:p>
        </p:txBody>
      </p:sp>
      <p:sp>
        <p:nvSpPr>
          <p:cNvPr id="11" name="Text 9"/>
          <p:cNvSpPr/>
          <p:nvPr/>
        </p:nvSpPr>
        <p:spPr>
          <a:xfrm>
            <a:off x="502920" y="4451774"/>
            <a:ext cx="5303520" cy="566928"/>
          </a:xfrm>
          <a:prstGeom prst="rect">
            <a:avLst/>
          </a:prstGeom>
          <a:noFill/>
          <a:ln/>
        </p:spPr>
        <p:txBody>
          <a:bodyPr wrap="square" lIns="0" tIns="0" rIns="0" bIns="0" rtlCol="0" anchor="ctr"/>
          <a:lstStyle/>
          <a:p>
            <a:pPr marL="0" indent="0">
              <a:lnSpc>
                <a:spcPct val="108000"/>
              </a:lnSpc>
              <a:buNone/>
            </a:pPr>
            <a:r>
              <a:rPr lang="pt-BR" sz="1300" noProof="0" dirty="0">
                <a:solidFill>
                  <a:srgbClr val="E4E8F0"/>
                </a:solidFill>
                <a:latin typeface="Calibri" pitchFamily="34" charset="0"/>
                <a:ea typeface="Calibri" pitchFamily="34" charset="-122"/>
                <a:cs typeface="Calibri" pitchFamily="34" charset="-120"/>
              </a:rPr>
              <a:t>Estimativa de perda anual no PIB global associada à ineficiência dos desenvolvedores. Desse total, aproximadamente US$ 85 bilhões foram atribuídos especificamente ao código ruim.</a:t>
            </a:r>
            <a:endParaRPr lang="pt-BR" sz="1300" noProof="0" dirty="0"/>
          </a:p>
        </p:txBody>
      </p:sp>
      <p:sp>
        <p:nvSpPr>
          <p:cNvPr id="13" name="Text 11"/>
          <p:cNvSpPr/>
          <p:nvPr/>
        </p:nvSpPr>
        <p:spPr>
          <a:xfrm>
            <a:off x="6355080" y="1554480"/>
            <a:ext cx="5349240" cy="292608"/>
          </a:xfrm>
          <a:prstGeom prst="rect">
            <a:avLst/>
          </a:prstGeom>
          <a:noFill/>
          <a:ln/>
        </p:spPr>
        <p:txBody>
          <a:bodyPr wrap="square" lIns="0" tIns="0" rIns="0" bIns="0" rtlCol="0" anchor="ctr"/>
          <a:lstStyle/>
          <a:p>
            <a:pPr marL="0" indent="0">
              <a:buNone/>
            </a:pPr>
            <a:r>
              <a:rPr lang="pt-BR" sz="1250" b="1" kern="0" spc="50" noProof="0" dirty="0">
                <a:solidFill>
                  <a:srgbClr val="C9A227"/>
                </a:solidFill>
                <a:latin typeface="Calibri" pitchFamily="34" charset="0"/>
                <a:ea typeface="Calibri" pitchFamily="34" charset="-122"/>
                <a:cs typeface="Calibri" pitchFamily="34" charset="-120"/>
              </a:rPr>
              <a:t>MCKINSEY — DEVELOPER VELOCITY INDEX</a:t>
            </a:r>
            <a:endParaRPr lang="pt-BR" sz="1250" noProof="0" dirty="0"/>
          </a:p>
        </p:txBody>
      </p:sp>
      <p:sp>
        <p:nvSpPr>
          <p:cNvPr id="14" name="Text 12"/>
          <p:cNvSpPr/>
          <p:nvPr/>
        </p:nvSpPr>
        <p:spPr>
          <a:xfrm>
            <a:off x="6355080" y="1965960"/>
            <a:ext cx="5349240" cy="365760"/>
          </a:xfrm>
          <a:prstGeom prst="rect">
            <a:avLst/>
          </a:prstGeom>
          <a:noFill/>
          <a:ln/>
        </p:spPr>
        <p:txBody>
          <a:bodyPr wrap="square" lIns="0" tIns="0" rIns="0" bIns="0" rtlCol="0" anchor="ctr"/>
          <a:lstStyle/>
          <a:p>
            <a:pPr marL="0" indent="0">
              <a:buNone/>
            </a:pPr>
            <a:r>
              <a:rPr lang="pt-BR" sz="2100" b="1" noProof="0" dirty="0">
                <a:solidFill>
                  <a:srgbClr val="C9A227"/>
                </a:solidFill>
                <a:latin typeface="Calibri" pitchFamily="34" charset="0"/>
                <a:ea typeface="Calibri" pitchFamily="34" charset="-122"/>
                <a:cs typeface="Calibri" pitchFamily="34" charset="-120"/>
              </a:rPr>
              <a:t>4 a 5 vezes</a:t>
            </a:r>
            <a:endParaRPr lang="pt-BR" sz="2100" noProof="0" dirty="0"/>
          </a:p>
        </p:txBody>
      </p:sp>
      <p:sp>
        <p:nvSpPr>
          <p:cNvPr id="15" name="Text 13"/>
          <p:cNvSpPr/>
          <p:nvPr/>
        </p:nvSpPr>
        <p:spPr>
          <a:xfrm>
            <a:off x="6355080" y="2366942"/>
            <a:ext cx="5349240" cy="566928"/>
          </a:xfrm>
          <a:prstGeom prst="rect">
            <a:avLst/>
          </a:prstGeom>
          <a:noFill/>
          <a:ln/>
        </p:spPr>
        <p:txBody>
          <a:bodyPr wrap="square" lIns="0" tIns="0" rIns="0" bIns="0" rtlCol="0" anchor="ctr"/>
          <a:lstStyle/>
          <a:p>
            <a:pPr marL="0" indent="0">
              <a:lnSpc>
                <a:spcPct val="108000"/>
              </a:lnSpc>
              <a:buNone/>
            </a:pPr>
            <a:r>
              <a:rPr lang="pt-BR" sz="1300" noProof="0" dirty="0">
                <a:solidFill>
                  <a:srgbClr val="E4E8F0"/>
                </a:solidFill>
                <a:latin typeface="Calibri" pitchFamily="34" charset="0"/>
                <a:ea typeface="Calibri" pitchFamily="34" charset="-122"/>
                <a:cs typeface="Calibri" pitchFamily="34" charset="-120"/>
              </a:rPr>
              <a:t>Empresas no quartil superior do DVI apresentaram crescimento de receita 4 a 5 vezes mais rápido que empresas do quartil inferior, entre 2014 e 2018.</a:t>
            </a:r>
            <a:endParaRPr lang="pt-BR" sz="1300" noProof="0" dirty="0"/>
          </a:p>
        </p:txBody>
      </p:sp>
      <p:sp>
        <p:nvSpPr>
          <p:cNvPr id="16" name="Text 14"/>
          <p:cNvSpPr/>
          <p:nvPr/>
        </p:nvSpPr>
        <p:spPr>
          <a:xfrm>
            <a:off x="6355080" y="3008376"/>
            <a:ext cx="5349240" cy="365760"/>
          </a:xfrm>
          <a:prstGeom prst="rect">
            <a:avLst/>
          </a:prstGeom>
          <a:noFill/>
          <a:ln/>
        </p:spPr>
        <p:txBody>
          <a:bodyPr wrap="square" lIns="0" tIns="0" rIns="0" bIns="0" rtlCol="0" anchor="ctr"/>
          <a:lstStyle/>
          <a:p>
            <a:pPr marL="0" indent="0">
              <a:buNone/>
            </a:pPr>
            <a:r>
              <a:rPr lang="pt-BR" sz="2100" b="1" noProof="0" dirty="0">
                <a:solidFill>
                  <a:srgbClr val="C9A227"/>
                </a:solidFill>
                <a:latin typeface="Calibri" pitchFamily="34" charset="0"/>
                <a:ea typeface="Calibri" pitchFamily="34" charset="-122"/>
                <a:cs typeface="Calibri" pitchFamily="34" charset="-120"/>
              </a:rPr>
              <a:t>55% mais inovação</a:t>
            </a:r>
            <a:endParaRPr lang="pt-BR" sz="2100" noProof="0" dirty="0"/>
          </a:p>
        </p:txBody>
      </p:sp>
      <p:sp>
        <p:nvSpPr>
          <p:cNvPr id="17" name="Text 15"/>
          <p:cNvSpPr/>
          <p:nvPr/>
        </p:nvSpPr>
        <p:spPr>
          <a:xfrm>
            <a:off x="6355080" y="3409358"/>
            <a:ext cx="5349240" cy="566928"/>
          </a:xfrm>
          <a:prstGeom prst="rect">
            <a:avLst/>
          </a:prstGeom>
          <a:noFill/>
          <a:ln/>
        </p:spPr>
        <p:txBody>
          <a:bodyPr wrap="square" lIns="0" tIns="0" rIns="0" bIns="0" rtlCol="0" anchor="ctr"/>
          <a:lstStyle/>
          <a:p>
            <a:pPr marL="0" indent="0">
              <a:lnSpc>
                <a:spcPct val="108000"/>
              </a:lnSpc>
              <a:buNone/>
            </a:pPr>
            <a:r>
              <a:rPr lang="pt-BR" sz="1300" noProof="0" dirty="0">
                <a:solidFill>
                  <a:srgbClr val="E4E8F0"/>
                </a:solidFill>
                <a:latin typeface="Calibri" pitchFamily="34" charset="0"/>
                <a:ea typeface="Calibri" pitchFamily="34" charset="-122"/>
                <a:cs typeface="Calibri" pitchFamily="34" charset="-120"/>
              </a:rPr>
              <a:t>Empresas no quartil superior alcançaram pontuação de inovação 55% maior.</a:t>
            </a:r>
            <a:endParaRPr lang="pt-BR" sz="1300" noProof="0" dirty="0"/>
          </a:p>
        </p:txBody>
      </p:sp>
      <p:sp>
        <p:nvSpPr>
          <p:cNvPr id="18" name="Text 16"/>
          <p:cNvSpPr/>
          <p:nvPr/>
        </p:nvSpPr>
        <p:spPr>
          <a:xfrm>
            <a:off x="6355080" y="4050792"/>
            <a:ext cx="5349240" cy="365760"/>
          </a:xfrm>
          <a:prstGeom prst="rect">
            <a:avLst/>
          </a:prstGeom>
          <a:noFill/>
          <a:ln/>
        </p:spPr>
        <p:txBody>
          <a:bodyPr wrap="square" lIns="0" tIns="0" rIns="0" bIns="0" rtlCol="0" anchor="ctr"/>
          <a:lstStyle/>
          <a:p>
            <a:pPr marL="0" indent="0">
              <a:buNone/>
            </a:pPr>
            <a:r>
              <a:rPr lang="pt-BR" sz="2100" b="1" noProof="0" dirty="0">
                <a:solidFill>
                  <a:srgbClr val="C9A227"/>
                </a:solidFill>
                <a:latin typeface="Calibri" pitchFamily="34" charset="0"/>
                <a:ea typeface="Calibri" pitchFamily="34" charset="-122"/>
                <a:cs typeface="Calibri" pitchFamily="34" charset="-120"/>
              </a:rPr>
              <a:t>47% mais satisfação e retenção</a:t>
            </a:r>
            <a:endParaRPr lang="pt-BR" sz="2100" noProof="0" dirty="0"/>
          </a:p>
        </p:txBody>
      </p:sp>
      <p:sp>
        <p:nvSpPr>
          <p:cNvPr id="19" name="Text 17"/>
          <p:cNvSpPr/>
          <p:nvPr/>
        </p:nvSpPr>
        <p:spPr>
          <a:xfrm>
            <a:off x="6355080" y="4451774"/>
            <a:ext cx="5349240" cy="566928"/>
          </a:xfrm>
          <a:prstGeom prst="rect">
            <a:avLst/>
          </a:prstGeom>
          <a:noFill/>
          <a:ln/>
        </p:spPr>
        <p:txBody>
          <a:bodyPr wrap="square" lIns="0" tIns="0" rIns="0" bIns="0" rtlCol="0" anchor="ctr"/>
          <a:lstStyle/>
          <a:p>
            <a:pPr marL="0" indent="0">
              <a:lnSpc>
                <a:spcPct val="108000"/>
              </a:lnSpc>
              <a:buNone/>
            </a:pPr>
            <a:r>
              <a:rPr lang="pt-BR" sz="1300" noProof="0" dirty="0">
                <a:solidFill>
                  <a:srgbClr val="E4E8F0"/>
                </a:solidFill>
                <a:latin typeface="Calibri" pitchFamily="34" charset="0"/>
                <a:ea typeface="Calibri" pitchFamily="34" charset="-122"/>
                <a:cs typeface="Calibri" pitchFamily="34" charset="-120"/>
              </a:rPr>
              <a:t>Organizações com ferramentas de desenvolvimento de alto nível apresentaram indicadores de satisfação e retenção de talentos 47% superiores.</a:t>
            </a:r>
            <a:endParaRPr lang="pt-BR" sz="1300" noProof="0" dirty="0"/>
          </a:p>
        </p:txBody>
      </p:sp>
      <p:sp>
        <p:nvSpPr>
          <p:cNvPr id="20" name="Shape 18"/>
          <p:cNvSpPr/>
          <p:nvPr/>
        </p:nvSpPr>
        <p:spPr>
          <a:xfrm>
            <a:off x="502920" y="5623560"/>
            <a:ext cx="11201400" cy="713232"/>
          </a:xfrm>
          <a:prstGeom prst="roundRect">
            <a:avLst>
              <a:gd name="adj" fmla="val 6410"/>
            </a:avLst>
          </a:prstGeom>
          <a:solidFill>
            <a:srgbClr val="121D33"/>
          </a:solidFill>
          <a:ln w="12700">
            <a:solidFill>
              <a:srgbClr val="2E3E60"/>
            </a:solidFill>
            <a:prstDash val="solid"/>
          </a:ln>
        </p:spPr>
        <p:txBody>
          <a:bodyPr/>
          <a:lstStyle/>
          <a:p>
            <a:endParaRPr lang="pt-BR" noProof="0" dirty="0"/>
          </a:p>
        </p:txBody>
      </p:sp>
      <p:sp>
        <p:nvSpPr>
          <p:cNvPr id="21" name="Text 19"/>
          <p:cNvSpPr/>
          <p:nvPr/>
        </p:nvSpPr>
        <p:spPr>
          <a:xfrm>
            <a:off x="685800" y="5669280"/>
            <a:ext cx="10835640" cy="621792"/>
          </a:xfrm>
          <a:prstGeom prst="rect">
            <a:avLst/>
          </a:prstGeom>
          <a:noFill/>
          <a:ln/>
        </p:spPr>
        <p:txBody>
          <a:bodyPr wrap="square" lIns="0" tIns="0" rIns="0" bIns="0" rtlCol="0" anchor="ctr"/>
          <a:lstStyle/>
          <a:p>
            <a:pPr marL="0" indent="0" algn="ctr">
              <a:lnSpc>
                <a:spcPct val="108000"/>
              </a:lnSpc>
              <a:buNone/>
            </a:pPr>
            <a:r>
              <a:rPr lang="pt-BR" sz="1400" i="1" noProof="0" dirty="0">
                <a:solidFill>
                  <a:srgbClr val="AEB8CE"/>
                </a:solidFill>
                <a:latin typeface="Calibri" pitchFamily="34" charset="0"/>
                <a:ea typeface="Calibri" pitchFamily="34" charset="-122"/>
                <a:cs typeface="Calibri" pitchFamily="34" charset="-120"/>
              </a:rPr>
              <a:t>A qualidade do software influência quanto tempo e dinheiro a empresa consegue transformar em novas entregas.</a:t>
            </a:r>
            <a:endParaRPr lang="pt-BR" sz="1400" noProof="0" dirty="0"/>
          </a:p>
        </p:txBody>
      </p:sp>
      <p:sp>
        <p:nvSpPr>
          <p:cNvPr id="22" name="Shape 20"/>
          <p:cNvSpPr/>
          <p:nvPr/>
        </p:nvSpPr>
        <p:spPr>
          <a:xfrm>
            <a:off x="0" y="6528816"/>
            <a:ext cx="12188952" cy="329184"/>
          </a:xfrm>
          <a:prstGeom prst="rect">
            <a:avLst/>
          </a:prstGeom>
          <a:solidFill>
            <a:srgbClr val="121D33"/>
          </a:solidFill>
          <a:ln/>
        </p:spPr>
        <p:txBody>
          <a:bodyPr/>
          <a:lstStyle/>
          <a:p>
            <a:endParaRPr lang="pt-BR" noProof="0" dirty="0"/>
          </a:p>
        </p:txBody>
      </p:sp>
      <p:sp>
        <p:nvSpPr>
          <p:cNvPr id="23" name="Text 21"/>
          <p:cNvSpPr/>
          <p:nvPr/>
        </p:nvSpPr>
        <p:spPr>
          <a:xfrm>
            <a:off x="502920" y="6528816"/>
            <a:ext cx="9052560" cy="329184"/>
          </a:xfrm>
          <a:prstGeom prst="rect">
            <a:avLst/>
          </a:prstGeom>
          <a:noFill/>
          <a:ln/>
        </p:spPr>
        <p:txBody>
          <a:bodyPr wrap="square" lIns="0" tIns="0" rIns="0" bIns="0" rtlCol="0" anchor="ctr"/>
          <a:lstStyle/>
          <a:p>
            <a:pPr marL="0" indent="0">
              <a:buNone/>
            </a:pPr>
            <a:r>
              <a:rPr lang="pt-BR" sz="800" noProof="0" dirty="0">
                <a:solidFill>
                  <a:srgbClr val="8A93A8"/>
                </a:solidFill>
                <a:latin typeface="Calibri" pitchFamily="34" charset="0"/>
                <a:ea typeface="Calibri" pitchFamily="34" charset="-122"/>
                <a:cs typeface="Calibri" pitchFamily="34" charset="-120"/>
              </a:rPr>
              <a:t>Fontes: </a:t>
            </a:r>
            <a:r>
              <a:rPr lang="pt-BR" sz="800" noProof="0" dirty="0" err="1">
                <a:solidFill>
                  <a:srgbClr val="8A93A8"/>
                </a:solidFill>
                <a:latin typeface="Calibri" pitchFamily="34" charset="0"/>
                <a:ea typeface="Calibri" pitchFamily="34" charset="-122"/>
                <a:cs typeface="Calibri" pitchFamily="34" charset="-120"/>
              </a:rPr>
              <a:t>Stripe</a:t>
            </a:r>
            <a:r>
              <a:rPr lang="pt-BR" sz="800" noProof="0" dirty="0">
                <a:solidFill>
                  <a:srgbClr val="8A93A8"/>
                </a:solidFill>
                <a:latin typeface="Calibri" pitchFamily="34" charset="0"/>
                <a:ea typeface="Calibri" pitchFamily="34" charset="-122"/>
                <a:cs typeface="Calibri" pitchFamily="34" charset="-120"/>
              </a:rPr>
              <a:t>, The </a:t>
            </a:r>
            <a:r>
              <a:rPr lang="pt-BR" sz="800" noProof="0" dirty="0" err="1">
                <a:solidFill>
                  <a:srgbClr val="8A93A8"/>
                </a:solidFill>
                <a:latin typeface="Calibri" pitchFamily="34" charset="0"/>
                <a:ea typeface="Calibri" pitchFamily="34" charset="-122"/>
                <a:cs typeface="Calibri" pitchFamily="34" charset="-120"/>
              </a:rPr>
              <a:t>Developer</a:t>
            </a:r>
            <a:r>
              <a:rPr lang="pt-BR" sz="800" noProof="0" dirty="0">
                <a:solidFill>
                  <a:srgbClr val="8A93A8"/>
                </a:solidFill>
                <a:latin typeface="Calibri" pitchFamily="34" charset="0"/>
                <a:ea typeface="Calibri" pitchFamily="34" charset="-122"/>
                <a:cs typeface="Calibri" pitchFamily="34" charset="-120"/>
              </a:rPr>
              <a:t> </a:t>
            </a:r>
            <a:r>
              <a:rPr lang="pt-BR" sz="800" noProof="0" dirty="0" err="1">
                <a:solidFill>
                  <a:srgbClr val="8A93A8"/>
                </a:solidFill>
                <a:latin typeface="Calibri" pitchFamily="34" charset="0"/>
                <a:ea typeface="Calibri" pitchFamily="34" charset="-122"/>
                <a:cs typeface="Calibri" pitchFamily="34" charset="-120"/>
              </a:rPr>
              <a:t>Coefficient</a:t>
            </a:r>
            <a:r>
              <a:rPr lang="pt-BR" sz="800" noProof="0" dirty="0">
                <a:solidFill>
                  <a:srgbClr val="8A93A8"/>
                </a:solidFill>
                <a:latin typeface="Calibri" pitchFamily="34" charset="0"/>
                <a:ea typeface="Calibri" pitchFamily="34" charset="-122"/>
                <a:cs typeface="Calibri" pitchFamily="34" charset="-120"/>
              </a:rPr>
              <a:t> (2018)  ·  McKinsey &amp; </a:t>
            </a:r>
            <a:r>
              <a:rPr lang="pt-BR" sz="800" noProof="0" dirty="0" err="1">
                <a:solidFill>
                  <a:srgbClr val="8A93A8"/>
                </a:solidFill>
                <a:latin typeface="Calibri" pitchFamily="34" charset="0"/>
                <a:ea typeface="Calibri" pitchFamily="34" charset="-122"/>
                <a:cs typeface="Calibri" pitchFamily="34" charset="-120"/>
              </a:rPr>
              <a:t>Company</a:t>
            </a:r>
            <a:r>
              <a:rPr lang="pt-BR" sz="800" noProof="0" dirty="0">
                <a:solidFill>
                  <a:srgbClr val="8A93A8"/>
                </a:solidFill>
                <a:latin typeface="Calibri" pitchFamily="34" charset="0"/>
                <a:ea typeface="Calibri" pitchFamily="34" charset="-122"/>
                <a:cs typeface="Calibri" pitchFamily="34" charset="-120"/>
              </a:rPr>
              <a:t>, </a:t>
            </a:r>
            <a:r>
              <a:rPr lang="pt-BR" sz="800" noProof="0" dirty="0" err="1">
                <a:solidFill>
                  <a:srgbClr val="8A93A8"/>
                </a:solidFill>
                <a:latin typeface="Calibri" pitchFamily="34" charset="0"/>
                <a:ea typeface="Calibri" pitchFamily="34" charset="-122"/>
                <a:cs typeface="Calibri" pitchFamily="34" charset="-120"/>
              </a:rPr>
              <a:t>Developer</a:t>
            </a:r>
            <a:r>
              <a:rPr lang="pt-BR" sz="800" noProof="0" dirty="0">
                <a:solidFill>
                  <a:srgbClr val="8A93A8"/>
                </a:solidFill>
                <a:latin typeface="Calibri" pitchFamily="34" charset="0"/>
                <a:ea typeface="Calibri" pitchFamily="34" charset="-122"/>
                <a:cs typeface="Calibri" pitchFamily="34" charset="-120"/>
              </a:rPr>
              <a:t> </a:t>
            </a:r>
            <a:r>
              <a:rPr lang="pt-BR" sz="800" noProof="0" dirty="0" err="1">
                <a:solidFill>
                  <a:srgbClr val="8A93A8"/>
                </a:solidFill>
                <a:latin typeface="Calibri" pitchFamily="34" charset="0"/>
                <a:ea typeface="Calibri" pitchFamily="34" charset="-122"/>
                <a:cs typeface="Calibri" pitchFamily="34" charset="-120"/>
              </a:rPr>
              <a:t>Velocity</a:t>
            </a:r>
            <a:r>
              <a:rPr lang="pt-BR" sz="800" noProof="0" dirty="0">
                <a:solidFill>
                  <a:srgbClr val="8A93A8"/>
                </a:solidFill>
                <a:latin typeface="Calibri" pitchFamily="34" charset="0"/>
                <a:ea typeface="Calibri" pitchFamily="34" charset="-122"/>
                <a:cs typeface="Calibri" pitchFamily="34" charset="-120"/>
              </a:rPr>
              <a:t> (2020)</a:t>
            </a:r>
            <a:endParaRPr lang="pt-BR" sz="800" noProof="0" dirty="0"/>
          </a:p>
        </p:txBody>
      </p:sp>
      <p:sp>
        <p:nvSpPr>
          <p:cNvPr id="24" name="Text 22"/>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01 / 13</a:t>
            </a:r>
            <a:endParaRPr lang="pt-BR" sz="95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a:extLst>
            <a:ext uri="{FF2B5EF4-FFF2-40B4-BE49-F238E27FC236}">
              <a16:creationId xmlns:a16="http://schemas.microsoft.com/office/drawing/2014/main" id="{87FC0E90-C9D6-842C-8529-9E129C671FF8}"/>
            </a:ext>
          </a:extLst>
        </p:cNvPr>
        <p:cNvGrpSpPr/>
        <p:nvPr/>
      </p:nvGrpSpPr>
      <p:grpSpPr>
        <a:xfrm>
          <a:off x="0" y="0"/>
          <a:ext cx="0" cy="0"/>
          <a:chOff x="0" y="0"/>
          <a:chExt cx="0" cy="0"/>
        </a:xfrm>
      </p:grpSpPr>
      <p:sp>
        <p:nvSpPr>
          <p:cNvPr id="25" name="Text 1">
            <a:extLst>
              <a:ext uri="{FF2B5EF4-FFF2-40B4-BE49-F238E27FC236}">
                <a16:creationId xmlns:a16="http://schemas.microsoft.com/office/drawing/2014/main" id="{542BADC5-AFE9-6868-2D91-960EB0F7CECA}"/>
              </a:ext>
            </a:extLst>
          </p:cNvPr>
          <p:cNvSpPr/>
          <p:nvPr/>
        </p:nvSpPr>
        <p:spPr>
          <a:xfrm>
            <a:off x="868680" y="1783080"/>
            <a:ext cx="10424160" cy="1691640"/>
          </a:xfrm>
          <a:prstGeom prst="rect">
            <a:avLst/>
          </a:prstGeom>
          <a:noFill/>
          <a:ln/>
        </p:spPr>
        <p:txBody>
          <a:bodyPr wrap="square" lIns="0" tIns="0" rIns="0" bIns="0" rtlCol="0" anchor="t"/>
          <a:lstStyle/>
          <a:p>
            <a:pPr marL="0" indent="0">
              <a:lnSpc>
                <a:spcPct val="110000"/>
              </a:lnSpc>
              <a:buNone/>
            </a:pPr>
            <a:r>
              <a:rPr lang="en-US" sz="4600" b="1" dirty="0">
                <a:solidFill>
                  <a:srgbClr val="FFFFFF"/>
                </a:solidFill>
                <a:latin typeface="Calibri" pitchFamily="34" charset="0"/>
                <a:ea typeface="Calibri" pitchFamily="34" charset="-122"/>
                <a:cs typeface="Calibri" pitchFamily="34" charset="-120"/>
              </a:rPr>
              <a:t>Refatoração e</a:t>
            </a:r>
            <a:endParaRPr lang="en-US" sz="4600" dirty="0"/>
          </a:p>
          <a:p>
            <a:pPr marL="0" indent="0">
              <a:lnSpc>
                <a:spcPct val="110000"/>
              </a:lnSpc>
              <a:buNone/>
            </a:pPr>
            <a:r>
              <a:rPr lang="en-US" sz="4600" b="1" dirty="0">
                <a:solidFill>
                  <a:srgbClr val="FFFFFF"/>
                </a:solidFill>
                <a:latin typeface="Calibri" pitchFamily="34" charset="0"/>
                <a:ea typeface="Calibri" pitchFamily="34" charset="-122"/>
                <a:cs typeface="Calibri" pitchFamily="34" charset="-120"/>
              </a:rPr>
              <a:t>Qualidade de Código</a:t>
            </a:r>
            <a:endParaRPr lang="en-US" sz="4600" dirty="0"/>
          </a:p>
        </p:txBody>
      </p:sp>
      <p:sp>
        <p:nvSpPr>
          <p:cNvPr id="26" name="Text 2">
            <a:extLst>
              <a:ext uri="{FF2B5EF4-FFF2-40B4-BE49-F238E27FC236}">
                <a16:creationId xmlns:a16="http://schemas.microsoft.com/office/drawing/2014/main" id="{D2CC78FF-4D27-6682-9220-0D099444D972}"/>
              </a:ext>
            </a:extLst>
          </p:cNvPr>
          <p:cNvSpPr/>
          <p:nvPr/>
        </p:nvSpPr>
        <p:spPr>
          <a:xfrm>
            <a:off x="896112" y="3611880"/>
            <a:ext cx="9601200" cy="411480"/>
          </a:xfrm>
          <a:prstGeom prst="rect">
            <a:avLst/>
          </a:prstGeom>
          <a:noFill/>
          <a:ln/>
        </p:spPr>
        <p:txBody>
          <a:bodyPr wrap="square" lIns="0" tIns="0" rIns="0" bIns="0" rtlCol="0" anchor="ctr"/>
          <a:lstStyle/>
          <a:p>
            <a:pPr marL="0" indent="0">
              <a:buNone/>
            </a:pPr>
            <a:r>
              <a:rPr lang="en-US" sz="1900" b="1" kern="0" spc="40" dirty="0">
                <a:solidFill>
                  <a:srgbClr val="C9A227"/>
                </a:solidFill>
                <a:latin typeface="Calibri" pitchFamily="34" charset="0"/>
                <a:ea typeface="Calibri" pitchFamily="34" charset="-122"/>
                <a:cs typeface="Calibri" pitchFamily="34" charset="-120"/>
              </a:rPr>
              <a:t>Clean Code, DRY, KISS e Lei de Demeter</a:t>
            </a:r>
            <a:endParaRPr lang="en-US" sz="1900" dirty="0"/>
          </a:p>
        </p:txBody>
      </p:sp>
      <p:sp>
        <p:nvSpPr>
          <p:cNvPr id="27" name="Shape 3">
            <a:extLst>
              <a:ext uri="{FF2B5EF4-FFF2-40B4-BE49-F238E27FC236}">
                <a16:creationId xmlns:a16="http://schemas.microsoft.com/office/drawing/2014/main" id="{98BDD74A-353E-E002-5CA1-48754EA0F63F}"/>
              </a:ext>
            </a:extLst>
          </p:cNvPr>
          <p:cNvSpPr/>
          <p:nvPr/>
        </p:nvSpPr>
        <p:spPr>
          <a:xfrm>
            <a:off x="896112" y="4160520"/>
            <a:ext cx="2834640" cy="20117"/>
          </a:xfrm>
          <a:prstGeom prst="rect">
            <a:avLst/>
          </a:prstGeom>
          <a:solidFill>
            <a:srgbClr val="C9A227"/>
          </a:solidFill>
          <a:ln/>
        </p:spPr>
      </p:sp>
      <p:sp>
        <p:nvSpPr>
          <p:cNvPr id="28" name="Text 4">
            <a:extLst>
              <a:ext uri="{FF2B5EF4-FFF2-40B4-BE49-F238E27FC236}">
                <a16:creationId xmlns:a16="http://schemas.microsoft.com/office/drawing/2014/main" id="{6D291079-D67E-F5B7-E2E2-FCD43A8044DC}"/>
              </a:ext>
            </a:extLst>
          </p:cNvPr>
          <p:cNvSpPr/>
          <p:nvPr/>
        </p:nvSpPr>
        <p:spPr>
          <a:xfrm>
            <a:off x="896112" y="4370832"/>
            <a:ext cx="9144000" cy="365760"/>
          </a:xfrm>
          <a:prstGeom prst="rect">
            <a:avLst/>
          </a:prstGeom>
          <a:noFill/>
          <a:ln/>
        </p:spPr>
        <p:txBody>
          <a:bodyPr wrap="square" lIns="0" tIns="0" rIns="0" bIns="0" rtlCol="0" anchor="ctr"/>
          <a:lstStyle/>
          <a:p>
            <a:pPr marL="0" indent="0">
              <a:buNone/>
            </a:pPr>
            <a:r>
              <a:rPr lang="en-US" sz="1500" kern="0" spc="120" dirty="0">
                <a:solidFill>
                  <a:srgbClr val="C7D0E0"/>
                </a:solidFill>
                <a:latin typeface="Calibri" pitchFamily="34" charset="0"/>
                <a:ea typeface="Calibri" pitchFamily="34" charset="-122"/>
                <a:cs typeface="Calibri" pitchFamily="34" charset="-120"/>
              </a:rPr>
              <a:t>Aula de Engenharia de Software</a:t>
            </a:r>
            <a:endParaRPr lang="en-US" sz="1500" dirty="0"/>
          </a:p>
        </p:txBody>
      </p:sp>
      <p:sp>
        <p:nvSpPr>
          <p:cNvPr id="29" name="Text 3">
            <a:extLst>
              <a:ext uri="{FF2B5EF4-FFF2-40B4-BE49-F238E27FC236}">
                <a16:creationId xmlns:a16="http://schemas.microsoft.com/office/drawing/2014/main" id="{07E76084-1990-244D-D0E1-52078DCAE0F1}"/>
              </a:ext>
            </a:extLst>
          </p:cNvPr>
          <p:cNvSpPr/>
          <p:nvPr/>
        </p:nvSpPr>
        <p:spPr>
          <a:xfrm>
            <a:off x="868680" y="5084064"/>
            <a:ext cx="9875520" cy="1280160"/>
          </a:xfrm>
          <a:prstGeom prst="rect">
            <a:avLst/>
          </a:prstGeom>
          <a:noFill/>
          <a:ln/>
        </p:spPr>
        <p:txBody>
          <a:bodyPr wrap="square" rtlCol="0" anchor="t"/>
          <a:lstStyle/>
          <a:p>
            <a:pPr marL="0" indent="0" algn="l">
              <a:spcAft>
                <a:spcPts val="300"/>
              </a:spcAft>
              <a:buNone/>
            </a:pPr>
            <a:r>
              <a:rPr lang="en-US" sz="1300" b="1" dirty="0">
                <a:solidFill>
                  <a:schemeClr val="bg1"/>
                </a:solidFill>
                <a:latin typeface="Tahoma" pitchFamily="34" charset="0"/>
                <a:ea typeface="Tahoma" pitchFamily="34" charset="-122"/>
                <a:cs typeface="Tahoma" pitchFamily="34" charset="-120"/>
              </a:rPr>
              <a:t>Técnicas Avançadas de Programação · IBM3120</a:t>
            </a:r>
            <a:endParaRPr lang="en-US" sz="1300" dirty="0">
              <a:solidFill>
                <a:schemeClr val="bg1"/>
              </a:solidFill>
            </a:endParaRPr>
          </a:p>
          <a:p>
            <a:pPr marL="0" indent="0" algn="l">
              <a:spcAft>
                <a:spcPts val="300"/>
              </a:spcAft>
              <a:buNone/>
            </a:pPr>
            <a:r>
              <a:rPr lang="en-US" sz="1300" dirty="0">
                <a:solidFill>
                  <a:schemeClr val="bg1"/>
                </a:solidFill>
                <a:latin typeface="Tahoma" pitchFamily="34" charset="0"/>
                <a:ea typeface="Tahoma" pitchFamily="34" charset="-122"/>
                <a:cs typeface="Tahoma" pitchFamily="34" charset="-120"/>
              </a:rPr>
              <a:t>Ibmec</a:t>
            </a:r>
            <a:endParaRPr lang="en-US" sz="1300" dirty="0">
              <a:solidFill>
                <a:schemeClr val="bg1"/>
              </a:solidFill>
            </a:endParaRPr>
          </a:p>
          <a:p>
            <a:pPr marL="0" indent="0" algn="l">
              <a:spcAft>
                <a:spcPts val="300"/>
              </a:spcAft>
              <a:buNone/>
            </a:pPr>
            <a:r>
              <a:rPr lang="en-US" sz="1300" dirty="0">
                <a:solidFill>
                  <a:schemeClr val="bg1"/>
                </a:solidFill>
                <a:latin typeface="Tahoma" pitchFamily="34" charset="0"/>
                <a:ea typeface="Tahoma" pitchFamily="34" charset="-122"/>
                <a:cs typeface="Tahoma" pitchFamily="34" charset="-120"/>
              </a:rPr>
              <a:t>Prof. Bruno Marques</a:t>
            </a:r>
            <a:endParaRPr lang="en-US" sz="1300" dirty="0">
              <a:solidFill>
                <a:schemeClr val="bg1"/>
              </a:solidFill>
            </a:endParaRPr>
          </a:p>
        </p:txBody>
      </p:sp>
    </p:spTree>
    <p:extLst>
      <p:ext uri="{BB962C8B-B14F-4D97-AF65-F5344CB8AC3E}">
        <p14:creationId xmlns:p14="http://schemas.microsoft.com/office/powerpoint/2010/main" val="1250317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a:extLst>
            <a:ext uri="{FF2B5EF4-FFF2-40B4-BE49-F238E27FC236}">
              <a16:creationId xmlns:a16="http://schemas.microsoft.com/office/drawing/2014/main" id="{30650D89-6CB6-F39E-E0B7-CBF135B2081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204274-50E0-B5BA-5313-3DCB151E0AB7}"/>
              </a:ext>
            </a:extLst>
          </p:cNvPr>
          <p:cNvSpPr/>
          <p:nvPr/>
        </p:nvSpPr>
        <p:spPr>
          <a:xfrm>
            <a:off x="685800" y="502920"/>
            <a:ext cx="9144000" cy="54864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Roteiro da aula</a:t>
            </a:r>
            <a:endParaRPr lang="en-US" sz="3200" dirty="0"/>
          </a:p>
        </p:txBody>
      </p:sp>
      <p:sp>
        <p:nvSpPr>
          <p:cNvPr id="3" name="Text 1">
            <a:extLst>
              <a:ext uri="{FF2B5EF4-FFF2-40B4-BE49-F238E27FC236}">
                <a16:creationId xmlns:a16="http://schemas.microsoft.com/office/drawing/2014/main" id="{27CF4F5C-7D03-1370-B72D-ECE5621BFD90}"/>
              </a:ext>
            </a:extLst>
          </p:cNvPr>
          <p:cNvSpPr/>
          <p:nvPr/>
        </p:nvSpPr>
        <p:spPr>
          <a:xfrm>
            <a:off x="685800" y="1115568"/>
            <a:ext cx="9692640" cy="365760"/>
          </a:xfrm>
          <a:prstGeom prst="rect">
            <a:avLst/>
          </a:prstGeom>
          <a:noFill/>
          <a:ln/>
        </p:spPr>
        <p:txBody>
          <a:bodyPr wrap="square" lIns="0" tIns="0" rIns="0" bIns="0" rtlCol="0" anchor="ctr"/>
          <a:lstStyle/>
          <a:p>
            <a:pPr marL="0" indent="0">
              <a:buNone/>
            </a:pPr>
            <a:r>
              <a:rPr lang="en-US" sz="1400" i="1" dirty="0">
                <a:solidFill>
                  <a:srgbClr val="C7D0E0"/>
                </a:solidFill>
                <a:latin typeface="Calibri" pitchFamily="34" charset="0"/>
                <a:ea typeface="Calibri" pitchFamily="34" charset="-122"/>
                <a:cs typeface="Calibri" pitchFamily="34" charset="-120"/>
              </a:rPr>
              <a:t>Da compreensão do problema à aplicação conjunta dos princípios.</a:t>
            </a:r>
            <a:endParaRPr lang="en-US" sz="1400" dirty="0"/>
          </a:p>
        </p:txBody>
      </p:sp>
      <p:sp>
        <p:nvSpPr>
          <p:cNvPr id="4" name="Shape 2">
            <a:extLst>
              <a:ext uri="{FF2B5EF4-FFF2-40B4-BE49-F238E27FC236}">
                <a16:creationId xmlns:a16="http://schemas.microsoft.com/office/drawing/2014/main" id="{110BE6B9-AA7C-2864-F6B5-70EA5FF126BF}"/>
              </a:ext>
            </a:extLst>
          </p:cNvPr>
          <p:cNvSpPr/>
          <p:nvPr/>
        </p:nvSpPr>
        <p:spPr>
          <a:xfrm>
            <a:off x="685800" y="1572768"/>
            <a:ext cx="10817352" cy="14630"/>
          </a:xfrm>
          <a:prstGeom prst="rect">
            <a:avLst/>
          </a:prstGeom>
          <a:solidFill>
            <a:srgbClr val="33456E"/>
          </a:solidFill>
          <a:ln/>
        </p:spPr>
      </p:sp>
      <p:sp>
        <p:nvSpPr>
          <p:cNvPr id="5" name="Text 3">
            <a:extLst>
              <a:ext uri="{FF2B5EF4-FFF2-40B4-BE49-F238E27FC236}">
                <a16:creationId xmlns:a16="http://schemas.microsoft.com/office/drawing/2014/main" id="{FB03BA7E-AF1E-2139-7936-28EE582B0A0D}"/>
              </a:ext>
            </a:extLst>
          </p:cNvPr>
          <p:cNvSpPr/>
          <p:nvPr/>
        </p:nvSpPr>
        <p:spPr>
          <a:xfrm>
            <a:off x="685800" y="1783080"/>
            <a:ext cx="5134356" cy="640080"/>
          </a:xfrm>
          <a:prstGeom prst="rect">
            <a:avLst/>
          </a:prstGeom>
          <a:noFill/>
          <a:ln/>
        </p:spPr>
        <p:txBody>
          <a:bodyPr wrap="square" lIns="0" tIns="0" rIns="0" bIns="0" rtlCol="0" anchor="t"/>
          <a:lstStyle/>
          <a:p>
            <a:pPr marL="0" indent="0">
              <a:lnSpc>
                <a:spcPct val="110000"/>
              </a:lnSpc>
              <a:buNone/>
            </a:pPr>
            <a:r>
              <a:rPr lang="en-US" sz="2300" b="1" dirty="0">
                <a:solidFill>
                  <a:srgbClr val="C9A227"/>
                </a:solidFill>
                <a:latin typeface="Calibri" pitchFamily="34" charset="0"/>
                <a:ea typeface="Calibri" pitchFamily="34" charset="-122"/>
                <a:cs typeface="Calibri" pitchFamily="34" charset="-120"/>
              </a:rPr>
              <a:t>01   </a:t>
            </a:r>
            <a:r>
              <a:rPr lang="en-US" sz="2200" b="1" dirty="0">
                <a:solidFill>
                  <a:srgbClr val="FFFFFF"/>
                </a:solidFill>
                <a:latin typeface="Calibri" pitchFamily="34" charset="0"/>
                <a:ea typeface="Calibri" pitchFamily="34" charset="-122"/>
                <a:cs typeface="Calibri" pitchFamily="34" charset="-120"/>
              </a:rPr>
              <a:t>Por que a qualidade do código importa</a:t>
            </a:r>
            <a:endParaRPr lang="en-US" sz="2300" dirty="0"/>
          </a:p>
        </p:txBody>
      </p:sp>
      <p:sp>
        <p:nvSpPr>
          <p:cNvPr id="6" name="Text 4">
            <a:extLst>
              <a:ext uri="{FF2B5EF4-FFF2-40B4-BE49-F238E27FC236}">
                <a16:creationId xmlns:a16="http://schemas.microsoft.com/office/drawing/2014/main" id="{814BBB6C-D7C3-3507-8356-7DAF8F677F10}"/>
              </a:ext>
            </a:extLst>
          </p:cNvPr>
          <p:cNvSpPr/>
          <p:nvPr/>
        </p:nvSpPr>
        <p:spPr>
          <a:xfrm>
            <a:off x="704088" y="2459736"/>
            <a:ext cx="5088636" cy="292608"/>
          </a:xfrm>
          <a:prstGeom prst="rect">
            <a:avLst/>
          </a:prstGeom>
          <a:noFill/>
          <a:ln/>
        </p:spPr>
        <p:txBody>
          <a:bodyPr wrap="square" lIns="0" tIns="0" rIns="0" bIns="0" rtlCol="0" anchor="ctr"/>
          <a:lstStyle/>
          <a:p>
            <a:pPr marL="0" indent="0">
              <a:buNone/>
            </a:pPr>
            <a:r>
              <a:rPr lang="en-US" sz="1650" dirty="0">
                <a:solidFill>
                  <a:srgbClr val="AEB8D4"/>
                </a:solidFill>
                <a:latin typeface="Calibri" pitchFamily="34" charset="0"/>
                <a:ea typeface="Calibri" pitchFamily="34" charset="-122"/>
                <a:cs typeface="Calibri" pitchFamily="34" charset="-120"/>
              </a:rPr>
              <a:t>Impactos técnicos, financeiros e humanos.</a:t>
            </a:r>
            <a:endParaRPr lang="en-US" sz="1650" dirty="0"/>
          </a:p>
        </p:txBody>
      </p:sp>
      <p:sp>
        <p:nvSpPr>
          <p:cNvPr id="7" name="Text 5">
            <a:extLst>
              <a:ext uri="{FF2B5EF4-FFF2-40B4-BE49-F238E27FC236}">
                <a16:creationId xmlns:a16="http://schemas.microsoft.com/office/drawing/2014/main" id="{BE7D2A74-7B2E-97E1-35EE-F9DC27BC7003}"/>
              </a:ext>
            </a:extLst>
          </p:cNvPr>
          <p:cNvSpPr/>
          <p:nvPr/>
        </p:nvSpPr>
        <p:spPr>
          <a:xfrm>
            <a:off x="685800" y="2926080"/>
            <a:ext cx="5134356" cy="640080"/>
          </a:xfrm>
          <a:prstGeom prst="rect">
            <a:avLst/>
          </a:prstGeom>
          <a:noFill/>
          <a:ln/>
        </p:spPr>
        <p:txBody>
          <a:bodyPr wrap="square" lIns="0" tIns="0" rIns="0" bIns="0" rtlCol="0" anchor="t"/>
          <a:lstStyle/>
          <a:p>
            <a:pPr marL="0" indent="0">
              <a:lnSpc>
                <a:spcPct val="110000"/>
              </a:lnSpc>
              <a:buNone/>
            </a:pPr>
            <a:r>
              <a:rPr lang="en-US" sz="2300" b="1" dirty="0">
                <a:solidFill>
                  <a:srgbClr val="C9A227"/>
                </a:solidFill>
                <a:latin typeface="Calibri" pitchFamily="34" charset="0"/>
                <a:ea typeface="Calibri" pitchFamily="34" charset="-122"/>
                <a:cs typeface="Calibri" pitchFamily="34" charset="-120"/>
              </a:rPr>
              <a:t>02   </a:t>
            </a:r>
            <a:r>
              <a:rPr lang="en-US" sz="2200" b="1" dirty="0">
                <a:solidFill>
                  <a:srgbClr val="FFFFFF"/>
                </a:solidFill>
                <a:latin typeface="Calibri" pitchFamily="34" charset="0"/>
                <a:ea typeface="Calibri" pitchFamily="34" charset="-122"/>
                <a:cs typeface="Calibri" pitchFamily="34" charset="-120"/>
              </a:rPr>
              <a:t>Refatoração</a:t>
            </a:r>
            <a:endParaRPr lang="en-US" sz="2300" dirty="0"/>
          </a:p>
        </p:txBody>
      </p:sp>
      <p:sp>
        <p:nvSpPr>
          <p:cNvPr id="8" name="Text 6">
            <a:extLst>
              <a:ext uri="{FF2B5EF4-FFF2-40B4-BE49-F238E27FC236}">
                <a16:creationId xmlns:a16="http://schemas.microsoft.com/office/drawing/2014/main" id="{16D632B1-9B3C-7077-2F96-67EF65A3873E}"/>
              </a:ext>
            </a:extLst>
          </p:cNvPr>
          <p:cNvSpPr/>
          <p:nvPr/>
        </p:nvSpPr>
        <p:spPr>
          <a:xfrm>
            <a:off x="704088" y="3602736"/>
            <a:ext cx="5088636" cy="292608"/>
          </a:xfrm>
          <a:prstGeom prst="rect">
            <a:avLst/>
          </a:prstGeom>
          <a:noFill/>
          <a:ln/>
        </p:spPr>
        <p:txBody>
          <a:bodyPr wrap="square" lIns="0" tIns="0" rIns="0" bIns="0" rtlCol="0" anchor="ctr"/>
          <a:lstStyle/>
          <a:p>
            <a:pPr marL="0" indent="0">
              <a:buNone/>
            </a:pPr>
            <a:r>
              <a:rPr lang="en-US" sz="1650" dirty="0">
                <a:solidFill>
                  <a:srgbClr val="AEB8D4"/>
                </a:solidFill>
                <a:latin typeface="Calibri" pitchFamily="34" charset="0"/>
                <a:ea typeface="Calibri" pitchFamily="34" charset="-122"/>
                <a:cs typeface="Calibri" pitchFamily="34" charset="-120"/>
              </a:rPr>
              <a:t>Melhorar a estrutura sem alterar o comportamento.</a:t>
            </a:r>
            <a:endParaRPr lang="en-US" sz="1650" dirty="0"/>
          </a:p>
        </p:txBody>
      </p:sp>
      <p:sp>
        <p:nvSpPr>
          <p:cNvPr id="9" name="Text 7">
            <a:extLst>
              <a:ext uri="{FF2B5EF4-FFF2-40B4-BE49-F238E27FC236}">
                <a16:creationId xmlns:a16="http://schemas.microsoft.com/office/drawing/2014/main" id="{274D7192-B6F7-E668-E748-577E2C56AD74}"/>
              </a:ext>
            </a:extLst>
          </p:cNvPr>
          <p:cNvSpPr/>
          <p:nvPr/>
        </p:nvSpPr>
        <p:spPr>
          <a:xfrm>
            <a:off x="685800" y="4069080"/>
            <a:ext cx="5134356" cy="640080"/>
          </a:xfrm>
          <a:prstGeom prst="rect">
            <a:avLst/>
          </a:prstGeom>
          <a:noFill/>
          <a:ln/>
        </p:spPr>
        <p:txBody>
          <a:bodyPr wrap="square" lIns="0" tIns="0" rIns="0" bIns="0" rtlCol="0" anchor="t"/>
          <a:lstStyle/>
          <a:p>
            <a:pPr marL="0" indent="0">
              <a:lnSpc>
                <a:spcPct val="110000"/>
              </a:lnSpc>
              <a:buNone/>
            </a:pPr>
            <a:r>
              <a:rPr lang="en-US" sz="2300" b="1" dirty="0">
                <a:solidFill>
                  <a:srgbClr val="C9A227"/>
                </a:solidFill>
                <a:latin typeface="Calibri" pitchFamily="34" charset="0"/>
                <a:ea typeface="Calibri" pitchFamily="34" charset="-122"/>
                <a:cs typeface="Calibri" pitchFamily="34" charset="-120"/>
              </a:rPr>
              <a:t>03   </a:t>
            </a:r>
            <a:r>
              <a:rPr lang="en-US" sz="2200" b="1" dirty="0">
                <a:solidFill>
                  <a:srgbClr val="FFFFFF"/>
                </a:solidFill>
                <a:latin typeface="Calibri" pitchFamily="34" charset="0"/>
                <a:ea typeface="Calibri" pitchFamily="34" charset="-122"/>
                <a:cs typeface="Calibri" pitchFamily="34" charset="-120"/>
              </a:rPr>
              <a:t>Clean Code</a:t>
            </a:r>
            <a:endParaRPr lang="en-US" sz="2300" dirty="0"/>
          </a:p>
        </p:txBody>
      </p:sp>
      <p:sp>
        <p:nvSpPr>
          <p:cNvPr id="10" name="Text 8">
            <a:extLst>
              <a:ext uri="{FF2B5EF4-FFF2-40B4-BE49-F238E27FC236}">
                <a16:creationId xmlns:a16="http://schemas.microsoft.com/office/drawing/2014/main" id="{C59B91E7-EE8D-EAFE-C405-2ACD25F867F5}"/>
              </a:ext>
            </a:extLst>
          </p:cNvPr>
          <p:cNvSpPr/>
          <p:nvPr/>
        </p:nvSpPr>
        <p:spPr>
          <a:xfrm>
            <a:off x="704088" y="4745736"/>
            <a:ext cx="5088636" cy="292608"/>
          </a:xfrm>
          <a:prstGeom prst="rect">
            <a:avLst/>
          </a:prstGeom>
          <a:noFill/>
          <a:ln/>
        </p:spPr>
        <p:txBody>
          <a:bodyPr wrap="square" lIns="0" tIns="0" rIns="0" bIns="0" rtlCol="0" anchor="ctr"/>
          <a:lstStyle/>
          <a:p>
            <a:pPr marL="0" indent="0">
              <a:buNone/>
            </a:pPr>
            <a:r>
              <a:rPr lang="en-US" sz="1650" dirty="0">
                <a:solidFill>
                  <a:srgbClr val="AEB8D4"/>
                </a:solidFill>
                <a:latin typeface="Calibri" pitchFamily="34" charset="0"/>
                <a:ea typeface="Calibri" pitchFamily="34" charset="-122"/>
                <a:cs typeface="Calibri" pitchFamily="34" charset="-120"/>
              </a:rPr>
              <a:t>Tornar intenções e responsabilidades mais claras.</a:t>
            </a:r>
            <a:endParaRPr lang="en-US" sz="1650" dirty="0"/>
          </a:p>
        </p:txBody>
      </p:sp>
      <p:sp>
        <p:nvSpPr>
          <p:cNvPr id="11" name="Text 9">
            <a:extLst>
              <a:ext uri="{FF2B5EF4-FFF2-40B4-BE49-F238E27FC236}">
                <a16:creationId xmlns:a16="http://schemas.microsoft.com/office/drawing/2014/main" id="{4AD3EB2E-7EC1-A5A5-A5CB-6800A20B8F7F}"/>
              </a:ext>
            </a:extLst>
          </p:cNvPr>
          <p:cNvSpPr/>
          <p:nvPr/>
        </p:nvSpPr>
        <p:spPr>
          <a:xfrm>
            <a:off x="685800" y="5212080"/>
            <a:ext cx="5134356" cy="640080"/>
          </a:xfrm>
          <a:prstGeom prst="rect">
            <a:avLst/>
          </a:prstGeom>
          <a:noFill/>
          <a:ln/>
        </p:spPr>
        <p:txBody>
          <a:bodyPr wrap="square" lIns="0" tIns="0" rIns="0" bIns="0" rtlCol="0" anchor="t"/>
          <a:lstStyle/>
          <a:p>
            <a:pPr marL="0" indent="0">
              <a:lnSpc>
                <a:spcPct val="110000"/>
              </a:lnSpc>
              <a:buNone/>
            </a:pPr>
            <a:r>
              <a:rPr lang="en-US" sz="2300" b="1" dirty="0">
                <a:solidFill>
                  <a:srgbClr val="C9A227"/>
                </a:solidFill>
                <a:latin typeface="Calibri" pitchFamily="34" charset="0"/>
                <a:ea typeface="Calibri" pitchFamily="34" charset="-122"/>
                <a:cs typeface="Calibri" pitchFamily="34" charset="-120"/>
              </a:rPr>
              <a:t>04   </a:t>
            </a:r>
            <a:r>
              <a:rPr lang="en-US" sz="2200" b="1" dirty="0">
                <a:solidFill>
                  <a:srgbClr val="FFFFFF"/>
                </a:solidFill>
                <a:latin typeface="Calibri" pitchFamily="34" charset="0"/>
                <a:ea typeface="Calibri" pitchFamily="34" charset="-122"/>
                <a:cs typeface="Calibri" pitchFamily="34" charset="-120"/>
              </a:rPr>
              <a:t>DRY</a:t>
            </a:r>
            <a:endParaRPr lang="en-US" sz="2300" dirty="0"/>
          </a:p>
        </p:txBody>
      </p:sp>
      <p:sp>
        <p:nvSpPr>
          <p:cNvPr id="13" name="Text 10">
            <a:extLst>
              <a:ext uri="{FF2B5EF4-FFF2-40B4-BE49-F238E27FC236}">
                <a16:creationId xmlns:a16="http://schemas.microsoft.com/office/drawing/2014/main" id="{E16B2C9B-63B8-0247-A9EB-61B9615542CF}"/>
              </a:ext>
            </a:extLst>
          </p:cNvPr>
          <p:cNvSpPr/>
          <p:nvPr/>
        </p:nvSpPr>
        <p:spPr>
          <a:xfrm>
            <a:off x="704088" y="5888736"/>
            <a:ext cx="5088636" cy="292608"/>
          </a:xfrm>
          <a:prstGeom prst="rect">
            <a:avLst/>
          </a:prstGeom>
          <a:noFill/>
          <a:ln/>
        </p:spPr>
        <p:txBody>
          <a:bodyPr wrap="square" lIns="0" tIns="0" rIns="0" bIns="0" rtlCol="0" anchor="ctr"/>
          <a:lstStyle/>
          <a:p>
            <a:pPr marL="0" indent="0">
              <a:buNone/>
            </a:pPr>
            <a:r>
              <a:rPr lang="en-US" sz="1650" dirty="0">
                <a:solidFill>
                  <a:srgbClr val="AEB8D4"/>
                </a:solidFill>
                <a:latin typeface="Calibri" pitchFamily="34" charset="0"/>
                <a:ea typeface="Calibri" pitchFamily="34" charset="-122"/>
                <a:cs typeface="Calibri" pitchFamily="34" charset="-120"/>
              </a:rPr>
              <a:t>Evitar diferentes versões do mesmo conhecimento.</a:t>
            </a:r>
            <a:endParaRPr lang="en-US" sz="1650" dirty="0"/>
          </a:p>
        </p:txBody>
      </p:sp>
      <p:sp>
        <p:nvSpPr>
          <p:cNvPr id="14" name="Text 11">
            <a:extLst>
              <a:ext uri="{FF2B5EF4-FFF2-40B4-BE49-F238E27FC236}">
                <a16:creationId xmlns:a16="http://schemas.microsoft.com/office/drawing/2014/main" id="{57A436D3-382E-05E5-F2D1-33BC112A4D63}"/>
              </a:ext>
            </a:extLst>
          </p:cNvPr>
          <p:cNvSpPr/>
          <p:nvPr/>
        </p:nvSpPr>
        <p:spPr>
          <a:xfrm>
            <a:off x="6368796" y="1783080"/>
            <a:ext cx="5134356" cy="640080"/>
          </a:xfrm>
          <a:prstGeom prst="rect">
            <a:avLst/>
          </a:prstGeom>
          <a:noFill/>
          <a:ln/>
        </p:spPr>
        <p:txBody>
          <a:bodyPr wrap="square" lIns="0" tIns="0" rIns="0" bIns="0" rtlCol="0" anchor="t"/>
          <a:lstStyle/>
          <a:p>
            <a:pPr marL="0" indent="0">
              <a:lnSpc>
                <a:spcPct val="110000"/>
              </a:lnSpc>
              <a:buNone/>
            </a:pPr>
            <a:r>
              <a:rPr lang="en-US" sz="2300" b="1" dirty="0">
                <a:solidFill>
                  <a:srgbClr val="C9A227"/>
                </a:solidFill>
                <a:latin typeface="Calibri" pitchFamily="34" charset="0"/>
                <a:ea typeface="Calibri" pitchFamily="34" charset="-122"/>
                <a:cs typeface="Calibri" pitchFamily="34" charset="-120"/>
              </a:rPr>
              <a:t>05   </a:t>
            </a:r>
            <a:r>
              <a:rPr lang="en-US" sz="2200" b="1" dirty="0">
                <a:solidFill>
                  <a:srgbClr val="FFFFFF"/>
                </a:solidFill>
                <a:latin typeface="Calibri" pitchFamily="34" charset="0"/>
                <a:ea typeface="Calibri" pitchFamily="34" charset="-122"/>
                <a:cs typeface="Calibri" pitchFamily="34" charset="-120"/>
              </a:rPr>
              <a:t>KISS</a:t>
            </a:r>
            <a:endParaRPr lang="en-US" sz="2300" dirty="0"/>
          </a:p>
        </p:txBody>
      </p:sp>
      <p:sp>
        <p:nvSpPr>
          <p:cNvPr id="15" name="Text 12">
            <a:extLst>
              <a:ext uri="{FF2B5EF4-FFF2-40B4-BE49-F238E27FC236}">
                <a16:creationId xmlns:a16="http://schemas.microsoft.com/office/drawing/2014/main" id="{8E3FB0E0-5B73-9BBD-F6B8-87128488752D}"/>
              </a:ext>
            </a:extLst>
          </p:cNvPr>
          <p:cNvSpPr/>
          <p:nvPr/>
        </p:nvSpPr>
        <p:spPr>
          <a:xfrm>
            <a:off x="6387084" y="2459736"/>
            <a:ext cx="5088636" cy="292608"/>
          </a:xfrm>
          <a:prstGeom prst="rect">
            <a:avLst/>
          </a:prstGeom>
          <a:noFill/>
          <a:ln/>
        </p:spPr>
        <p:txBody>
          <a:bodyPr wrap="square" lIns="0" tIns="0" rIns="0" bIns="0" rtlCol="0" anchor="ctr"/>
          <a:lstStyle/>
          <a:p>
            <a:pPr marL="0" indent="0">
              <a:buNone/>
            </a:pPr>
            <a:r>
              <a:rPr lang="en-US" sz="1650" dirty="0">
                <a:solidFill>
                  <a:srgbClr val="AEB8D4"/>
                </a:solidFill>
                <a:latin typeface="Calibri" pitchFamily="34" charset="0"/>
                <a:ea typeface="Calibri" pitchFamily="34" charset="-122"/>
                <a:cs typeface="Calibri" pitchFamily="34" charset="-120"/>
              </a:rPr>
              <a:t>Manter apenas a complexidade necessária.</a:t>
            </a:r>
            <a:endParaRPr lang="en-US" sz="1650" dirty="0"/>
          </a:p>
        </p:txBody>
      </p:sp>
      <p:sp>
        <p:nvSpPr>
          <p:cNvPr id="16" name="Text 13">
            <a:extLst>
              <a:ext uri="{FF2B5EF4-FFF2-40B4-BE49-F238E27FC236}">
                <a16:creationId xmlns:a16="http://schemas.microsoft.com/office/drawing/2014/main" id="{15255BC4-6377-D5BA-8CDE-12E19F31AA23}"/>
              </a:ext>
            </a:extLst>
          </p:cNvPr>
          <p:cNvSpPr/>
          <p:nvPr/>
        </p:nvSpPr>
        <p:spPr>
          <a:xfrm>
            <a:off x="6368796" y="2926080"/>
            <a:ext cx="5134356" cy="640080"/>
          </a:xfrm>
          <a:prstGeom prst="rect">
            <a:avLst/>
          </a:prstGeom>
          <a:noFill/>
          <a:ln/>
        </p:spPr>
        <p:txBody>
          <a:bodyPr wrap="square" lIns="0" tIns="0" rIns="0" bIns="0" rtlCol="0" anchor="t"/>
          <a:lstStyle/>
          <a:p>
            <a:pPr marL="0" indent="0">
              <a:lnSpc>
                <a:spcPct val="110000"/>
              </a:lnSpc>
              <a:buNone/>
            </a:pPr>
            <a:r>
              <a:rPr lang="en-US" sz="2300" b="1" dirty="0">
                <a:solidFill>
                  <a:srgbClr val="C9A227"/>
                </a:solidFill>
                <a:latin typeface="Calibri" pitchFamily="34" charset="0"/>
                <a:ea typeface="Calibri" pitchFamily="34" charset="-122"/>
                <a:cs typeface="Calibri" pitchFamily="34" charset="-120"/>
              </a:rPr>
              <a:t>06   </a:t>
            </a:r>
            <a:r>
              <a:rPr lang="en-US" sz="2200" b="1" dirty="0">
                <a:solidFill>
                  <a:srgbClr val="FFFFFF"/>
                </a:solidFill>
                <a:latin typeface="Calibri" pitchFamily="34" charset="0"/>
                <a:ea typeface="Calibri" pitchFamily="34" charset="-122"/>
                <a:cs typeface="Calibri" pitchFamily="34" charset="-120"/>
              </a:rPr>
              <a:t>Lei de Demeter</a:t>
            </a:r>
            <a:endParaRPr lang="en-US" sz="2300" dirty="0"/>
          </a:p>
        </p:txBody>
      </p:sp>
      <p:sp>
        <p:nvSpPr>
          <p:cNvPr id="17" name="Text 14">
            <a:extLst>
              <a:ext uri="{FF2B5EF4-FFF2-40B4-BE49-F238E27FC236}">
                <a16:creationId xmlns:a16="http://schemas.microsoft.com/office/drawing/2014/main" id="{52DF5BED-E920-C36B-0098-10BEF136EF28}"/>
              </a:ext>
            </a:extLst>
          </p:cNvPr>
          <p:cNvSpPr/>
          <p:nvPr/>
        </p:nvSpPr>
        <p:spPr>
          <a:xfrm>
            <a:off x="6387084" y="3602736"/>
            <a:ext cx="5088636" cy="292608"/>
          </a:xfrm>
          <a:prstGeom prst="rect">
            <a:avLst/>
          </a:prstGeom>
          <a:noFill/>
          <a:ln/>
        </p:spPr>
        <p:txBody>
          <a:bodyPr wrap="square" lIns="0" tIns="0" rIns="0" bIns="0" rtlCol="0" anchor="ctr"/>
          <a:lstStyle/>
          <a:p>
            <a:pPr marL="0" indent="0">
              <a:buNone/>
            </a:pPr>
            <a:r>
              <a:rPr lang="en-US" sz="1650" dirty="0">
                <a:solidFill>
                  <a:srgbClr val="AEB8D4"/>
                </a:solidFill>
                <a:latin typeface="Calibri" pitchFamily="34" charset="0"/>
                <a:ea typeface="Calibri" pitchFamily="34" charset="-122"/>
                <a:cs typeface="Calibri" pitchFamily="34" charset="-120"/>
              </a:rPr>
              <a:t>Reduzir o conhecimento e o acoplamento entre objetos.</a:t>
            </a:r>
            <a:endParaRPr lang="en-US" sz="1650" dirty="0"/>
          </a:p>
        </p:txBody>
      </p:sp>
      <p:sp>
        <p:nvSpPr>
          <p:cNvPr id="18" name="Text 15">
            <a:extLst>
              <a:ext uri="{FF2B5EF4-FFF2-40B4-BE49-F238E27FC236}">
                <a16:creationId xmlns:a16="http://schemas.microsoft.com/office/drawing/2014/main" id="{D712C4C5-149D-5D2E-ECA0-957D81E74808}"/>
              </a:ext>
            </a:extLst>
          </p:cNvPr>
          <p:cNvSpPr/>
          <p:nvPr/>
        </p:nvSpPr>
        <p:spPr>
          <a:xfrm>
            <a:off x="6368796" y="4069080"/>
            <a:ext cx="5134356" cy="640080"/>
          </a:xfrm>
          <a:prstGeom prst="rect">
            <a:avLst/>
          </a:prstGeom>
          <a:noFill/>
          <a:ln/>
        </p:spPr>
        <p:txBody>
          <a:bodyPr wrap="square" lIns="0" tIns="0" rIns="0" bIns="0" rtlCol="0" anchor="t"/>
          <a:lstStyle/>
          <a:p>
            <a:pPr marL="0" indent="0">
              <a:lnSpc>
                <a:spcPct val="110000"/>
              </a:lnSpc>
              <a:buNone/>
            </a:pPr>
            <a:r>
              <a:rPr lang="en-US" sz="2300" b="1" dirty="0">
                <a:solidFill>
                  <a:srgbClr val="C9A227"/>
                </a:solidFill>
                <a:latin typeface="Calibri" pitchFamily="34" charset="0"/>
                <a:ea typeface="Calibri" pitchFamily="34" charset="-122"/>
                <a:cs typeface="Calibri" pitchFamily="34" charset="-120"/>
              </a:rPr>
              <a:t>07   </a:t>
            </a:r>
            <a:r>
              <a:rPr lang="en-US" sz="2200" b="1" dirty="0">
                <a:solidFill>
                  <a:srgbClr val="FFFFFF"/>
                </a:solidFill>
                <a:latin typeface="Calibri" pitchFamily="34" charset="0"/>
                <a:ea typeface="Calibri" pitchFamily="34" charset="-122"/>
                <a:cs typeface="Calibri" pitchFamily="34" charset="-120"/>
              </a:rPr>
              <a:t>Aplicação conjunta</a:t>
            </a:r>
            <a:endParaRPr lang="en-US" sz="2300" dirty="0"/>
          </a:p>
        </p:txBody>
      </p:sp>
      <p:sp>
        <p:nvSpPr>
          <p:cNvPr id="19" name="Text 16">
            <a:extLst>
              <a:ext uri="{FF2B5EF4-FFF2-40B4-BE49-F238E27FC236}">
                <a16:creationId xmlns:a16="http://schemas.microsoft.com/office/drawing/2014/main" id="{8C1447E5-8CFB-E865-B64E-E890CF074FEE}"/>
              </a:ext>
            </a:extLst>
          </p:cNvPr>
          <p:cNvSpPr/>
          <p:nvPr/>
        </p:nvSpPr>
        <p:spPr>
          <a:xfrm>
            <a:off x="6387084" y="4745736"/>
            <a:ext cx="5088636" cy="292608"/>
          </a:xfrm>
          <a:prstGeom prst="rect">
            <a:avLst/>
          </a:prstGeom>
          <a:noFill/>
          <a:ln/>
        </p:spPr>
        <p:txBody>
          <a:bodyPr wrap="square" lIns="0" tIns="0" rIns="0" bIns="0" rtlCol="0" anchor="ctr"/>
          <a:lstStyle/>
          <a:p>
            <a:pPr marL="0" indent="0">
              <a:buNone/>
            </a:pPr>
            <a:r>
              <a:rPr lang="en-US" sz="1650" dirty="0">
                <a:solidFill>
                  <a:srgbClr val="AEB8D4"/>
                </a:solidFill>
                <a:latin typeface="Calibri" pitchFamily="34" charset="0"/>
                <a:ea typeface="Calibri" pitchFamily="34" charset="-122"/>
                <a:cs typeface="Calibri" pitchFamily="34" charset="-120"/>
              </a:rPr>
              <a:t>Usar os quatro princípios para analisar e melhorar o código.</a:t>
            </a:r>
            <a:endParaRPr lang="en-US" sz="1650" dirty="0"/>
          </a:p>
        </p:txBody>
      </p:sp>
      <p:sp>
        <p:nvSpPr>
          <p:cNvPr id="20" name="Shape 17">
            <a:extLst>
              <a:ext uri="{FF2B5EF4-FFF2-40B4-BE49-F238E27FC236}">
                <a16:creationId xmlns:a16="http://schemas.microsoft.com/office/drawing/2014/main" id="{C4C943FA-64E7-9B50-C4C6-A000B785D000}"/>
              </a:ext>
            </a:extLst>
          </p:cNvPr>
          <p:cNvSpPr/>
          <p:nvPr/>
        </p:nvSpPr>
        <p:spPr>
          <a:xfrm>
            <a:off x="6094476" y="1783080"/>
            <a:ext cx="12802" cy="4206240"/>
          </a:xfrm>
          <a:prstGeom prst="rect">
            <a:avLst/>
          </a:prstGeom>
          <a:solidFill>
            <a:srgbClr val="33456E"/>
          </a:solidFill>
          <a:ln/>
        </p:spPr>
      </p:sp>
      <p:sp>
        <p:nvSpPr>
          <p:cNvPr id="21" name="Shape 18">
            <a:extLst>
              <a:ext uri="{FF2B5EF4-FFF2-40B4-BE49-F238E27FC236}">
                <a16:creationId xmlns:a16="http://schemas.microsoft.com/office/drawing/2014/main" id="{E7E6F225-C510-6AC7-7CF2-5F8EA4F544CD}"/>
              </a:ext>
            </a:extLst>
          </p:cNvPr>
          <p:cNvSpPr/>
          <p:nvPr/>
        </p:nvSpPr>
        <p:spPr>
          <a:xfrm>
            <a:off x="0" y="6528816"/>
            <a:ext cx="12188952" cy="329184"/>
          </a:xfrm>
          <a:prstGeom prst="rect">
            <a:avLst/>
          </a:prstGeom>
          <a:solidFill>
            <a:srgbClr val="121D33"/>
          </a:solidFill>
          <a:ln/>
        </p:spPr>
      </p:sp>
      <p:sp>
        <p:nvSpPr>
          <p:cNvPr id="22" name="Text 19">
            <a:extLst>
              <a:ext uri="{FF2B5EF4-FFF2-40B4-BE49-F238E27FC236}">
                <a16:creationId xmlns:a16="http://schemas.microsoft.com/office/drawing/2014/main" id="{24BBD683-EB88-2E94-BFC3-0049D82C49EF}"/>
              </a:ext>
            </a:extLst>
          </p:cNvPr>
          <p:cNvSpPr/>
          <p:nvPr/>
        </p:nvSpPr>
        <p:spPr>
          <a:xfrm>
            <a:off x="502920" y="6528816"/>
            <a:ext cx="9052560" cy="329184"/>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en-US" sz="900" dirty="0"/>
          </a:p>
        </p:txBody>
      </p:sp>
      <p:sp>
        <p:nvSpPr>
          <p:cNvPr id="23" name="Text 20">
            <a:extLst>
              <a:ext uri="{FF2B5EF4-FFF2-40B4-BE49-F238E27FC236}">
                <a16:creationId xmlns:a16="http://schemas.microsoft.com/office/drawing/2014/main" id="{3DAC280F-C452-6229-A2B3-A5A91861DA44}"/>
              </a:ext>
            </a:extLst>
          </p:cNvPr>
          <p:cNvSpPr/>
          <p:nvPr/>
        </p:nvSpPr>
        <p:spPr>
          <a:xfrm>
            <a:off x="10607040" y="6528816"/>
            <a:ext cx="1097280" cy="329184"/>
          </a:xfrm>
          <a:prstGeom prst="rect">
            <a:avLst/>
          </a:prstGeom>
          <a:noFill/>
          <a:ln/>
        </p:spPr>
        <p:txBody>
          <a:bodyPr wrap="square" lIns="0" tIns="0" rIns="0" bIns="0" rtlCol="0" anchor="ctr"/>
          <a:lstStyle/>
          <a:p>
            <a:pPr marL="0" indent="0" algn="r">
              <a:buNone/>
            </a:pPr>
            <a:r>
              <a:rPr lang="en-US" sz="950" b="1" dirty="0">
                <a:solidFill>
                  <a:srgbClr val="C9A227"/>
                </a:solidFill>
                <a:latin typeface="Calibri" pitchFamily="34" charset="0"/>
                <a:ea typeface="Calibri" pitchFamily="34" charset="-122"/>
                <a:cs typeface="Calibri" pitchFamily="34" charset="-120"/>
              </a:rPr>
              <a:t>02 / 17</a:t>
            </a:r>
            <a:endParaRPr lang="en-US" sz="950" dirty="0"/>
          </a:p>
        </p:txBody>
      </p:sp>
    </p:spTree>
    <p:extLst>
      <p:ext uri="{BB962C8B-B14F-4D97-AF65-F5344CB8AC3E}">
        <p14:creationId xmlns:p14="http://schemas.microsoft.com/office/powerpoint/2010/main" val="2922399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566928"/>
          </a:xfrm>
          <a:prstGeom prst="rect">
            <a:avLst/>
          </a:prstGeom>
          <a:noFill/>
          <a:ln/>
        </p:spPr>
        <p:txBody>
          <a:bodyPr wrap="square" lIns="0" tIns="0" rIns="0" bIns="0" rtlCol="0" anchor="t"/>
          <a:lstStyle/>
          <a:p>
            <a:pPr marL="0" indent="0">
              <a:buNone/>
            </a:pPr>
            <a:r>
              <a:rPr lang="pt-BR" sz="2700" b="1" noProof="0" dirty="0">
                <a:solidFill>
                  <a:srgbClr val="1B2A4A"/>
                </a:solidFill>
                <a:latin typeface="Cambria" pitchFamily="34" charset="0"/>
                <a:ea typeface="Cambria" pitchFamily="34" charset="-122"/>
                <a:cs typeface="Cambria" pitchFamily="34" charset="-120"/>
              </a:rPr>
              <a:t>Refatoração: Definição e Escopo</a:t>
            </a:r>
            <a:endParaRPr lang="pt-BR" sz="2700" noProof="0" dirty="0"/>
          </a:p>
        </p:txBody>
      </p:sp>
      <p:sp>
        <p:nvSpPr>
          <p:cNvPr id="3" name="Text 1"/>
          <p:cNvSpPr/>
          <p:nvPr/>
        </p:nvSpPr>
        <p:spPr>
          <a:xfrm>
            <a:off x="502920" y="914400"/>
            <a:ext cx="11155680" cy="548640"/>
          </a:xfrm>
          <a:prstGeom prst="rect">
            <a:avLst/>
          </a:prstGeom>
          <a:noFill/>
          <a:ln/>
        </p:spPr>
        <p:txBody>
          <a:bodyPr wrap="square" lIns="0" tIns="0" rIns="0" bIns="0" rtlCol="0" anchor="ctr"/>
          <a:lstStyle/>
          <a:p>
            <a:pPr marL="0" indent="0">
              <a:lnSpc>
                <a:spcPct val="110000"/>
              </a:lnSpc>
              <a:buNone/>
            </a:pPr>
            <a:r>
              <a:rPr lang="pt-BR" sz="1350" b="1" noProof="0" dirty="0">
                <a:solidFill>
                  <a:srgbClr val="1B2A4A"/>
                </a:solidFill>
                <a:latin typeface="Calibri" pitchFamily="34" charset="0"/>
                <a:ea typeface="Calibri" pitchFamily="34" charset="-122"/>
                <a:cs typeface="Calibri" pitchFamily="34" charset="-120"/>
              </a:rPr>
              <a:t>Refatoração é uma transformação </a:t>
            </a:r>
            <a:r>
              <a:rPr lang="pt-BR" sz="1600" b="1" noProof="0" dirty="0">
                <a:solidFill>
                  <a:srgbClr val="1B2A4A"/>
                </a:solidFill>
                <a:latin typeface="Calibri" pitchFamily="34" charset="0"/>
                <a:ea typeface="Calibri" pitchFamily="34" charset="-122"/>
                <a:cs typeface="Calibri" pitchFamily="34" charset="-120"/>
              </a:rPr>
              <a:t>controlada</a:t>
            </a:r>
            <a:r>
              <a:rPr lang="pt-BR" sz="1350" b="1" noProof="0" dirty="0">
                <a:solidFill>
                  <a:srgbClr val="1B2A4A"/>
                </a:solidFill>
                <a:latin typeface="Calibri" pitchFamily="34" charset="0"/>
                <a:ea typeface="Calibri" pitchFamily="34" charset="-122"/>
                <a:cs typeface="Calibri" pitchFamily="34" charset="-120"/>
              </a:rPr>
              <a:t> da estrutura interna do código que preserva seu comportamento observável.</a:t>
            </a:r>
            <a:endParaRPr lang="pt-BR" sz="1350" noProof="0" dirty="0"/>
          </a:p>
        </p:txBody>
      </p:sp>
      <p:sp>
        <p:nvSpPr>
          <p:cNvPr id="4" name="Shape 2"/>
          <p:cNvSpPr/>
          <p:nvPr/>
        </p:nvSpPr>
        <p:spPr>
          <a:xfrm>
            <a:off x="502920" y="1668780"/>
            <a:ext cx="118872" cy="118872"/>
          </a:xfrm>
          <a:prstGeom prst="rect">
            <a:avLst/>
          </a:prstGeom>
          <a:solidFill>
            <a:srgbClr val="C9A227"/>
          </a:solidFill>
          <a:ln/>
        </p:spPr>
        <p:txBody>
          <a:bodyPr/>
          <a:lstStyle/>
          <a:p>
            <a:endParaRPr lang="pt-BR" noProof="0" dirty="0"/>
          </a:p>
        </p:txBody>
      </p:sp>
      <p:sp>
        <p:nvSpPr>
          <p:cNvPr id="5" name="Text 3"/>
          <p:cNvSpPr/>
          <p:nvPr/>
        </p:nvSpPr>
        <p:spPr>
          <a:xfrm>
            <a:off x="722376" y="1600200"/>
            <a:ext cx="3392424" cy="256032"/>
          </a:xfrm>
          <a:prstGeom prst="rect">
            <a:avLst/>
          </a:prstGeom>
          <a:noFill/>
          <a:ln/>
        </p:spPr>
        <p:txBody>
          <a:bodyPr wrap="square" lIns="0" tIns="0" rIns="0" bIns="0" rtlCol="0" anchor="ctr"/>
          <a:lstStyle/>
          <a:p>
            <a:pPr marL="0" indent="0">
              <a:buNone/>
            </a:pPr>
            <a:r>
              <a:rPr lang="pt-BR" sz="1600" b="1" kern="0" spc="50" noProof="0" dirty="0">
                <a:solidFill>
                  <a:srgbClr val="1B2A4A"/>
                </a:solidFill>
                <a:latin typeface="Calibri" pitchFamily="34" charset="0"/>
                <a:ea typeface="Calibri" pitchFamily="34" charset="-122"/>
                <a:cs typeface="Calibri" pitchFamily="34" charset="-120"/>
              </a:rPr>
              <a:t>COMPORTAMENTO EXTERNO</a:t>
            </a:r>
            <a:endParaRPr lang="pt-BR" sz="1600" noProof="0" dirty="0"/>
          </a:p>
        </p:txBody>
      </p:sp>
      <p:sp>
        <p:nvSpPr>
          <p:cNvPr id="6" name="Text 4"/>
          <p:cNvSpPr/>
          <p:nvPr/>
        </p:nvSpPr>
        <p:spPr>
          <a:xfrm>
            <a:off x="502920" y="1965960"/>
            <a:ext cx="3611880" cy="1554480"/>
          </a:xfrm>
          <a:prstGeom prst="rect">
            <a:avLst/>
          </a:prstGeom>
          <a:noFill/>
          <a:ln/>
        </p:spPr>
        <p:txBody>
          <a:bodyPr wrap="square" lIns="0" tIns="0" rIns="0" bIns="0" rtlCol="0" anchor="t"/>
          <a:lstStyle/>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Entradas aceitas</a:t>
            </a:r>
            <a:endParaRPr lang="pt-BR" sz="1400" noProof="0" dirty="0"/>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Resultados produzidos</a:t>
            </a:r>
            <a:endParaRPr lang="pt-BR" sz="1400" noProof="0" dirty="0"/>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Mensagens observáveis</a:t>
            </a:r>
            <a:endParaRPr lang="pt-BR" sz="1400" noProof="0" dirty="0"/>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Efeitos esperados</a:t>
            </a:r>
            <a:endParaRPr lang="pt-BR" sz="1400" noProof="0" dirty="0"/>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Contratos públicos</a:t>
            </a:r>
            <a:endParaRPr lang="pt-BR" sz="1400" noProof="0" dirty="0"/>
          </a:p>
        </p:txBody>
      </p:sp>
      <p:sp>
        <p:nvSpPr>
          <p:cNvPr id="7" name="Shape 5"/>
          <p:cNvSpPr/>
          <p:nvPr/>
        </p:nvSpPr>
        <p:spPr>
          <a:xfrm>
            <a:off x="4297680" y="1668780"/>
            <a:ext cx="118872" cy="118872"/>
          </a:xfrm>
          <a:prstGeom prst="rect">
            <a:avLst/>
          </a:prstGeom>
          <a:solidFill>
            <a:srgbClr val="C9A227"/>
          </a:solidFill>
          <a:ln/>
        </p:spPr>
        <p:txBody>
          <a:bodyPr/>
          <a:lstStyle/>
          <a:p>
            <a:endParaRPr lang="pt-BR" noProof="0" dirty="0"/>
          </a:p>
        </p:txBody>
      </p:sp>
      <p:sp>
        <p:nvSpPr>
          <p:cNvPr id="8" name="Text 6"/>
          <p:cNvSpPr/>
          <p:nvPr/>
        </p:nvSpPr>
        <p:spPr>
          <a:xfrm>
            <a:off x="4517136" y="1600200"/>
            <a:ext cx="3392424" cy="256032"/>
          </a:xfrm>
          <a:prstGeom prst="rect">
            <a:avLst/>
          </a:prstGeom>
          <a:noFill/>
          <a:ln/>
        </p:spPr>
        <p:txBody>
          <a:bodyPr wrap="square" lIns="0" tIns="0" rIns="0" bIns="0" rtlCol="0" anchor="ctr"/>
          <a:lstStyle/>
          <a:p>
            <a:r>
              <a:rPr lang="pt-BR" sz="1600" b="1" kern="0" spc="50" noProof="0" dirty="0">
                <a:solidFill>
                  <a:srgbClr val="1B2A4A"/>
                </a:solidFill>
                <a:latin typeface="Calibri" pitchFamily="34" charset="0"/>
                <a:ea typeface="Calibri" pitchFamily="34" charset="-122"/>
                <a:cs typeface="Calibri" pitchFamily="34" charset="-120"/>
              </a:rPr>
              <a:t>ESTRUTURA INTERNA</a:t>
            </a:r>
          </a:p>
        </p:txBody>
      </p:sp>
      <p:sp>
        <p:nvSpPr>
          <p:cNvPr id="9" name="Text 7"/>
          <p:cNvSpPr/>
          <p:nvPr/>
        </p:nvSpPr>
        <p:spPr>
          <a:xfrm>
            <a:off x="4297680" y="1965960"/>
            <a:ext cx="3611880" cy="1554480"/>
          </a:xfrm>
          <a:prstGeom prst="rect">
            <a:avLst/>
          </a:prstGeom>
          <a:noFill/>
          <a:ln/>
        </p:spPr>
        <p:txBody>
          <a:bodyPr wrap="square" lIns="0" tIns="0" rIns="0" bIns="0" rtlCol="0" anchor="t"/>
          <a:lstStyle/>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Nomes</a:t>
            </a:r>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Funções</a:t>
            </a:r>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Responsabilidades</a:t>
            </a:r>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Dependências</a:t>
            </a:r>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Organização das regras</a:t>
            </a:r>
          </a:p>
        </p:txBody>
      </p:sp>
      <p:sp>
        <p:nvSpPr>
          <p:cNvPr id="10" name="Shape 8"/>
          <p:cNvSpPr/>
          <p:nvPr/>
        </p:nvSpPr>
        <p:spPr>
          <a:xfrm>
            <a:off x="8092440" y="1668780"/>
            <a:ext cx="118872" cy="118872"/>
          </a:xfrm>
          <a:prstGeom prst="rect">
            <a:avLst/>
          </a:prstGeom>
          <a:solidFill>
            <a:srgbClr val="C9A227"/>
          </a:solidFill>
          <a:ln/>
        </p:spPr>
        <p:txBody>
          <a:bodyPr/>
          <a:lstStyle/>
          <a:p>
            <a:endParaRPr lang="pt-BR" noProof="0" dirty="0"/>
          </a:p>
        </p:txBody>
      </p:sp>
      <p:sp>
        <p:nvSpPr>
          <p:cNvPr id="11" name="Text 9"/>
          <p:cNvSpPr/>
          <p:nvPr/>
        </p:nvSpPr>
        <p:spPr>
          <a:xfrm>
            <a:off x="8311896" y="1600200"/>
            <a:ext cx="3392424" cy="256032"/>
          </a:xfrm>
          <a:prstGeom prst="rect">
            <a:avLst/>
          </a:prstGeom>
          <a:noFill/>
          <a:ln/>
        </p:spPr>
        <p:txBody>
          <a:bodyPr wrap="square" lIns="0" tIns="0" rIns="0" bIns="0" rtlCol="0" anchor="ctr"/>
          <a:lstStyle/>
          <a:p>
            <a:pPr marL="0" indent="0">
              <a:buNone/>
            </a:pPr>
            <a:r>
              <a:rPr lang="pt-BR" sz="1600" b="1" kern="0" spc="50" noProof="0" dirty="0">
                <a:solidFill>
                  <a:srgbClr val="1B2A4A"/>
                </a:solidFill>
                <a:latin typeface="Calibri" pitchFamily="34" charset="0"/>
                <a:ea typeface="Calibri" pitchFamily="34" charset="-122"/>
                <a:cs typeface="Calibri" pitchFamily="34" charset="-120"/>
              </a:rPr>
              <a:t>REFATORAÇÃO NÃO É</a:t>
            </a:r>
          </a:p>
        </p:txBody>
      </p:sp>
      <p:sp>
        <p:nvSpPr>
          <p:cNvPr id="12" name="Text 10"/>
          <p:cNvSpPr/>
          <p:nvPr/>
        </p:nvSpPr>
        <p:spPr>
          <a:xfrm>
            <a:off x="8092440" y="1965960"/>
            <a:ext cx="3611880" cy="1737360"/>
          </a:xfrm>
          <a:prstGeom prst="rect">
            <a:avLst/>
          </a:prstGeom>
          <a:noFill/>
          <a:ln/>
        </p:spPr>
        <p:txBody>
          <a:bodyPr wrap="square" lIns="0" tIns="0" rIns="0" bIns="0" rtlCol="0" anchor="t"/>
          <a:lstStyle/>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Reescrita completa</a:t>
            </a:r>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Inclusão de funcionalidade</a:t>
            </a:r>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Alteração intencional de regra</a:t>
            </a:r>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Correção de requisito</a:t>
            </a:r>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Aplicação automática de padrões</a:t>
            </a:r>
          </a:p>
          <a:p>
            <a:pPr marL="177800" indent="-177800">
              <a:lnSpc>
                <a:spcPct val="106000"/>
              </a:lnSpc>
              <a:spcAft>
                <a:spcPts val="500"/>
              </a:spcAft>
              <a:buSzPct val="100000"/>
              <a:buChar char="▪"/>
            </a:pPr>
            <a:r>
              <a:rPr lang="pt-BR" sz="1400" noProof="0" dirty="0">
                <a:solidFill>
                  <a:srgbClr val="2B2B2E"/>
                </a:solidFill>
                <a:latin typeface="Calibri" pitchFamily="34" charset="0"/>
                <a:ea typeface="Calibri" pitchFamily="34" charset="-122"/>
                <a:cs typeface="Calibri" pitchFamily="34" charset="-120"/>
              </a:rPr>
              <a:t>Simples formatação</a:t>
            </a:r>
          </a:p>
        </p:txBody>
      </p:sp>
      <p:sp>
        <p:nvSpPr>
          <p:cNvPr id="13" name="Shape 11"/>
          <p:cNvSpPr/>
          <p:nvPr/>
        </p:nvSpPr>
        <p:spPr>
          <a:xfrm>
            <a:off x="507492" y="3753612"/>
            <a:ext cx="118872" cy="118872"/>
          </a:xfrm>
          <a:prstGeom prst="rect">
            <a:avLst/>
          </a:prstGeom>
          <a:solidFill>
            <a:srgbClr val="C9A227"/>
          </a:solidFill>
          <a:ln/>
        </p:spPr>
        <p:txBody>
          <a:bodyPr/>
          <a:lstStyle/>
          <a:p>
            <a:endParaRPr lang="pt-BR" noProof="0" dirty="0"/>
          </a:p>
        </p:txBody>
      </p:sp>
      <p:sp>
        <p:nvSpPr>
          <p:cNvPr id="14" name="Text 12"/>
          <p:cNvSpPr/>
          <p:nvPr/>
        </p:nvSpPr>
        <p:spPr>
          <a:xfrm>
            <a:off x="726948" y="3685032"/>
            <a:ext cx="5266944" cy="256032"/>
          </a:xfrm>
          <a:prstGeom prst="rect">
            <a:avLst/>
          </a:prstGeom>
          <a:noFill/>
          <a:ln/>
        </p:spPr>
        <p:txBody>
          <a:bodyPr wrap="square" lIns="0" tIns="0" rIns="0" bIns="0" rtlCol="0" anchor="ctr"/>
          <a:lstStyle/>
          <a:p>
            <a:pPr marL="0" indent="0">
              <a:buNone/>
            </a:pPr>
            <a:r>
              <a:rPr lang="pt-BR" sz="1600" b="1" kern="0" spc="50" noProof="0" dirty="0">
                <a:solidFill>
                  <a:srgbClr val="1B2A4A"/>
                </a:solidFill>
                <a:latin typeface="Calibri" pitchFamily="34" charset="0"/>
                <a:ea typeface="Calibri" pitchFamily="34" charset="-122"/>
                <a:cs typeface="Calibri" pitchFamily="34" charset="-120"/>
              </a:rPr>
              <a:t>EXEMPLO VISUAL</a:t>
            </a:r>
          </a:p>
        </p:txBody>
      </p:sp>
      <p:sp>
        <p:nvSpPr>
          <p:cNvPr id="23" name="Text 21"/>
          <p:cNvSpPr/>
          <p:nvPr/>
        </p:nvSpPr>
        <p:spPr>
          <a:xfrm>
            <a:off x="502920" y="5623560"/>
            <a:ext cx="5760720" cy="640080"/>
          </a:xfrm>
          <a:prstGeom prst="rect">
            <a:avLst/>
          </a:prstGeom>
          <a:noFill/>
          <a:ln/>
        </p:spPr>
        <p:txBody>
          <a:bodyPr wrap="square" lIns="0" tIns="0" rIns="0" bIns="0" rtlCol="0" anchor="ctr"/>
          <a:lstStyle/>
          <a:p>
            <a:pPr marL="0" indent="0">
              <a:lnSpc>
                <a:spcPct val="110000"/>
              </a:lnSpc>
              <a:buNone/>
            </a:pPr>
            <a:r>
              <a:rPr lang="pt-BR" sz="1200" i="1" noProof="0" dirty="0">
                <a:solidFill>
                  <a:srgbClr val="6B7280"/>
                </a:solidFill>
                <a:latin typeface="Calibri" pitchFamily="34" charset="0"/>
                <a:ea typeface="Calibri" pitchFamily="34" charset="-122"/>
                <a:cs typeface="Calibri" pitchFamily="34" charset="-120"/>
              </a:rPr>
              <a:t>As duas estruturas podem produzir o mesmo resultado, mas exigir esforços diferentes de compreensão e manutenção.</a:t>
            </a:r>
            <a:endParaRPr lang="pt-BR" sz="1200" noProof="0" dirty="0"/>
          </a:p>
        </p:txBody>
      </p:sp>
      <p:sp>
        <p:nvSpPr>
          <p:cNvPr id="24" name="Shape 22"/>
          <p:cNvSpPr/>
          <p:nvPr/>
        </p:nvSpPr>
        <p:spPr>
          <a:xfrm>
            <a:off x="6492240" y="3977640"/>
            <a:ext cx="5212080" cy="1280160"/>
          </a:xfrm>
          <a:prstGeom prst="roundRect">
            <a:avLst>
              <a:gd name="adj" fmla="val 3571"/>
            </a:avLst>
          </a:prstGeom>
          <a:solidFill>
            <a:srgbClr val="FFFFFF"/>
          </a:solidFill>
          <a:ln w="13970">
            <a:solidFill>
              <a:srgbClr val="1B2A4A"/>
            </a:solidFill>
            <a:prstDash val="solid"/>
          </a:ln>
        </p:spPr>
        <p:txBody>
          <a:bodyPr/>
          <a:lstStyle/>
          <a:p>
            <a:endParaRPr lang="pt-BR" noProof="0" dirty="0"/>
          </a:p>
        </p:txBody>
      </p:sp>
      <p:sp>
        <p:nvSpPr>
          <p:cNvPr id="25" name="Shape 23"/>
          <p:cNvSpPr/>
          <p:nvPr/>
        </p:nvSpPr>
        <p:spPr>
          <a:xfrm>
            <a:off x="6656832" y="4137660"/>
            <a:ext cx="118872" cy="118872"/>
          </a:xfrm>
          <a:prstGeom prst="rect">
            <a:avLst/>
          </a:prstGeom>
          <a:solidFill>
            <a:srgbClr val="C9A227"/>
          </a:solidFill>
          <a:ln/>
        </p:spPr>
        <p:txBody>
          <a:bodyPr/>
          <a:lstStyle/>
          <a:p>
            <a:endParaRPr lang="pt-BR" noProof="0" dirty="0"/>
          </a:p>
        </p:txBody>
      </p:sp>
      <p:sp>
        <p:nvSpPr>
          <p:cNvPr id="26" name="Text 24"/>
          <p:cNvSpPr/>
          <p:nvPr/>
        </p:nvSpPr>
        <p:spPr>
          <a:xfrm>
            <a:off x="6876288" y="4069080"/>
            <a:ext cx="4663440"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PERGUNTAS PARA ANÁLISE</a:t>
            </a:r>
            <a:endParaRPr lang="pt-BR" sz="1250" noProof="0" dirty="0"/>
          </a:p>
        </p:txBody>
      </p:sp>
      <p:sp>
        <p:nvSpPr>
          <p:cNvPr id="27" name="Text 25"/>
          <p:cNvSpPr/>
          <p:nvPr/>
        </p:nvSpPr>
        <p:spPr>
          <a:xfrm>
            <a:off x="6656832" y="4416552"/>
            <a:ext cx="4882896" cy="731520"/>
          </a:xfrm>
          <a:prstGeom prst="rect">
            <a:avLst/>
          </a:prstGeom>
          <a:noFill/>
          <a:ln/>
        </p:spPr>
        <p:txBody>
          <a:bodyPr wrap="square" lIns="0" tIns="0" rIns="0" bIns="0" rtlCol="0" anchor="t"/>
          <a:lstStyle/>
          <a:p>
            <a:pPr marL="177800" indent="-177800">
              <a:lnSpc>
                <a:spcPct val="106000"/>
              </a:lnSpc>
              <a:spcAft>
                <a:spcPts val="400"/>
              </a:spcAft>
              <a:buSzPct val="100000"/>
              <a:buChar char="▪"/>
            </a:pPr>
            <a:r>
              <a:rPr lang="pt-BR" sz="1550" i="1" noProof="0" dirty="0">
                <a:solidFill>
                  <a:srgbClr val="1B2A4A"/>
                </a:solidFill>
                <a:latin typeface="Calibri" pitchFamily="34" charset="0"/>
                <a:ea typeface="Calibri" pitchFamily="34" charset="-122"/>
                <a:cs typeface="Calibri" pitchFamily="34" charset="-120"/>
              </a:rPr>
              <a:t>O que precisa permanecer igual para que uma mudança seja considerada refatoração?</a:t>
            </a:r>
            <a:endParaRPr lang="pt-BR" sz="1550" noProof="0" dirty="0"/>
          </a:p>
        </p:txBody>
      </p:sp>
      <p:sp>
        <p:nvSpPr>
          <p:cNvPr id="28" name="Text 26"/>
          <p:cNvSpPr/>
          <p:nvPr/>
        </p:nvSpPr>
        <p:spPr>
          <a:xfrm>
            <a:off x="6720840" y="5440680"/>
            <a:ext cx="4754880" cy="822960"/>
          </a:xfrm>
          <a:prstGeom prst="rect">
            <a:avLst/>
          </a:prstGeom>
          <a:noFill/>
          <a:ln/>
        </p:spPr>
        <p:txBody>
          <a:bodyPr wrap="square" lIns="0" tIns="0" rIns="0" bIns="0" rtlCol="0" anchor="ctr"/>
          <a:lstStyle/>
          <a:p>
            <a:pPr marL="0" indent="0">
              <a:lnSpc>
                <a:spcPct val="115000"/>
              </a:lnSpc>
              <a:buNone/>
            </a:pPr>
            <a:r>
              <a:rPr lang="pt-BR" sz="1200" i="1" noProof="0" dirty="0">
                <a:solidFill>
                  <a:srgbClr val="6B7280"/>
                </a:solidFill>
                <a:latin typeface="Calibri" pitchFamily="34" charset="0"/>
                <a:ea typeface="Calibri" pitchFamily="34" charset="-122"/>
                <a:cs typeface="Calibri" pitchFamily="34" charset="-120"/>
              </a:rPr>
              <a:t>É essa pergunta que separa, na prática, uma refatoração de qualquer outra alteração de código: se a resposta envolve entradas, saídas, mensagens ou contratos públicos diferentes, não é mais refatoração.</a:t>
            </a:r>
            <a:endParaRPr lang="pt-BR" sz="1200" noProof="0" dirty="0"/>
          </a:p>
        </p:txBody>
      </p:sp>
      <p:sp>
        <p:nvSpPr>
          <p:cNvPr id="29" name="Shape 27"/>
          <p:cNvSpPr/>
          <p:nvPr/>
        </p:nvSpPr>
        <p:spPr>
          <a:xfrm>
            <a:off x="0" y="6528816"/>
            <a:ext cx="12188952" cy="329184"/>
          </a:xfrm>
          <a:prstGeom prst="rect">
            <a:avLst/>
          </a:prstGeom>
          <a:solidFill>
            <a:srgbClr val="1B2A4A"/>
          </a:solidFill>
          <a:ln/>
        </p:spPr>
        <p:txBody>
          <a:bodyPr/>
          <a:lstStyle/>
          <a:p>
            <a:endParaRPr lang="pt-BR" noProof="0" dirty="0"/>
          </a:p>
        </p:txBody>
      </p:sp>
      <p:sp>
        <p:nvSpPr>
          <p:cNvPr id="30" name="Text 28"/>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31" name="Text 29"/>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03 / 13</a:t>
            </a:r>
            <a:endParaRPr lang="pt-BR" sz="950" noProof="0" dirty="0"/>
          </a:p>
        </p:txBody>
      </p:sp>
      <p:pic>
        <p:nvPicPr>
          <p:cNvPr id="33" name="Imagem 32">
            <a:extLst>
              <a:ext uri="{FF2B5EF4-FFF2-40B4-BE49-F238E27FC236}">
                <a16:creationId xmlns:a16="http://schemas.microsoft.com/office/drawing/2014/main" id="{5E0DB53D-787A-E9E0-6C2A-292052E70258}"/>
              </a:ext>
            </a:extLst>
          </p:cNvPr>
          <p:cNvPicPr>
            <a:picLocks noChangeAspect="1"/>
          </p:cNvPicPr>
          <p:nvPr/>
        </p:nvPicPr>
        <p:blipFill>
          <a:blip r:embed="rId3"/>
          <a:stretch>
            <a:fillRect/>
          </a:stretch>
        </p:blipFill>
        <p:spPr>
          <a:xfrm>
            <a:off x="928116" y="4074499"/>
            <a:ext cx="3493008" cy="12731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566928"/>
          </a:xfrm>
          <a:prstGeom prst="rect">
            <a:avLst/>
          </a:prstGeom>
          <a:noFill/>
          <a:ln/>
        </p:spPr>
        <p:txBody>
          <a:bodyPr wrap="square" lIns="0" tIns="0" rIns="0" bIns="0" rtlCol="0" anchor="t"/>
          <a:lstStyle/>
          <a:p>
            <a:pPr marL="0" indent="0">
              <a:buNone/>
            </a:pPr>
            <a:r>
              <a:rPr lang="pt-BR" sz="2700" b="1" noProof="0" dirty="0">
                <a:solidFill>
                  <a:srgbClr val="1B2A4A"/>
                </a:solidFill>
                <a:latin typeface="Cambria" pitchFamily="34" charset="0"/>
                <a:ea typeface="Cambria" pitchFamily="34" charset="-122"/>
                <a:cs typeface="Cambria" pitchFamily="34" charset="-120"/>
              </a:rPr>
              <a:t>Refatoração: Ciclo Seguro e Exemplo</a:t>
            </a:r>
            <a:endParaRPr lang="pt-BR" sz="2700" noProof="0" dirty="0"/>
          </a:p>
        </p:txBody>
      </p:sp>
      <p:sp>
        <p:nvSpPr>
          <p:cNvPr id="3" name="Shape 1"/>
          <p:cNvSpPr/>
          <p:nvPr/>
        </p:nvSpPr>
        <p:spPr>
          <a:xfrm>
            <a:off x="502920" y="955548"/>
            <a:ext cx="118872" cy="118872"/>
          </a:xfrm>
          <a:prstGeom prst="rect">
            <a:avLst/>
          </a:prstGeom>
          <a:solidFill>
            <a:srgbClr val="C9A227"/>
          </a:solidFill>
          <a:ln/>
        </p:spPr>
        <p:txBody>
          <a:bodyPr/>
          <a:lstStyle/>
          <a:p>
            <a:endParaRPr lang="pt-BR" noProof="0" dirty="0"/>
          </a:p>
        </p:txBody>
      </p:sp>
      <p:sp>
        <p:nvSpPr>
          <p:cNvPr id="4" name="Text 2"/>
          <p:cNvSpPr/>
          <p:nvPr/>
        </p:nvSpPr>
        <p:spPr>
          <a:xfrm>
            <a:off x="722376" y="886968"/>
            <a:ext cx="709574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CICLO SEGURO DE REFATORAÇÃO</a:t>
            </a:r>
            <a:endParaRPr lang="pt-BR" sz="1250" noProof="0" dirty="0"/>
          </a:p>
        </p:txBody>
      </p:sp>
      <p:sp>
        <p:nvSpPr>
          <p:cNvPr id="22" name="Text 20"/>
          <p:cNvSpPr/>
          <p:nvPr/>
        </p:nvSpPr>
        <p:spPr>
          <a:xfrm>
            <a:off x="502920" y="2011680"/>
            <a:ext cx="11201400" cy="274320"/>
          </a:xfrm>
          <a:prstGeom prst="rect">
            <a:avLst/>
          </a:prstGeom>
          <a:noFill/>
          <a:ln/>
        </p:spPr>
        <p:txBody>
          <a:bodyPr wrap="square" lIns="0" tIns="0" rIns="0" bIns="0" rtlCol="0" anchor="ctr"/>
          <a:lstStyle/>
          <a:p>
            <a:pPr marL="0" indent="0">
              <a:buNone/>
            </a:pPr>
            <a:r>
              <a:rPr lang="pt-BR" sz="950" i="1" noProof="0" dirty="0">
                <a:solidFill>
                  <a:srgbClr val="6B7280"/>
                </a:solidFill>
                <a:latin typeface="Calibri" pitchFamily="34" charset="0"/>
                <a:ea typeface="Calibri" pitchFamily="34" charset="-122"/>
                <a:cs typeface="Calibri" pitchFamily="34" charset="-120"/>
              </a:rPr>
              <a:t>                                                                                                                                                                         ↺  O ciclo retorna</a:t>
            </a:r>
            <a:endParaRPr lang="pt-BR" sz="950" noProof="0" dirty="0"/>
          </a:p>
        </p:txBody>
      </p:sp>
      <p:sp>
        <p:nvSpPr>
          <p:cNvPr id="23" name="Shape 21"/>
          <p:cNvSpPr/>
          <p:nvPr/>
        </p:nvSpPr>
        <p:spPr>
          <a:xfrm>
            <a:off x="502920" y="2436876"/>
            <a:ext cx="118872" cy="118872"/>
          </a:xfrm>
          <a:prstGeom prst="rect">
            <a:avLst/>
          </a:prstGeom>
          <a:solidFill>
            <a:srgbClr val="C9A227"/>
          </a:solidFill>
          <a:ln/>
        </p:spPr>
        <p:txBody>
          <a:bodyPr/>
          <a:lstStyle/>
          <a:p>
            <a:endParaRPr lang="pt-BR" noProof="0" dirty="0"/>
          </a:p>
        </p:txBody>
      </p:sp>
      <p:sp>
        <p:nvSpPr>
          <p:cNvPr id="24" name="Text 22"/>
          <p:cNvSpPr/>
          <p:nvPr/>
        </p:nvSpPr>
        <p:spPr>
          <a:xfrm>
            <a:off x="722376" y="2368296"/>
            <a:ext cx="7095744" cy="256032"/>
          </a:xfrm>
          <a:prstGeom prst="rect">
            <a:avLst/>
          </a:prstGeom>
          <a:noFill/>
          <a:ln/>
        </p:spPr>
        <p:txBody>
          <a:bodyPr wrap="square" lIns="0" tIns="0" rIns="0" bIns="0" rtlCol="0" anchor="ctr"/>
          <a:lstStyle/>
          <a:p>
            <a:pPr marL="0" indent="0">
              <a:buNone/>
            </a:pPr>
            <a:r>
              <a:rPr lang="pt-BR" sz="1600" b="1" kern="0" spc="50" noProof="0" dirty="0">
                <a:solidFill>
                  <a:srgbClr val="1B2A4A"/>
                </a:solidFill>
                <a:latin typeface="Calibri" pitchFamily="34" charset="0"/>
                <a:ea typeface="Calibri" pitchFamily="34" charset="-122"/>
                <a:cs typeface="Calibri" pitchFamily="34" charset="-120"/>
              </a:rPr>
              <a:t>OS DOIS CHAPÉUS DE FOWLER</a:t>
            </a:r>
            <a:endParaRPr lang="pt-BR" sz="1600" noProof="0" dirty="0"/>
          </a:p>
        </p:txBody>
      </p:sp>
      <p:sp>
        <p:nvSpPr>
          <p:cNvPr id="25" name="Shape 23"/>
          <p:cNvSpPr/>
          <p:nvPr/>
        </p:nvSpPr>
        <p:spPr>
          <a:xfrm>
            <a:off x="502920" y="2724912"/>
            <a:ext cx="5440680" cy="1174666"/>
          </a:xfrm>
          <a:prstGeom prst="roundRect">
            <a:avLst>
              <a:gd name="adj" fmla="val 3521"/>
            </a:avLst>
          </a:prstGeom>
          <a:solidFill>
            <a:srgbClr val="FFFFFF"/>
          </a:solidFill>
          <a:ln w="12700">
            <a:solidFill>
              <a:srgbClr val="C9CDD6"/>
            </a:solidFill>
            <a:prstDash val="solid"/>
          </a:ln>
        </p:spPr>
        <p:txBody>
          <a:bodyPr/>
          <a:lstStyle/>
          <a:p>
            <a:endParaRPr lang="pt-BR" noProof="0" dirty="0"/>
          </a:p>
        </p:txBody>
      </p:sp>
      <p:sp>
        <p:nvSpPr>
          <p:cNvPr id="26" name="Text 24"/>
          <p:cNvSpPr/>
          <p:nvPr/>
        </p:nvSpPr>
        <p:spPr>
          <a:xfrm>
            <a:off x="685800" y="2798064"/>
            <a:ext cx="5074920" cy="274320"/>
          </a:xfrm>
          <a:prstGeom prst="rect">
            <a:avLst/>
          </a:prstGeom>
          <a:noFill/>
          <a:ln/>
        </p:spPr>
        <p:txBody>
          <a:bodyPr wrap="square" lIns="0" tIns="0" rIns="0" bIns="0" rtlCol="0" anchor="ctr"/>
          <a:lstStyle/>
          <a:p>
            <a:pPr marL="0" indent="0">
              <a:buNone/>
            </a:pPr>
            <a:r>
              <a:rPr lang="pt-BR" sz="1200" b="1" noProof="0" dirty="0">
                <a:solidFill>
                  <a:srgbClr val="1B2A4A"/>
                </a:solidFill>
                <a:latin typeface="Calibri" pitchFamily="34" charset="0"/>
                <a:ea typeface="Calibri" pitchFamily="34" charset="-122"/>
                <a:cs typeface="Calibri" pitchFamily="34" charset="-120"/>
              </a:rPr>
              <a:t>Adicionar funcionalidade</a:t>
            </a:r>
            <a:endParaRPr lang="pt-BR" sz="1200" noProof="0" dirty="0"/>
          </a:p>
        </p:txBody>
      </p:sp>
      <p:sp>
        <p:nvSpPr>
          <p:cNvPr id="27" name="Text 25"/>
          <p:cNvSpPr/>
          <p:nvPr/>
        </p:nvSpPr>
        <p:spPr>
          <a:xfrm>
            <a:off x="685800" y="3090672"/>
            <a:ext cx="5074920" cy="914400"/>
          </a:xfrm>
          <a:prstGeom prst="rect">
            <a:avLst/>
          </a:prstGeom>
          <a:noFill/>
          <a:ln/>
        </p:spPr>
        <p:txBody>
          <a:bodyPr wrap="square" lIns="0" tIns="0" rIns="0" bIns="0" rtlCol="0" anchor="t"/>
          <a:lstStyle/>
          <a:p>
            <a:pPr marL="177800" indent="-177800">
              <a:lnSpc>
                <a:spcPct val="106000"/>
              </a:lnSpc>
              <a:spcAft>
                <a:spcPts val="300"/>
              </a:spcAft>
              <a:buSzPct val="100000"/>
              <a:buChar char="▪"/>
            </a:pPr>
            <a:r>
              <a:rPr lang="pt-BR" sz="1400" noProof="0" dirty="0">
                <a:solidFill>
                  <a:srgbClr val="2B2B2E"/>
                </a:solidFill>
                <a:latin typeface="Calibri" pitchFamily="34" charset="0"/>
                <a:ea typeface="Calibri" pitchFamily="34" charset="-122"/>
                <a:cs typeface="Calibri" pitchFamily="34" charset="-120"/>
              </a:rPr>
              <a:t>Modificar comportamento</a:t>
            </a:r>
            <a:endParaRPr lang="pt-BR" sz="1400" noProof="0" dirty="0"/>
          </a:p>
          <a:p>
            <a:pPr marL="177800" indent="-177800">
              <a:lnSpc>
                <a:spcPct val="106000"/>
              </a:lnSpc>
              <a:spcAft>
                <a:spcPts val="300"/>
              </a:spcAft>
              <a:buSzPct val="100000"/>
              <a:buChar char="▪"/>
            </a:pPr>
            <a:r>
              <a:rPr lang="pt-BR" sz="1400" noProof="0" dirty="0">
                <a:solidFill>
                  <a:srgbClr val="2B2B2E"/>
                </a:solidFill>
                <a:latin typeface="Calibri" pitchFamily="34" charset="0"/>
                <a:ea typeface="Calibri" pitchFamily="34" charset="-122"/>
                <a:cs typeface="Calibri" pitchFamily="34" charset="-120"/>
              </a:rPr>
              <a:t>Criar ou alterar requisitos</a:t>
            </a:r>
            <a:endParaRPr lang="pt-BR" sz="1400" noProof="0" dirty="0"/>
          </a:p>
          <a:p>
            <a:pPr marL="177800" indent="-177800">
              <a:lnSpc>
                <a:spcPct val="106000"/>
              </a:lnSpc>
              <a:spcAft>
                <a:spcPts val="300"/>
              </a:spcAft>
              <a:buSzPct val="100000"/>
              <a:buChar char="▪"/>
            </a:pPr>
            <a:r>
              <a:rPr lang="pt-BR" sz="1400" noProof="0" dirty="0">
                <a:solidFill>
                  <a:srgbClr val="2B2B2E"/>
                </a:solidFill>
                <a:latin typeface="Calibri" pitchFamily="34" charset="0"/>
                <a:ea typeface="Calibri" pitchFamily="34" charset="-122"/>
                <a:cs typeface="Calibri" pitchFamily="34" charset="-120"/>
              </a:rPr>
              <a:t>Ajustar testes para a novidade</a:t>
            </a:r>
            <a:endParaRPr lang="pt-BR" sz="1400" noProof="0" dirty="0"/>
          </a:p>
        </p:txBody>
      </p:sp>
      <p:sp>
        <p:nvSpPr>
          <p:cNvPr id="28" name="Shape 26"/>
          <p:cNvSpPr/>
          <p:nvPr/>
        </p:nvSpPr>
        <p:spPr>
          <a:xfrm>
            <a:off x="6263640" y="2724912"/>
            <a:ext cx="5440680" cy="1174666"/>
          </a:xfrm>
          <a:prstGeom prst="roundRect">
            <a:avLst>
              <a:gd name="adj" fmla="val 3521"/>
            </a:avLst>
          </a:prstGeom>
          <a:solidFill>
            <a:srgbClr val="FFFFFF"/>
          </a:solidFill>
          <a:ln w="12700">
            <a:solidFill>
              <a:srgbClr val="C9CDD6"/>
            </a:solidFill>
            <a:prstDash val="solid"/>
          </a:ln>
        </p:spPr>
        <p:txBody>
          <a:bodyPr/>
          <a:lstStyle/>
          <a:p>
            <a:endParaRPr lang="pt-BR" noProof="0" dirty="0"/>
          </a:p>
        </p:txBody>
      </p:sp>
      <p:sp>
        <p:nvSpPr>
          <p:cNvPr id="29" name="Text 27"/>
          <p:cNvSpPr/>
          <p:nvPr/>
        </p:nvSpPr>
        <p:spPr>
          <a:xfrm>
            <a:off x="6446520" y="2798064"/>
            <a:ext cx="5074920" cy="274320"/>
          </a:xfrm>
          <a:prstGeom prst="rect">
            <a:avLst/>
          </a:prstGeom>
          <a:noFill/>
          <a:ln/>
        </p:spPr>
        <p:txBody>
          <a:bodyPr wrap="square" lIns="0" tIns="0" rIns="0" bIns="0" rtlCol="0" anchor="ctr"/>
          <a:lstStyle/>
          <a:p>
            <a:pPr marL="0" indent="0">
              <a:buNone/>
            </a:pPr>
            <a:r>
              <a:rPr lang="pt-BR" sz="1200" b="1" noProof="0" dirty="0">
                <a:solidFill>
                  <a:srgbClr val="1B2A4A"/>
                </a:solidFill>
                <a:latin typeface="Calibri" pitchFamily="34" charset="0"/>
                <a:ea typeface="Calibri" pitchFamily="34" charset="-122"/>
                <a:cs typeface="Calibri" pitchFamily="34" charset="-120"/>
              </a:rPr>
              <a:t>Refatorar</a:t>
            </a:r>
            <a:endParaRPr lang="pt-BR" sz="1200" noProof="0" dirty="0"/>
          </a:p>
        </p:txBody>
      </p:sp>
      <p:sp>
        <p:nvSpPr>
          <p:cNvPr id="30" name="Text 28"/>
          <p:cNvSpPr/>
          <p:nvPr/>
        </p:nvSpPr>
        <p:spPr>
          <a:xfrm>
            <a:off x="6446520" y="3090672"/>
            <a:ext cx="5074920" cy="914400"/>
          </a:xfrm>
          <a:prstGeom prst="rect">
            <a:avLst/>
          </a:prstGeom>
          <a:noFill/>
          <a:ln/>
        </p:spPr>
        <p:txBody>
          <a:bodyPr wrap="square" lIns="0" tIns="0" rIns="0" bIns="0" rtlCol="0" anchor="t"/>
          <a:lstStyle/>
          <a:p>
            <a:pPr marL="177800" indent="-177800">
              <a:lnSpc>
                <a:spcPct val="106000"/>
              </a:lnSpc>
              <a:spcAft>
                <a:spcPts val="300"/>
              </a:spcAft>
              <a:buSzPct val="100000"/>
              <a:buChar char="▪"/>
            </a:pPr>
            <a:r>
              <a:rPr lang="pt-BR" sz="1400" noProof="0" dirty="0">
                <a:solidFill>
                  <a:srgbClr val="2B2B2E"/>
                </a:solidFill>
                <a:latin typeface="Calibri" pitchFamily="34" charset="0"/>
                <a:ea typeface="Calibri" pitchFamily="34" charset="-122"/>
                <a:cs typeface="Calibri" pitchFamily="34" charset="-120"/>
              </a:rPr>
              <a:t>Preservar comportamento</a:t>
            </a:r>
          </a:p>
          <a:p>
            <a:pPr marL="177800" indent="-177800">
              <a:lnSpc>
                <a:spcPct val="106000"/>
              </a:lnSpc>
              <a:spcAft>
                <a:spcPts val="300"/>
              </a:spcAft>
              <a:buSzPct val="100000"/>
              <a:buChar char="▪"/>
            </a:pPr>
            <a:r>
              <a:rPr lang="pt-BR" sz="1400" noProof="0" dirty="0">
                <a:solidFill>
                  <a:srgbClr val="2B2B2E"/>
                </a:solidFill>
                <a:latin typeface="Calibri" pitchFamily="34" charset="0"/>
                <a:ea typeface="Calibri" pitchFamily="34" charset="-122"/>
                <a:cs typeface="Calibri" pitchFamily="34" charset="-120"/>
              </a:rPr>
              <a:t>Reorganizar a estrutura</a:t>
            </a:r>
          </a:p>
          <a:p>
            <a:pPr marL="177800" indent="-177800">
              <a:lnSpc>
                <a:spcPct val="106000"/>
              </a:lnSpc>
              <a:spcAft>
                <a:spcPts val="300"/>
              </a:spcAft>
              <a:buSzPct val="100000"/>
              <a:buChar char="▪"/>
            </a:pPr>
            <a:r>
              <a:rPr lang="pt-BR" sz="1400" noProof="0" dirty="0">
                <a:solidFill>
                  <a:srgbClr val="2B2B2E"/>
                </a:solidFill>
                <a:latin typeface="Calibri" pitchFamily="34" charset="0"/>
                <a:ea typeface="Calibri" pitchFamily="34" charset="-122"/>
                <a:cs typeface="Calibri" pitchFamily="34" charset="-120"/>
              </a:rPr>
              <a:t>Manter os testes existentes aprovados</a:t>
            </a:r>
          </a:p>
        </p:txBody>
      </p:sp>
      <p:sp>
        <p:nvSpPr>
          <p:cNvPr id="31" name="Shape 29"/>
          <p:cNvSpPr/>
          <p:nvPr/>
        </p:nvSpPr>
        <p:spPr>
          <a:xfrm>
            <a:off x="502920" y="4110566"/>
            <a:ext cx="118872" cy="118872"/>
          </a:xfrm>
          <a:prstGeom prst="rect">
            <a:avLst/>
          </a:prstGeom>
          <a:solidFill>
            <a:srgbClr val="C9A227"/>
          </a:solidFill>
          <a:ln/>
        </p:spPr>
        <p:txBody>
          <a:bodyPr/>
          <a:lstStyle/>
          <a:p>
            <a:endParaRPr lang="pt-BR" noProof="0" dirty="0"/>
          </a:p>
        </p:txBody>
      </p:sp>
      <p:sp>
        <p:nvSpPr>
          <p:cNvPr id="32" name="Text 30"/>
          <p:cNvSpPr/>
          <p:nvPr/>
        </p:nvSpPr>
        <p:spPr>
          <a:xfrm>
            <a:off x="722376" y="4041986"/>
            <a:ext cx="709574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EXEMPLO VISÍVEL</a:t>
            </a:r>
            <a:endParaRPr lang="pt-BR" sz="1250" noProof="0" dirty="0"/>
          </a:p>
        </p:txBody>
      </p:sp>
      <p:sp>
        <p:nvSpPr>
          <p:cNvPr id="33" name="Text 31"/>
          <p:cNvSpPr/>
          <p:nvPr/>
        </p:nvSpPr>
        <p:spPr>
          <a:xfrm>
            <a:off x="502920" y="4389458"/>
            <a:ext cx="5440680"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Antes</a:t>
            </a:r>
            <a:endParaRPr lang="pt-BR" sz="1100" noProof="0" dirty="0"/>
          </a:p>
        </p:txBody>
      </p:sp>
      <p:sp>
        <p:nvSpPr>
          <p:cNvPr id="34" name="Shape 32"/>
          <p:cNvSpPr/>
          <p:nvPr/>
        </p:nvSpPr>
        <p:spPr>
          <a:xfrm>
            <a:off x="502920" y="4682066"/>
            <a:ext cx="5440680" cy="502920"/>
          </a:xfrm>
          <a:prstGeom prst="roundRect">
            <a:avLst>
              <a:gd name="adj" fmla="val 8182"/>
            </a:avLst>
          </a:prstGeom>
          <a:solidFill>
            <a:srgbClr val="F2F2F3"/>
          </a:solidFill>
          <a:ln w="12700">
            <a:solidFill>
              <a:srgbClr val="D7DAE0"/>
            </a:solidFill>
            <a:prstDash val="solid"/>
          </a:ln>
        </p:spPr>
        <p:txBody>
          <a:bodyPr/>
          <a:lstStyle/>
          <a:p>
            <a:endParaRPr lang="pt-BR" noProof="0" dirty="0"/>
          </a:p>
        </p:txBody>
      </p:sp>
      <p:sp>
        <p:nvSpPr>
          <p:cNvPr id="35" name="Text 33"/>
          <p:cNvSpPr/>
          <p:nvPr/>
        </p:nvSpPr>
        <p:spPr>
          <a:xfrm>
            <a:off x="685800" y="4755218"/>
            <a:ext cx="5074920" cy="356616"/>
          </a:xfrm>
          <a:prstGeom prst="rect">
            <a:avLst/>
          </a:prstGeom>
          <a:noFill/>
          <a:ln/>
        </p:spPr>
        <p:txBody>
          <a:bodyPr wrap="square" lIns="0" tIns="0" rIns="0" bIns="0" rtlCol="0" anchor="ctr"/>
          <a:lstStyle/>
          <a:p>
            <a:pPr marL="0" indent="0">
              <a:lnSpc>
                <a:spcPct val="118000"/>
              </a:lnSpc>
              <a:buNone/>
            </a:pPr>
            <a:r>
              <a:rPr lang="pt-BR" sz="1150" noProof="0" dirty="0" err="1">
                <a:solidFill>
                  <a:srgbClr val="1B2A4A"/>
                </a:solidFill>
                <a:latin typeface="Courier New" pitchFamily="34" charset="0"/>
                <a:ea typeface="Courier New" pitchFamily="34" charset="-122"/>
                <a:cs typeface="Courier New" pitchFamily="34" charset="-120"/>
              </a:rPr>
              <a:t>double</a:t>
            </a:r>
            <a:r>
              <a:rPr lang="pt-BR" sz="1150" noProof="0" dirty="0">
                <a:solidFill>
                  <a:srgbClr val="1B2A4A"/>
                </a:solidFill>
                <a:latin typeface="Courier New" pitchFamily="34" charset="0"/>
                <a:ea typeface="Courier New" pitchFamily="34" charset="-122"/>
                <a:cs typeface="Courier New" pitchFamily="34" charset="-120"/>
              </a:rPr>
              <a:t> total = valor + valor * 0.10;</a:t>
            </a:r>
            <a:endParaRPr lang="pt-BR" sz="1150" noProof="0" dirty="0"/>
          </a:p>
        </p:txBody>
      </p:sp>
      <p:sp>
        <p:nvSpPr>
          <p:cNvPr id="36" name="Text 34"/>
          <p:cNvSpPr/>
          <p:nvPr/>
        </p:nvSpPr>
        <p:spPr>
          <a:xfrm>
            <a:off x="6263640" y="4389458"/>
            <a:ext cx="5440680"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Depois</a:t>
            </a:r>
            <a:endParaRPr lang="pt-BR" sz="1100" noProof="0" dirty="0"/>
          </a:p>
        </p:txBody>
      </p:sp>
      <p:sp>
        <p:nvSpPr>
          <p:cNvPr id="37" name="Shape 35"/>
          <p:cNvSpPr/>
          <p:nvPr/>
        </p:nvSpPr>
        <p:spPr>
          <a:xfrm>
            <a:off x="6263640" y="4682066"/>
            <a:ext cx="5440680" cy="502920"/>
          </a:xfrm>
          <a:prstGeom prst="roundRect">
            <a:avLst>
              <a:gd name="adj" fmla="val 8182"/>
            </a:avLst>
          </a:prstGeom>
          <a:solidFill>
            <a:srgbClr val="F2F2F3"/>
          </a:solidFill>
          <a:ln w="12700">
            <a:solidFill>
              <a:srgbClr val="D7DAE0"/>
            </a:solidFill>
            <a:prstDash val="solid"/>
          </a:ln>
        </p:spPr>
        <p:txBody>
          <a:bodyPr/>
          <a:lstStyle/>
          <a:p>
            <a:endParaRPr lang="pt-BR" noProof="0" dirty="0"/>
          </a:p>
        </p:txBody>
      </p:sp>
      <p:sp>
        <p:nvSpPr>
          <p:cNvPr id="38" name="Text 36"/>
          <p:cNvSpPr/>
          <p:nvPr/>
        </p:nvSpPr>
        <p:spPr>
          <a:xfrm>
            <a:off x="6446520" y="4755218"/>
            <a:ext cx="5074920" cy="356616"/>
          </a:xfrm>
          <a:prstGeom prst="rect">
            <a:avLst/>
          </a:prstGeom>
          <a:noFill/>
          <a:ln/>
        </p:spPr>
        <p:txBody>
          <a:bodyPr wrap="square" lIns="0" tIns="0" rIns="0" bIns="0" rtlCol="0" anchor="ctr"/>
          <a:lstStyle/>
          <a:p>
            <a:pPr marL="0" indent="0">
              <a:lnSpc>
                <a:spcPct val="118000"/>
              </a:lnSpc>
              <a:buNone/>
            </a:pPr>
            <a:r>
              <a:rPr lang="pt-BR" sz="1150" noProof="0" dirty="0" err="1">
                <a:solidFill>
                  <a:srgbClr val="1B2A4A"/>
                </a:solidFill>
                <a:latin typeface="Courier New" pitchFamily="34" charset="0"/>
                <a:ea typeface="Courier New" pitchFamily="34" charset="-122"/>
                <a:cs typeface="Courier New" pitchFamily="34" charset="-120"/>
              </a:rPr>
              <a:t>double</a:t>
            </a:r>
            <a:r>
              <a:rPr lang="pt-BR" sz="1150" noProof="0" dirty="0">
                <a:solidFill>
                  <a:srgbClr val="1B2A4A"/>
                </a:solidFill>
                <a:latin typeface="Courier New" pitchFamily="34" charset="0"/>
                <a:ea typeface="Courier New" pitchFamily="34" charset="-122"/>
                <a:cs typeface="Courier New" pitchFamily="34" charset="-120"/>
              </a:rPr>
              <a:t> total = </a:t>
            </a:r>
            <a:r>
              <a:rPr lang="pt-BR" sz="1150" noProof="0" dirty="0" err="1">
                <a:solidFill>
                  <a:srgbClr val="1B2A4A"/>
                </a:solidFill>
                <a:latin typeface="Courier New" pitchFamily="34" charset="0"/>
                <a:ea typeface="Courier New" pitchFamily="34" charset="-122"/>
                <a:cs typeface="Courier New" pitchFamily="34" charset="-120"/>
              </a:rPr>
              <a:t>aplicarTaxaDeServico</a:t>
            </a:r>
            <a:r>
              <a:rPr lang="pt-BR" sz="1150" noProof="0" dirty="0">
                <a:solidFill>
                  <a:srgbClr val="1B2A4A"/>
                </a:solidFill>
                <a:latin typeface="Courier New" pitchFamily="34" charset="0"/>
                <a:ea typeface="Courier New" pitchFamily="34" charset="-122"/>
                <a:cs typeface="Courier New" pitchFamily="34" charset="-120"/>
              </a:rPr>
              <a:t>(valor);</a:t>
            </a:r>
            <a:endParaRPr lang="pt-BR" sz="1150" noProof="0" dirty="0"/>
          </a:p>
        </p:txBody>
      </p:sp>
      <p:sp>
        <p:nvSpPr>
          <p:cNvPr id="39" name="Text 37"/>
          <p:cNvSpPr/>
          <p:nvPr/>
        </p:nvSpPr>
        <p:spPr>
          <a:xfrm>
            <a:off x="502920" y="5383442"/>
            <a:ext cx="5440680" cy="960120"/>
          </a:xfrm>
          <a:prstGeom prst="rect">
            <a:avLst/>
          </a:prstGeom>
          <a:noFill/>
          <a:ln/>
        </p:spPr>
        <p:txBody>
          <a:bodyPr wrap="square" lIns="0" tIns="0" rIns="0" bIns="0" rtlCol="0" anchor="t"/>
          <a:lstStyle/>
          <a:p>
            <a:pPr marL="177800" indent="-177800">
              <a:lnSpc>
                <a:spcPct val="106000"/>
              </a:lnSpc>
              <a:spcAft>
                <a:spcPts val="200"/>
              </a:spcAft>
              <a:buSzPct val="100000"/>
              <a:buChar char="▪"/>
            </a:pPr>
            <a:r>
              <a:rPr lang="pt-BR" sz="1200" noProof="0" dirty="0">
                <a:solidFill>
                  <a:srgbClr val="2B2B2E"/>
                </a:solidFill>
                <a:latin typeface="Calibri" pitchFamily="34" charset="0"/>
                <a:ea typeface="Calibri" pitchFamily="34" charset="-122"/>
                <a:cs typeface="Calibri" pitchFamily="34" charset="-120"/>
              </a:rPr>
              <a:t>O comportamento esperado permanece igual</a:t>
            </a:r>
            <a:endParaRPr lang="pt-BR" sz="1200" noProof="0" dirty="0"/>
          </a:p>
          <a:p>
            <a:pPr marL="177800" indent="-177800">
              <a:lnSpc>
                <a:spcPct val="106000"/>
              </a:lnSpc>
              <a:spcAft>
                <a:spcPts val="200"/>
              </a:spcAft>
              <a:buSzPct val="100000"/>
              <a:buChar char="▪"/>
            </a:pPr>
            <a:r>
              <a:rPr lang="pt-BR" sz="1200" noProof="0" dirty="0">
                <a:solidFill>
                  <a:srgbClr val="2B2B2E"/>
                </a:solidFill>
                <a:latin typeface="Calibri" pitchFamily="34" charset="0"/>
                <a:ea typeface="Calibri" pitchFamily="34" charset="-122"/>
                <a:cs typeface="Calibri" pitchFamily="34" charset="-120"/>
              </a:rPr>
              <a:t>A regra recebeu um nome</a:t>
            </a:r>
            <a:endParaRPr lang="pt-BR" sz="1200" noProof="0" dirty="0"/>
          </a:p>
          <a:p>
            <a:pPr marL="177800" indent="-177800">
              <a:lnSpc>
                <a:spcPct val="106000"/>
              </a:lnSpc>
              <a:spcAft>
                <a:spcPts val="200"/>
              </a:spcAft>
              <a:buSzPct val="100000"/>
              <a:buChar char="▪"/>
            </a:pPr>
            <a:r>
              <a:rPr lang="pt-BR" sz="1200" noProof="0" dirty="0">
                <a:solidFill>
                  <a:srgbClr val="2B2B2E"/>
                </a:solidFill>
                <a:latin typeface="Calibri" pitchFamily="34" charset="0"/>
                <a:ea typeface="Calibri" pitchFamily="34" charset="-122"/>
                <a:cs typeface="Calibri" pitchFamily="34" charset="-120"/>
              </a:rPr>
              <a:t>A intenção ficou explícita</a:t>
            </a:r>
            <a:endParaRPr lang="pt-BR" sz="1200" noProof="0" dirty="0"/>
          </a:p>
          <a:p>
            <a:pPr marL="177800" indent="-177800">
              <a:lnSpc>
                <a:spcPct val="106000"/>
              </a:lnSpc>
              <a:spcAft>
                <a:spcPts val="200"/>
              </a:spcAft>
              <a:buSzPct val="100000"/>
              <a:buChar char="▪"/>
            </a:pPr>
            <a:r>
              <a:rPr lang="pt-BR" sz="1200" noProof="0" dirty="0">
                <a:solidFill>
                  <a:srgbClr val="2B2B2E"/>
                </a:solidFill>
                <a:latin typeface="Calibri" pitchFamily="34" charset="0"/>
                <a:ea typeface="Calibri" pitchFamily="34" charset="-122"/>
                <a:cs typeface="Calibri" pitchFamily="34" charset="-120"/>
              </a:rPr>
              <a:t>A implementação pode ser localizada</a:t>
            </a:r>
            <a:endParaRPr lang="pt-BR" sz="1200" noProof="0" dirty="0"/>
          </a:p>
          <a:p>
            <a:pPr marL="177800" indent="-177800">
              <a:lnSpc>
                <a:spcPct val="106000"/>
              </a:lnSpc>
              <a:spcAft>
                <a:spcPts val="200"/>
              </a:spcAft>
              <a:buSzPct val="100000"/>
              <a:buChar char="▪"/>
            </a:pPr>
            <a:r>
              <a:rPr lang="pt-BR" sz="1200" noProof="0" dirty="0">
                <a:solidFill>
                  <a:srgbClr val="2B2B2E"/>
                </a:solidFill>
                <a:latin typeface="Calibri" pitchFamily="34" charset="0"/>
                <a:ea typeface="Calibri" pitchFamily="34" charset="-122"/>
                <a:cs typeface="Calibri" pitchFamily="34" charset="-120"/>
              </a:rPr>
              <a:t>Os testes devem confirmar a preservação do comportamento</a:t>
            </a:r>
            <a:endParaRPr lang="pt-BR" sz="1200" noProof="0" dirty="0"/>
          </a:p>
        </p:txBody>
      </p:sp>
      <p:sp>
        <p:nvSpPr>
          <p:cNvPr id="40" name="Shape 38"/>
          <p:cNvSpPr/>
          <p:nvPr/>
        </p:nvSpPr>
        <p:spPr>
          <a:xfrm>
            <a:off x="6304788" y="5383442"/>
            <a:ext cx="5399532" cy="960120"/>
          </a:xfrm>
          <a:prstGeom prst="roundRect">
            <a:avLst>
              <a:gd name="adj" fmla="val 4762"/>
            </a:avLst>
          </a:prstGeom>
          <a:solidFill>
            <a:srgbClr val="FBF6E7"/>
          </a:solidFill>
          <a:ln w="12700">
            <a:solidFill>
              <a:srgbClr val="C9A227"/>
            </a:solidFill>
            <a:prstDash val="solid"/>
          </a:ln>
        </p:spPr>
        <p:txBody>
          <a:bodyPr/>
          <a:lstStyle/>
          <a:p>
            <a:endParaRPr lang="pt-BR" noProof="0" dirty="0"/>
          </a:p>
        </p:txBody>
      </p:sp>
      <p:sp>
        <p:nvSpPr>
          <p:cNvPr id="41" name="Text 39"/>
          <p:cNvSpPr/>
          <p:nvPr/>
        </p:nvSpPr>
        <p:spPr>
          <a:xfrm>
            <a:off x="6446520" y="5438306"/>
            <a:ext cx="5074920" cy="841248"/>
          </a:xfrm>
          <a:prstGeom prst="rect">
            <a:avLst/>
          </a:prstGeom>
          <a:noFill/>
          <a:ln/>
        </p:spPr>
        <p:txBody>
          <a:bodyPr wrap="square" lIns="0" tIns="0" rIns="0" bIns="0" rtlCol="0" anchor="t"/>
          <a:lstStyle/>
          <a:p>
            <a:pPr marL="0" indent="0">
              <a:lnSpc>
                <a:spcPct val="105000"/>
              </a:lnSpc>
              <a:buNone/>
            </a:pPr>
            <a:r>
              <a:rPr lang="pt-BR" sz="1200" b="1" noProof="0" dirty="0">
                <a:solidFill>
                  <a:srgbClr val="1B2A4A"/>
                </a:solidFill>
                <a:latin typeface="Calibri" pitchFamily="34" charset="0"/>
                <a:ea typeface="Calibri" pitchFamily="34" charset="-122"/>
                <a:cs typeface="Calibri" pitchFamily="34" charset="-120"/>
              </a:rPr>
              <a:t>Pergunta: </a:t>
            </a:r>
            <a:r>
              <a:rPr lang="pt-BR" sz="1200" i="1" noProof="0" dirty="0">
                <a:solidFill>
                  <a:srgbClr val="1B2A4A"/>
                </a:solidFill>
                <a:latin typeface="Calibri" pitchFamily="34" charset="0"/>
                <a:ea typeface="Calibri" pitchFamily="34" charset="-122"/>
                <a:cs typeface="Calibri" pitchFamily="34" charset="-120"/>
              </a:rPr>
              <a:t>A extração de um método garante, sozinha, que o código ficou melhor?
</a:t>
            </a:r>
            <a:endParaRPr lang="pt-BR" sz="1200" noProof="0" dirty="0"/>
          </a:p>
          <a:p>
            <a:pPr marL="0" indent="0">
              <a:lnSpc>
                <a:spcPct val="105000"/>
              </a:lnSpc>
              <a:buNone/>
            </a:pPr>
            <a:r>
              <a:rPr lang="pt-BR" sz="1200" b="1" noProof="0" dirty="0">
                <a:solidFill>
                  <a:srgbClr val="1B2A4A"/>
                </a:solidFill>
                <a:latin typeface="Calibri" pitchFamily="34" charset="0"/>
                <a:ea typeface="Calibri" pitchFamily="34" charset="-122"/>
                <a:cs typeface="Calibri" pitchFamily="34" charset="-120"/>
              </a:rPr>
              <a:t>Direção esperada: </a:t>
            </a:r>
            <a:r>
              <a:rPr lang="pt-BR" sz="1200" noProof="0" dirty="0">
                <a:solidFill>
                  <a:srgbClr val="1B2A4A"/>
                </a:solidFill>
                <a:latin typeface="Calibri" pitchFamily="34" charset="0"/>
                <a:ea typeface="Calibri" pitchFamily="34" charset="-122"/>
                <a:cs typeface="Calibri" pitchFamily="34" charset="-120"/>
              </a:rPr>
              <a:t>não, o método extraído precisa ter nome significativo, representar intenção útil e reduzir o esforço de compreensão.</a:t>
            </a:r>
            <a:endParaRPr lang="pt-BR" sz="1200" noProof="0" dirty="0"/>
          </a:p>
        </p:txBody>
      </p:sp>
      <p:sp>
        <p:nvSpPr>
          <p:cNvPr id="42" name="Shape 40"/>
          <p:cNvSpPr/>
          <p:nvPr/>
        </p:nvSpPr>
        <p:spPr>
          <a:xfrm>
            <a:off x="0" y="6528816"/>
            <a:ext cx="12188952" cy="329184"/>
          </a:xfrm>
          <a:prstGeom prst="rect">
            <a:avLst/>
          </a:prstGeom>
          <a:solidFill>
            <a:srgbClr val="1B2A4A"/>
          </a:solidFill>
          <a:ln/>
        </p:spPr>
        <p:txBody>
          <a:bodyPr/>
          <a:lstStyle/>
          <a:p>
            <a:endParaRPr lang="pt-BR" noProof="0" dirty="0"/>
          </a:p>
        </p:txBody>
      </p:sp>
      <p:sp>
        <p:nvSpPr>
          <p:cNvPr id="43" name="Text 41"/>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44" name="Text 42"/>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04 / 13</a:t>
            </a:r>
            <a:endParaRPr lang="pt-BR" sz="950" noProof="0" dirty="0"/>
          </a:p>
        </p:txBody>
      </p:sp>
      <p:pic>
        <p:nvPicPr>
          <p:cNvPr id="50" name="Imagem 49">
            <a:extLst>
              <a:ext uri="{FF2B5EF4-FFF2-40B4-BE49-F238E27FC236}">
                <a16:creationId xmlns:a16="http://schemas.microsoft.com/office/drawing/2014/main" id="{5D8419A5-A974-B47D-5640-A3F24E120454}"/>
              </a:ext>
            </a:extLst>
          </p:cNvPr>
          <p:cNvPicPr>
            <a:picLocks noChangeAspect="1"/>
          </p:cNvPicPr>
          <p:nvPr/>
        </p:nvPicPr>
        <p:blipFill>
          <a:blip r:embed="rId3"/>
          <a:stretch>
            <a:fillRect/>
          </a:stretch>
        </p:blipFill>
        <p:spPr>
          <a:xfrm>
            <a:off x="1048004" y="1252011"/>
            <a:ext cx="9559036" cy="8426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3116" y="292608"/>
            <a:ext cx="11155680" cy="566928"/>
          </a:xfrm>
          <a:prstGeom prst="rect">
            <a:avLst/>
          </a:prstGeom>
          <a:noFill/>
          <a:ln/>
        </p:spPr>
        <p:txBody>
          <a:bodyPr wrap="square" lIns="0" tIns="0" rIns="0" bIns="0" rtlCol="0" anchor="t"/>
          <a:lstStyle/>
          <a:p>
            <a:pPr marL="0" indent="0">
              <a:buNone/>
            </a:pPr>
            <a:r>
              <a:rPr lang="pt-BR" sz="2700" b="1" noProof="0" dirty="0">
                <a:solidFill>
                  <a:srgbClr val="1B2A4A"/>
                </a:solidFill>
                <a:latin typeface="Cambria" pitchFamily="34" charset="0"/>
                <a:ea typeface="Cambria" pitchFamily="34" charset="-122"/>
                <a:cs typeface="Cambria" pitchFamily="34" charset="-120"/>
              </a:rPr>
              <a:t>Clean Code: Definição e Critérios</a:t>
            </a:r>
            <a:endParaRPr lang="pt-BR" sz="2700" noProof="0" dirty="0"/>
          </a:p>
        </p:txBody>
      </p:sp>
      <p:sp>
        <p:nvSpPr>
          <p:cNvPr id="5" name="Text 3"/>
          <p:cNvSpPr/>
          <p:nvPr/>
        </p:nvSpPr>
        <p:spPr>
          <a:xfrm>
            <a:off x="502920" y="1243584"/>
            <a:ext cx="5440680" cy="662940"/>
          </a:xfrm>
          <a:prstGeom prst="rect">
            <a:avLst/>
          </a:prstGeom>
          <a:noFill/>
          <a:ln/>
        </p:spPr>
        <p:txBody>
          <a:bodyPr wrap="square" lIns="0" tIns="0" rIns="0" bIns="0" rtlCol="0" anchor="ctr"/>
          <a:lstStyle/>
          <a:p>
            <a:pPr marL="0" indent="0">
              <a:lnSpc>
                <a:spcPct val="112000"/>
              </a:lnSpc>
              <a:buNone/>
            </a:pPr>
            <a:endParaRPr lang="pt-BR" sz="1400" noProof="0" dirty="0">
              <a:solidFill>
                <a:srgbClr val="2B2B2E"/>
              </a:solidFill>
              <a:latin typeface="Calibri" pitchFamily="34" charset="0"/>
              <a:ea typeface="Calibri" pitchFamily="34" charset="-122"/>
              <a:cs typeface="Calibri" pitchFamily="34" charset="-120"/>
            </a:endParaRPr>
          </a:p>
        </p:txBody>
      </p:sp>
      <p:sp>
        <p:nvSpPr>
          <p:cNvPr id="6" name="Text 4"/>
          <p:cNvSpPr/>
          <p:nvPr/>
        </p:nvSpPr>
        <p:spPr>
          <a:xfrm>
            <a:off x="555213" y="1946211"/>
            <a:ext cx="5440680" cy="1312164"/>
          </a:xfrm>
          <a:prstGeom prst="rect">
            <a:avLst/>
          </a:prstGeom>
          <a:noFill/>
          <a:ln/>
        </p:spPr>
        <p:txBody>
          <a:bodyPr wrap="square" lIns="0" tIns="0" rIns="0" bIns="0" rtlCol="0" anchor="t"/>
          <a:lstStyle/>
          <a:p>
            <a:pPr>
              <a:lnSpc>
                <a:spcPct val="106000"/>
              </a:lnSpc>
              <a:spcAft>
                <a:spcPts val="300"/>
              </a:spcAft>
              <a:buSzPct val="100000"/>
            </a:pPr>
            <a:r>
              <a:rPr lang="pt-BR" sz="1400" dirty="0">
                <a:solidFill>
                  <a:srgbClr val="2B2B2E"/>
                </a:solidFill>
                <a:latin typeface="Calibri" pitchFamily="34" charset="0"/>
                <a:ea typeface="Calibri" pitchFamily="34" charset="-122"/>
                <a:cs typeface="Calibri" pitchFamily="34" charset="-120"/>
              </a:rPr>
              <a:t>A qualidade interna está relacionada à clareza com que o código apresenta:</a:t>
            </a:r>
          </a:p>
          <a:p>
            <a:pPr marL="285750" indent="-285750">
              <a:lnSpc>
                <a:spcPct val="106000"/>
              </a:lnSpc>
              <a:spcAft>
                <a:spcPts val="3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Intenção</a:t>
            </a:r>
          </a:p>
          <a:p>
            <a:pPr marL="285750" indent="-285750">
              <a:lnSpc>
                <a:spcPct val="106000"/>
              </a:lnSpc>
              <a:spcAft>
                <a:spcPts val="3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Responsabilidades</a:t>
            </a:r>
          </a:p>
          <a:p>
            <a:pPr marL="285750" indent="-285750">
              <a:lnSpc>
                <a:spcPct val="106000"/>
              </a:lnSpc>
              <a:spcAft>
                <a:spcPts val="3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Regras</a:t>
            </a:r>
          </a:p>
          <a:p>
            <a:pPr marL="285750" indent="-285750">
              <a:lnSpc>
                <a:spcPct val="106000"/>
              </a:lnSpc>
              <a:spcAft>
                <a:spcPts val="3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Dependências</a:t>
            </a:r>
          </a:p>
          <a:p>
            <a:pPr marL="285750" indent="-285750">
              <a:lnSpc>
                <a:spcPct val="106000"/>
              </a:lnSpc>
              <a:spcAft>
                <a:spcPts val="3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Efeitos</a:t>
            </a:r>
          </a:p>
        </p:txBody>
      </p:sp>
      <p:sp>
        <p:nvSpPr>
          <p:cNvPr id="7" name="Shape 5"/>
          <p:cNvSpPr/>
          <p:nvPr/>
        </p:nvSpPr>
        <p:spPr>
          <a:xfrm>
            <a:off x="6263640" y="950976"/>
            <a:ext cx="118872" cy="118872"/>
          </a:xfrm>
          <a:prstGeom prst="rect">
            <a:avLst/>
          </a:prstGeom>
          <a:solidFill>
            <a:srgbClr val="C9A227"/>
          </a:solidFill>
          <a:ln/>
        </p:spPr>
        <p:txBody>
          <a:bodyPr/>
          <a:lstStyle/>
          <a:p>
            <a:endParaRPr lang="pt-BR" noProof="0" dirty="0"/>
          </a:p>
        </p:txBody>
      </p:sp>
      <p:sp>
        <p:nvSpPr>
          <p:cNvPr id="8" name="Text 6"/>
          <p:cNvSpPr/>
          <p:nvPr/>
        </p:nvSpPr>
        <p:spPr>
          <a:xfrm>
            <a:off x="6483096" y="882396"/>
            <a:ext cx="522122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CRITÉRIOS — UM CÓDIGO COMPREENSÍVEL PERMITE AO LEITOR</a:t>
            </a:r>
            <a:endParaRPr lang="pt-BR" sz="1250" noProof="0" dirty="0"/>
          </a:p>
        </p:txBody>
      </p:sp>
      <p:sp>
        <p:nvSpPr>
          <p:cNvPr id="9" name="Text 7"/>
          <p:cNvSpPr/>
          <p:nvPr/>
        </p:nvSpPr>
        <p:spPr>
          <a:xfrm>
            <a:off x="6263640" y="1257300"/>
            <a:ext cx="5440680" cy="1920240"/>
          </a:xfrm>
          <a:prstGeom prst="rect">
            <a:avLst/>
          </a:prstGeom>
          <a:noFill/>
          <a:ln/>
        </p:spPr>
        <p:txBody>
          <a:bodyPr wrap="square" lIns="0" tIns="0" rIns="0" bIns="0" rtlCol="0" anchor="t"/>
          <a:lstStyle/>
          <a:p>
            <a:pPr marL="285750" indent="-285750">
              <a:lnSpc>
                <a:spcPct val="106000"/>
              </a:lnSpc>
              <a:spcAft>
                <a:spcPts val="6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Identificar o propósito de uma classe ou operação</a:t>
            </a:r>
          </a:p>
          <a:p>
            <a:pPr marL="285750" indent="-285750">
              <a:lnSpc>
                <a:spcPct val="106000"/>
              </a:lnSpc>
              <a:spcAft>
                <a:spcPts val="6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Localizar a regra responsável por um comportamento</a:t>
            </a:r>
          </a:p>
          <a:p>
            <a:pPr marL="285750" indent="-285750">
              <a:lnSpc>
                <a:spcPct val="106000"/>
              </a:lnSpc>
              <a:spcAft>
                <a:spcPts val="6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Reconhecer as responsabilidades distribuídas</a:t>
            </a:r>
          </a:p>
          <a:p>
            <a:pPr marL="285750" indent="-285750">
              <a:lnSpc>
                <a:spcPct val="106000"/>
              </a:lnSpc>
              <a:spcAft>
                <a:spcPts val="6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Prever possíveis efeitos de uma alteração</a:t>
            </a:r>
          </a:p>
          <a:p>
            <a:pPr marL="285750" indent="-285750">
              <a:lnSpc>
                <a:spcPct val="106000"/>
              </a:lnSpc>
              <a:spcAft>
                <a:spcPts val="6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Verificar se uma mudança preservou o comportamento</a:t>
            </a:r>
          </a:p>
        </p:txBody>
      </p:sp>
      <p:sp>
        <p:nvSpPr>
          <p:cNvPr id="10" name="Shape 8"/>
          <p:cNvSpPr/>
          <p:nvPr/>
        </p:nvSpPr>
        <p:spPr>
          <a:xfrm>
            <a:off x="502920" y="3720140"/>
            <a:ext cx="118872" cy="118872"/>
          </a:xfrm>
          <a:prstGeom prst="rect">
            <a:avLst/>
          </a:prstGeom>
          <a:solidFill>
            <a:srgbClr val="C9A227"/>
          </a:solidFill>
          <a:ln/>
        </p:spPr>
        <p:txBody>
          <a:bodyPr/>
          <a:lstStyle/>
          <a:p>
            <a:endParaRPr lang="pt-BR" noProof="0" dirty="0"/>
          </a:p>
        </p:txBody>
      </p:sp>
      <p:sp>
        <p:nvSpPr>
          <p:cNvPr id="11" name="Text 9"/>
          <p:cNvSpPr/>
          <p:nvPr/>
        </p:nvSpPr>
        <p:spPr>
          <a:xfrm>
            <a:off x="722376" y="3660193"/>
            <a:ext cx="709574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EXEMPLO VISÍVEL</a:t>
            </a:r>
            <a:endParaRPr lang="pt-BR" sz="1250" noProof="0" dirty="0"/>
          </a:p>
        </p:txBody>
      </p:sp>
      <p:sp>
        <p:nvSpPr>
          <p:cNvPr id="12" name="Text 10"/>
          <p:cNvSpPr/>
          <p:nvPr/>
        </p:nvSpPr>
        <p:spPr>
          <a:xfrm>
            <a:off x="502920" y="3971600"/>
            <a:ext cx="5440680"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Versão A</a:t>
            </a:r>
            <a:endParaRPr lang="pt-BR" sz="1100" noProof="0" dirty="0"/>
          </a:p>
        </p:txBody>
      </p:sp>
      <p:sp>
        <p:nvSpPr>
          <p:cNvPr id="13" name="Shape 11"/>
          <p:cNvSpPr/>
          <p:nvPr/>
        </p:nvSpPr>
        <p:spPr>
          <a:xfrm>
            <a:off x="502920" y="4264207"/>
            <a:ext cx="5440680" cy="1327201"/>
          </a:xfrm>
          <a:prstGeom prst="roundRect">
            <a:avLst>
              <a:gd name="adj" fmla="val 3913"/>
            </a:avLst>
          </a:prstGeom>
          <a:solidFill>
            <a:srgbClr val="F2F2F3"/>
          </a:solidFill>
          <a:ln w="12700">
            <a:solidFill>
              <a:srgbClr val="D7DAE0"/>
            </a:solidFill>
            <a:prstDash val="solid"/>
          </a:ln>
        </p:spPr>
        <p:txBody>
          <a:bodyPr/>
          <a:lstStyle/>
          <a:p>
            <a:endParaRPr lang="pt-BR" noProof="0" dirty="0"/>
          </a:p>
        </p:txBody>
      </p:sp>
      <p:sp>
        <p:nvSpPr>
          <p:cNvPr id="14" name="Text 12"/>
          <p:cNvSpPr/>
          <p:nvPr/>
        </p:nvSpPr>
        <p:spPr>
          <a:xfrm>
            <a:off x="670560" y="4489704"/>
            <a:ext cx="5074920" cy="905256"/>
          </a:xfrm>
          <a:prstGeom prst="rect">
            <a:avLst/>
          </a:prstGeom>
          <a:noFill/>
          <a:ln/>
        </p:spPr>
        <p:txBody>
          <a:bodyPr wrap="square" lIns="0" tIns="0" rIns="0" bIns="0" rtlCol="0" anchor="ctr"/>
          <a:lstStyle/>
          <a:p>
            <a:pPr marL="0" indent="0">
              <a:lnSpc>
                <a:spcPct val="118000"/>
              </a:lnSpc>
              <a:buNone/>
            </a:pPr>
            <a:r>
              <a:rPr lang="pt-BR" sz="1200" noProof="0" dirty="0" err="1">
                <a:solidFill>
                  <a:srgbClr val="1B2A4A"/>
                </a:solidFill>
                <a:latin typeface="Consolas" panose="020B0609020204030204" pitchFamily="49" charset="0"/>
                <a:ea typeface="Courier New" pitchFamily="34" charset="-122"/>
                <a:cs typeface="Courier New" pitchFamily="34" charset="-120"/>
              </a:rPr>
              <a:t>double</a:t>
            </a:r>
            <a:r>
              <a:rPr lang="pt-BR" sz="1200" noProof="0" dirty="0">
                <a:solidFill>
                  <a:srgbClr val="1B2A4A"/>
                </a:solidFill>
                <a:latin typeface="Consolas" panose="020B0609020204030204" pitchFamily="49" charset="0"/>
                <a:ea typeface="Courier New" pitchFamily="34" charset="-122"/>
                <a:cs typeface="Courier New" pitchFamily="34" charset="-120"/>
              </a:rPr>
              <a:t> r = p * q;</a:t>
            </a:r>
            <a:endParaRPr lang="pt-BR" sz="1200" noProof="0" dirty="0">
              <a:latin typeface="Consolas" panose="020B0609020204030204" pitchFamily="49" charset="0"/>
            </a:endParaRPr>
          </a:p>
          <a:p>
            <a:pPr marL="0" indent="0">
              <a:lnSpc>
                <a:spcPct val="118000"/>
              </a:lnSpc>
              <a:buNone/>
            </a:pPr>
            <a:endParaRPr lang="pt-BR" sz="1200" noProof="0" dirty="0">
              <a:latin typeface="Consolas" panose="020B0609020204030204" pitchFamily="49" charset="0"/>
            </a:endParaRPr>
          </a:p>
          <a:p>
            <a:pPr marL="0" indent="0">
              <a:lnSpc>
                <a:spcPct val="118000"/>
              </a:lnSpc>
              <a:buNone/>
            </a:pPr>
            <a:r>
              <a:rPr lang="pt-BR" sz="1200" noProof="0" dirty="0" err="1">
                <a:solidFill>
                  <a:srgbClr val="1B2A4A"/>
                </a:solidFill>
                <a:latin typeface="Consolas" panose="020B0609020204030204" pitchFamily="49" charset="0"/>
                <a:ea typeface="Courier New" pitchFamily="34" charset="-122"/>
                <a:cs typeface="Courier New" pitchFamily="34" charset="-120"/>
              </a:rPr>
              <a:t>if</a:t>
            </a:r>
            <a:r>
              <a:rPr lang="pt-BR" sz="1200" noProof="0" dirty="0">
                <a:solidFill>
                  <a:srgbClr val="1B2A4A"/>
                </a:solidFill>
                <a:latin typeface="Consolas" panose="020B0609020204030204" pitchFamily="49" charset="0"/>
                <a:ea typeface="Courier New" pitchFamily="34" charset="-122"/>
                <a:cs typeface="Courier New" pitchFamily="34" charset="-120"/>
              </a:rPr>
              <a:t> (d) {</a:t>
            </a:r>
            <a:endParaRPr lang="pt-BR" sz="1200" noProof="0" dirty="0">
              <a:latin typeface="Consolas" panose="020B0609020204030204" pitchFamily="49" charset="0"/>
            </a:endParaRPr>
          </a:p>
          <a:p>
            <a:pPr marL="0" indent="0">
              <a:lnSpc>
                <a:spcPct val="118000"/>
              </a:lnSpc>
              <a:buNone/>
            </a:pPr>
            <a:r>
              <a:rPr lang="pt-BR" sz="1200" noProof="0" dirty="0">
                <a:solidFill>
                  <a:srgbClr val="1B2A4A"/>
                </a:solidFill>
                <a:latin typeface="Consolas" panose="020B0609020204030204" pitchFamily="49" charset="0"/>
                <a:ea typeface="Courier New" pitchFamily="34" charset="-122"/>
                <a:cs typeface="Courier New" pitchFamily="34" charset="-120"/>
              </a:rPr>
              <a:t>    r = r * 0.9;</a:t>
            </a:r>
            <a:endParaRPr lang="pt-BR" sz="1200" noProof="0" dirty="0">
              <a:latin typeface="Consolas" panose="020B0609020204030204" pitchFamily="49" charset="0"/>
            </a:endParaRPr>
          </a:p>
          <a:p>
            <a:pPr marL="0" indent="0">
              <a:lnSpc>
                <a:spcPct val="118000"/>
              </a:lnSpc>
              <a:buNone/>
            </a:pPr>
            <a:r>
              <a:rPr lang="pt-BR" sz="1200" noProof="0" dirty="0">
                <a:solidFill>
                  <a:srgbClr val="1B2A4A"/>
                </a:solidFill>
                <a:latin typeface="Consolas" panose="020B0609020204030204" pitchFamily="49" charset="0"/>
                <a:ea typeface="Courier New" pitchFamily="34" charset="-122"/>
                <a:cs typeface="Courier New" pitchFamily="34" charset="-120"/>
              </a:rPr>
              <a:t>}</a:t>
            </a:r>
            <a:endParaRPr lang="pt-BR" sz="1200" noProof="0" dirty="0">
              <a:latin typeface="Consolas" panose="020B0609020204030204" pitchFamily="49" charset="0"/>
            </a:endParaRPr>
          </a:p>
        </p:txBody>
      </p:sp>
      <p:sp>
        <p:nvSpPr>
          <p:cNvPr id="15" name="Text 13"/>
          <p:cNvSpPr/>
          <p:nvPr/>
        </p:nvSpPr>
        <p:spPr>
          <a:xfrm>
            <a:off x="6263640" y="3971600"/>
            <a:ext cx="5440680"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Versão B</a:t>
            </a:r>
            <a:endParaRPr lang="pt-BR" sz="1100" noProof="0" dirty="0"/>
          </a:p>
        </p:txBody>
      </p:sp>
      <p:sp>
        <p:nvSpPr>
          <p:cNvPr id="16" name="Shape 14"/>
          <p:cNvSpPr/>
          <p:nvPr/>
        </p:nvSpPr>
        <p:spPr>
          <a:xfrm>
            <a:off x="6263640" y="4264208"/>
            <a:ext cx="5440680" cy="1327200"/>
          </a:xfrm>
          <a:prstGeom prst="roundRect">
            <a:avLst>
              <a:gd name="adj" fmla="val 3913"/>
            </a:avLst>
          </a:prstGeom>
          <a:solidFill>
            <a:srgbClr val="F2F2F3"/>
          </a:solidFill>
          <a:ln w="12700">
            <a:solidFill>
              <a:srgbClr val="D7DAE0"/>
            </a:solidFill>
            <a:prstDash val="solid"/>
          </a:ln>
        </p:spPr>
        <p:txBody>
          <a:bodyPr/>
          <a:lstStyle/>
          <a:p>
            <a:endParaRPr lang="pt-BR" noProof="0" dirty="0"/>
          </a:p>
        </p:txBody>
      </p:sp>
      <p:sp>
        <p:nvSpPr>
          <p:cNvPr id="17" name="Text 15"/>
          <p:cNvSpPr/>
          <p:nvPr/>
        </p:nvSpPr>
        <p:spPr>
          <a:xfrm>
            <a:off x="6446520" y="4474520"/>
            <a:ext cx="5074920" cy="905256"/>
          </a:xfrm>
          <a:prstGeom prst="rect">
            <a:avLst/>
          </a:prstGeom>
          <a:noFill/>
          <a:ln/>
        </p:spPr>
        <p:txBody>
          <a:bodyPr wrap="square" lIns="0" tIns="0" rIns="0" bIns="0" rtlCol="0" anchor="ctr"/>
          <a:lstStyle/>
          <a:p>
            <a:pPr marL="0" indent="0">
              <a:lnSpc>
                <a:spcPct val="118000"/>
              </a:lnSpc>
              <a:buNone/>
            </a:pPr>
            <a:r>
              <a:rPr lang="pt-BR" sz="1200" noProof="0" dirty="0" err="1">
                <a:solidFill>
                  <a:srgbClr val="1B2A4A"/>
                </a:solidFill>
                <a:latin typeface="Consolas" panose="020B0609020204030204" pitchFamily="49" charset="0"/>
                <a:cs typeface="Courier New" pitchFamily="34" charset="-120"/>
              </a:rPr>
              <a:t>double</a:t>
            </a:r>
            <a:r>
              <a:rPr lang="pt-BR" sz="1200" noProof="0" dirty="0">
                <a:solidFill>
                  <a:srgbClr val="1B2A4A"/>
                </a:solidFill>
                <a:latin typeface="Consolas" panose="020B0609020204030204" pitchFamily="49" charset="0"/>
                <a:cs typeface="Courier New" pitchFamily="34" charset="-120"/>
              </a:rPr>
              <a:t> subtotal = </a:t>
            </a:r>
            <a:r>
              <a:rPr lang="pt-BR" sz="1200" noProof="0" dirty="0" err="1">
                <a:solidFill>
                  <a:srgbClr val="1B2A4A"/>
                </a:solidFill>
                <a:latin typeface="Consolas" panose="020B0609020204030204" pitchFamily="49" charset="0"/>
                <a:cs typeface="Courier New" pitchFamily="34" charset="-120"/>
              </a:rPr>
              <a:t>precoUnitario</a:t>
            </a:r>
            <a:r>
              <a:rPr lang="pt-BR" sz="1200" noProof="0" dirty="0">
                <a:solidFill>
                  <a:srgbClr val="1B2A4A"/>
                </a:solidFill>
                <a:latin typeface="Consolas" panose="020B0609020204030204" pitchFamily="49" charset="0"/>
                <a:cs typeface="Courier New" pitchFamily="34" charset="-120"/>
              </a:rPr>
              <a:t> * quantidade;</a:t>
            </a:r>
          </a:p>
          <a:p>
            <a:pPr marL="0" indent="0">
              <a:lnSpc>
                <a:spcPct val="118000"/>
              </a:lnSpc>
              <a:buNone/>
            </a:pPr>
            <a:endParaRPr lang="pt-BR" sz="1200" noProof="0" dirty="0">
              <a:solidFill>
                <a:srgbClr val="1B2A4A"/>
              </a:solidFill>
              <a:latin typeface="Consolas" panose="020B0609020204030204" pitchFamily="49" charset="0"/>
              <a:cs typeface="Courier New" pitchFamily="34" charset="-120"/>
            </a:endParaRPr>
          </a:p>
          <a:p>
            <a:pPr marL="0" indent="0">
              <a:lnSpc>
                <a:spcPct val="118000"/>
              </a:lnSpc>
              <a:buNone/>
            </a:pPr>
            <a:r>
              <a:rPr lang="pt-BR" sz="1200" noProof="0" dirty="0" err="1">
                <a:solidFill>
                  <a:srgbClr val="1B2A4A"/>
                </a:solidFill>
                <a:latin typeface="Consolas" panose="020B0609020204030204" pitchFamily="49" charset="0"/>
                <a:cs typeface="Courier New" pitchFamily="34" charset="-120"/>
              </a:rPr>
              <a:t>if</a:t>
            </a:r>
            <a:r>
              <a:rPr lang="pt-BR" sz="1200" noProof="0" dirty="0">
                <a:solidFill>
                  <a:srgbClr val="1B2A4A"/>
                </a:solidFill>
                <a:latin typeface="Consolas" panose="020B0609020204030204" pitchFamily="49" charset="0"/>
                <a:cs typeface="Courier New" pitchFamily="34" charset="-120"/>
              </a:rPr>
              <a:t> (</a:t>
            </a:r>
            <a:r>
              <a:rPr lang="pt-BR" sz="1200" noProof="0" dirty="0" err="1">
                <a:solidFill>
                  <a:srgbClr val="1B2A4A"/>
                </a:solidFill>
                <a:latin typeface="Consolas" panose="020B0609020204030204" pitchFamily="49" charset="0"/>
                <a:cs typeface="Courier New" pitchFamily="34" charset="-120"/>
              </a:rPr>
              <a:t>clientePossuiDesconto</a:t>
            </a:r>
            <a:r>
              <a:rPr lang="pt-BR" sz="1200" noProof="0" dirty="0">
                <a:solidFill>
                  <a:srgbClr val="1B2A4A"/>
                </a:solidFill>
                <a:latin typeface="Consolas" panose="020B0609020204030204" pitchFamily="49" charset="0"/>
                <a:cs typeface="Courier New" pitchFamily="34" charset="-120"/>
              </a:rPr>
              <a:t>) {</a:t>
            </a:r>
          </a:p>
          <a:p>
            <a:pPr marL="0" indent="0">
              <a:lnSpc>
                <a:spcPct val="118000"/>
              </a:lnSpc>
              <a:buNone/>
            </a:pPr>
            <a:r>
              <a:rPr lang="pt-BR" sz="1200" noProof="0" dirty="0">
                <a:solidFill>
                  <a:srgbClr val="1B2A4A"/>
                </a:solidFill>
                <a:latin typeface="Consolas" panose="020B0609020204030204" pitchFamily="49" charset="0"/>
                <a:cs typeface="Courier New" pitchFamily="34" charset="-120"/>
              </a:rPr>
              <a:t>    subtotal = </a:t>
            </a:r>
            <a:r>
              <a:rPr lang="pt-BR" sz="1200" noProof="0" dirty="0" err="1">
                <a:solidFill>
                  <a:srgbClr val="1B2A4A"/>
                </a:solidFill>
                <a:latin typeface="Consolas" panose="020B0609020204030204" pitchFamily="49" charset="0"/>
                <a:cs typeface="Courier New" pitchFamily="34" charset="-120"/>
              </a:rPr>
              <a:t>aplicarDesconto</a:t>
            </a:r>
            <a:r>
              <a:rPr lang="pt-BR" sz="1200" noProof="0" dirty="0">
                <a:solidFill>
                  <a:srgbClr val="1B2A4A"/>
                </a:solidFill>
                <a:latin typeface="Consolas" panose="020B0609020204030204" pitchFamily="49" charset="0"/>
                <a:cs typeface="Courier New" pitchFamily="34" charset="-120"/>
              </a:rPr>
              <a:t>(subtotal);</a:t>
            </a:r>
          </a:p>
          <a:p>
            <a:pPr marL="0" indent="0">
              <a:lnSpc>
                <a:spcPct val="118000"/>
              </a:lnSpc>
              <a:buNone/>
            </a:pPr>
            <a:r>
              <a:rPr lang="pt-BR" sz="1200" noProof="0" dirty="0">
                <a:solidFill>
                  <a:srgbClr val="1B2A4A"/>
                </a:solidFill>
                <a:latin typeface="Consolas" panose="020B0609020204030204" pitchFamily="49" charset="0"/>
                <a:cs typeface="Courier New" pitchFamily="34" charset="-120"/>
              </a:rPr>
              <a:t>}</a:t>
            </a:r>
          </a:p>
        </p:txBody>
      </p:sp>
      <p:sp>
        <p:nvSpPr>
          <p:cNvPr id="18" name="Text 16"/>
          <p:cNvSpPr/>
          <p:nvPr/>
        </p:nvSpPr>
        <p:spPr>
          <a:xfrm>
            <a:off x="4547219" y="5576802"/>
            <a:ext cx="3727474" cy="201168"/>
          </a:xfrm>
          <a:prstGeom prst="rect">
            <a:avLst/>
          </a:prstGeom>
          <a:noFill/>
          <a:ln/>
        </p:spPr>
        <p:txBody>
          <a:bodyPr wrap="square" lIns="0" tIns="0" rIns="0" bIns="0" rtlCol="0" anchor="ctr"/>
          <a:lstStyle/>
          <a:p>
            <a:pPr marL="0" indent="0">
              <a:buNone/>
            </a:pPr>
            <a:r>
              <a:rPr lang="pt-BR" sz="1100" i="1" u="sng" noProof="0" dirty="0">
                <a:solidFill>
                  <a:srgbClr val="1B2A4A"/>
                </a:solidFill>
                <a:latin typeface="Calibri" pitchFamily="34" charset="0"/>
                <a:ea typeface="Calibri" pitchFamily="34" charset="-122"/>
                <a:cs typeface="Calibri" pitchFamily="34" charset="-120"/>
              </a:rPr>
              <a:t>Mesmo comportamento possível; diferente esforço de leitura.</a:t>
            </a:r>
            <a:endParaRPr lang="pt-BR" sz="1100" u="sng" noProof="0" dirty="0"/>
          </a:p>
        </p:txBody>
      </p:sp>
      <p:sp>
        <p:nvSpPr>
          <p:cNvPr id="22" name="Text 20"/>
          <p:cNvSpPr/>
          <p:nvPr/>
        </p:nvSpPr>
        <p:spPr>
          <a:xfrm>
            <a:off x="670560" y="5951945"/>
            <a:ext cx="11353800" cy="438075"/>
          </a:xfrm>
          <a:prstGeom prst="rect">
            <a:avLst/>
          </a:prstGeom>
          <a:noFill/>
          <a:ln/>
        </p:spPr>
        <p:txBody>
          <a:bodyPr wrap="square" lIns="0" tIns="0" rIns="0" bIns="0" numCol="2" rtlCol="0" anchor="t"/>
          <a:lstStyle/>
          <a:p>
            <a:pPr marL="177800" indent="-177800">
              <a:lnSpc>
                <a:spcPct val="106000"/>
              </a:lnSpc>
              <a:spcAft>
                <a:spcPts val="200"/>
              </a:spcAft>
              <a:buSzPct val="100000"/>
              <a:buChar char="▪"/>
            </a:pPr>
            <a:r>
              <a:rPr lang="pt-BR" sz="1200" noProof="0" dirty="0">
                <a:solidFill>
                  <a:srgbClr val="1B2A4A"/>
                </a:solidFill>
                <a:latin typeface="Calibri" pitchFamily="34" charset="0"/>
                <a:ea typeface="Calibri" pitchFamily="34" charset="-122"/>
                <a:cs typeface="Calibri" pitchFamily="34" charset="-120"/>
              </a:rPr>
              <a:t>O </a:t>
            </a:r>
            <a:r>
              <a:rPr lang="pt-BR" sz="1200" noProof="0" dirty="0">
                <a:solidFill>
                  <a:srgbClr val="2B2B2E"/>
                </a:solidFill>
                <a:latin typeface="Calibri" pitchFamily="34" charset="0"/>
                <a:ea typeface="Calibri" pitchFamily="34" charset="-122"/>
                <a:cs typeface="Calibri" pitchFamily="34" charset="-120"/>
              </a:rPr>
              <a:t>que representam r, p, q e d?</a:t>
            </a:r>
          </a:p>
          <a:p>
            <a:pPr marL="177800" indent="-177800">
              <a:lnSpc>
                <a:spcPct val="106000"/>
              </a:lnSpc>
              <a:spcAft>
                <a:spcPts val="200"/>
              </a:spcAft>
              <a:buSzPct val="100000"/>
              <a:buChar char="▪"/>
            </a:pPr>
            <a:r>
              <a:rPr lang="pt-BR" sz="1200" noProof="0" dirty="0">
                <a:solidFill>
                  <a:srgbClr val="2B2B2E"/>
                </a:solidFill>
                <a:latin typeface="Calibri" pitchFamily="34" charset="0"/>
                <a:ea typeface="Calibri" pitchFamily="34" charset="-122"/>
                <a:cs typeface="Calibri" pitchFamily="34" charset="-120"/>
              </a:rPr>
              <a:t>Qual versão exige menos contexto externo?</a:t>
            </a:r>
          </a:p>
          <a:p>
            <a:pPr marL="177800" indent="-177800">
              <a:lnSpc>
                <a:spcPct val="106000"/>
              </a:lnSpc>
              <a:spcAft>
                <a:spcPts val="200"/>
              </a:spcAft>
              <a:buSzPct val="100000"/>
              <a:buChar char="▪"/>
            </a:pPr>
            <a:r>
              <a:rPr lang="pt-BR" sz="1200" noProof="0" dirty="0">
                <a:solidFill>
                  <a:srgbClr val="2B2B2E"/>
                </a:solidFill>
                <a:latin typeface="Calibri" pitchFamily="34" charset="0"/>
                <a:ea typeface="Calibri" pitchFamily="34" charset="-122"/>
                <a:cs typeface="Calibri" pitchFamily="34" charset="-120"/>
              </a:rPr>
              <a:t>A segunda versão facilita localizar a regra?</a:t>
            </a:r>
          </a:p>
          <a:p>
            <a:pPr marL="177800" indent="-177800">
              <a:lnSpc>
                <a:spcPct val="106000"/>
              </a:lnSpc>
              <a:spcAft>
                <a:spcPts val="200"/>
              </a:spcAft>
              <a:buSzPct val="100000"/>
              <a:buChar char="▪"/>
            </a:pPr>
            <a:r>
              <a:rPr lang="pt-BR" sz="1200" noProof="0" dirty="0">
                <a:solidFill>
                  <a:srgbClr val="2B2B2E"/>
                </a:solidFill>
                <a:latin typeface="Calibri" pitchFamily="34" charset="0"/>
                <a:ea typeface="Calibri" pitchFamily="34" charset="-122"/>
                <a:cs typeface="Calibri" pitchFamily="34" charset="-120"/>
              </a:rPr>
              <a:t>O comportamento mudou ou somente a comunicação?</a:t>
            </a:r>
          </a:p>
        </p:txBody>
      </p:sp>
      <p:sp>
        <p:nvSpPr>
          <p:cNvPr id="23" name="Shape 21"/>
          <p:cNvSpPr/>
          <p:nvPr/>
        </p:nvSpPr>
        <p:spPr>
          <a:xfrm>
            <a:off x="6323076" y="2755210"/>
            <a:ext cx="5381244" cy="1077594"/>
          </a:xfrm>
          <a:prstGeom prst="roundRect">
            <a:avLst>
              <a:gd name="adj" fmla="val 3633"/>
            </a:avLst>
          </a:prstGeom>
          <a:solidFill>
            <a:srgbClr val="F6F5EF"/>
          </a:solidFill>
          <a:ln w="12700">
            <a:solidFill>
              <a:srgbClr val="C9CDD6"/>
            </a:solidFill>
            <a:prstDash val="solid"/>
          </a:ln>
        </p:spPr>
        <p:txBody>
          <a:bodyPr/>
          <a:lstStyle/>
          <a:p>
            <a:endParaRPr lang="pt-BR" noProof="0" dirty="0"/>
          </a:p>
        </p:txBody>
      </p:sp>
      <p:sp>
        <p:nvSpPr>
          <p:cNvPr id="24" name="Text 22"/>
          <p:cNvSpPr/>
          <p:nvPr/>
        </p:nvSpPr>
        <p:spPr>
          <a:xfrm>
            <a:off x="6483096" y="2755210"/>
            <a:ext cx="5120639" cy="1019925"/>
          </a:xfrm>
          <a:prstGeom prst="rect">
            <a:avLst/>
          </a:prstGeom>
          <a:noFill/>
          <a:ln/>
        </p:spPr>
        <p:txBody>
          <a:bodyPr wrap="square" lIns="0" tIns="0" rIns="0" bIns="0" rtlCol="0" anchor="ctr"/>
          <a:lstStyle/>
          <a:p>
            <a:pPr marL="0" indent="0">
              <a:lnSpc>
                <a:spcPct val="115000"/>
              </a:lnSpc>
              <a:buNone/>
            </a:pPr>
            <a:r>
              <a:rPr lang="pt-BR" sz="1200" b="1" noProof="0" dirty="0">
                <a:solidFill>
                  <a:srgbClr val="1B2A4A"/>
                </a:solidFill>
                <a:latin typeface="Calibri" pitchFamily="34" charset="0"/>
                <a:ea typeface="Calibri" pitchFamily="34" charset="-122"/>
                <a:cs typeface="Calibri" pitchFamily="34" charset="-120"/>
              </a:rPr>
              <a:t>Observação: </a:t>
            </a:r>
            <a:r>
              <a:rPr lang="pt-BR" sz="1200" noProof="0" dirty="0">
                <a:solidFill>
                  <a:srgbClr val="2B2B2E"/>
                </a:solidFill>
                <a:latin typeface="Calibri" pitchFamily="34" charset="0"/>
                <a:ea typeface="Calibri" pitchFamily="34" charset="-122"/>
                <a:cs typeface="Calibri" pitchFamily="34" charset="-120"/>
              </a:rPr>
              <a:t>Clean Code não é uma especificação formal. Suas </a:t>
            </a:r>
            <a:r>
              <a:rPr lang="pt-BR" sz="1200" u="sng" noProof="0" dirty="0">
                <a:solidFill>
                  <a:srgbClr val="2B2B2E"/>
                </a:solidFill>
                <a:latin typeface="Calibri" pitchFamily="34" charset="0"/>
                <a:ea typeface="Calibri" pitchFamily="34" charset="-122"/>
                <a:cs typeface="Calibri" pitchFamily="34" charset="-120"/>
              </a:rPr>
              <a:t>recomendações</a:t>
            </a:r>
            <a:r>
              <a:rPr lang="pt-BR" sz="1200" noProof="0" dirty="0">
                <a:solidFill>
                  <a:srgbClr val="2B2B2E"/>
                </a:solidFill>
                <a:latin typeface="Calibri" pitchFamily="34" charset="0"/>
                <a:ea typeface="Calibri" pitchFamily="34" charset="-122"/>
                <a:cs typeface="Calibri" pitchFamily="34" charset="-120"/>
              </a:rPr>
              <a:t> são heurísticas que dependem do domínio, da equipe e do risco da mudança.</a:t>
            </a:r>
            <a:endParaRPr lang="pt-BR" sz="1200" noProof="0" dirty="0"/>
          </a:p>
        </p:txBody>
      </p:sp>
      <p:sp>
        <p:nvSpPr>
          <p:cNvPr id="25" name="Shape 23"/>
          <p:cNvSpPr/>
          <p:nvPr/>
        </p:nvSpPr>
        <p:spPr>
          <a:xfrm>
            <a:off x="0" y="6528816"/>
            <a:ext cx="12188952" cy="329184"/>
          </a:xfrm>
          <a:prstGeom prst="rect">
            <a:avLst/>
          </a:prstGeom>
          <a:solidFill>
            <a:srgbClr val="1B2A4A"/>
          </a:solidFill>
          <a:ln/>
        </p:spPr>
        <p:txBody>
          <a:bodyPr/>
          <a:lstStyle/>
          <a:p>
            <a:endParaRPr lang="pt-BR" noProof="0" dirty="0"/>
          </a:p>
        </p:txBody>
      </p:sp>
      <p:sp>
        <p:nvSpPr>
          <p:cNvPr id="26" name="Text 24"/>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27" name="Text 25"/>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05 / 13</a:t>
            </a:r>
            <a:endParaRPr lang="pt-BR" sz="950" noProof="0" dirty="0"/>
          </a:p>
        </p:txBody>
      </p:sp>
      <p:grpSp>
        <p:nvGrpSpPr>
          <p:cNvPr id="30" name="Agrupar 29">
            <a:extLst>
              <a:ext uri="{FF2B5EF4-FFF2-40B4-BE49-F238E27FC236}">
                <a16:creationId xmlns:a16="http://schemas.microsoft.com/office/drawing/2014/main" id="{438DA4F3-9CFA-BAC3-641F-00DD07CDBB2A}"/>
              </a:ext>
            </a:extLst>
          </p:cNvPr>
          <p:cNvGrpSpPr/>
          <p:nvPr/>
        </p:nvGrpSpPr>
        <p:grpSpPr>
          <a:xfrm>
            <a:off x="278892" y="205740"/>
            <a:ext cx="566928" cy="566928"/>
            <a:chOff x="384048" y="290322"/>
            <a:chExt cx="566928" cy="566928"/>
          </a:xfrm>
        </p:grpSpPr>
        <p:sp>
          <p:nvSpPr>
            <p:cNvPr id="28" name="Shape 0">
              <a:extLst>
                <a:ext uri="{FF2B5EF4-FFF2-40B4-BE49-F238E27FC236}">
                  <a16:creationId xmlns:a16="http://schemas.microsoft.com/office/drawing/2014/main" id="{BF3DA88A-4632-D287-24F0-E2C5247BACA9}"/>
                </a:ext>
              </a:extLst>
            </p:cNvPr>
            <p:cNvSpPr/>
            <p:nvPr/>
          </p:nvSpPr>
          <p:spPr>
            <a:xfrm>
              <a:off x="457200" y="384048"/>
              <a:ext cx="429768" cy="388620"/>
            </a:xfrm>
            <a:prstGeom prst="ellipse">
              <a:avLst/>
            </a:prstGeom>
            <a:solidFill>
              <a:srgbClr val="C9A227"/>
            </a:solidFill>
            <a:ln w="12700">
              <a:noFill/>
              <a:prstDash val="solid"/>
            </a:ln>
          </p:spPr>
          <p:txBody>
            <a:bodyPr/>
            <a:lstStyle/>
            <a:p>
              <a:endParaRPr lang="pt-BR" noProof="0" dirty="0"/>
            </a:p>
          </p:txBody>
        </p:sp>
        <p:sp>
          <p:nvSpPr>
            <p:cNvPr id="29" name="Text 1">
              <a:extLst>
                <a:ext uri="{FF2B5EF4-FFF2-40B4-BE49-F238E27FC236}">
                  <a16:creationId xmlns:a16="http://schemas.microsoft.com/office/drawing/2014/main" id="{4AD74EDE-8665-D929-B539-6D1BDCE2804D}"/>
                </a:ext>
              </a:extLst>
            </p:cNvPr>
            <p:cNvSpPr/>
            <p:nvPr/>
          </p:nvSpPr>
          <p:spPr>
            <a:xfrm>
              <a:off x="384048" y="290322"/>
              <a:ext cx="566928" cy="566928"/>
            </a:xfrm>
            <a:prstGeom prst="rect">
              <a:avLst/>
            </a:prstGeom>
            <a:noFill/>
            <a:ln/>
          </p:spPr>
          <p:txBody>
            <a:bodyPr wrap="square" rtlCol="0" anchor="ctr"/>
            <a:lstStyle/>
            <a:p>
              <a:pPr marL="0" indent="0" algn="ctr">
                <a:buNone/>
              </a:pPr>
              <a:r>
                <a:rPr lang="pt-BR" sz="2000" b="1" noProof="0" dirty="0">
                  <a:solidFill>
                    <a:schemeClr val="bg1"/>
                  </a:solidFill>
                  <a:latin typeface="Tahoma" pitchFamily="34" charset="0"/>
                  <a:ea typeface="Tahoma" pitchFamily="34" charset="-122"/>
                  <a:cs typeface="Tahoma" pitchFamily="34" charset="-120"/>
                </a:rPr>
                <a:t>1</a:t>
              </a:r>
              <a:endParaRPr lang="pt-BR" sz="2000" noProof="0" dirty="0">
                <a:solidFill>
                  <a:schemeClr val="bg1"/>
                </a:solidFill>
              </a:endParaRPr>
            </a:p>
          </p:txBody>
        </p:sp>
      </p:grpSp>
      <p:sp>
        <p:nvSpPr>
          <p:cNvPr id="31" name="Shape 28">
            <a:extLst>
              <a:ext uri="{FF2B5EF4-FFF2-40B4-BE49-F238E27FC236}">
                <a16:creationId xmlns:a16="http://schemas.microsoft.com/office/drawing/2014/main" id="{B6F2351D-4BAC-99D5-5352-EF074EEEE42C}"/>
              </a:ext>
            </a:extLst>
          </p:cNvPr>
          <p:cNvSpPr/>
          <p:nvPr/>
        </p:nvSpPr>
        <p:spPr>
          <a:xfrm>
            <a:off x="502920" y="5728803"/>
            <a:ext cx="118872" cy="118872"/>
          </a:xfrm>
          <a:prstGeom prst="rect">
            <a:avLst/>
          </a:prstGeom>
          <a:solidFill>
            <a:srgbClr val="C9A227"/>
          </a:solidFill>
          <a:ln/>
        </p:spPr>
        <p:txBody>
          <a:bodyPr/>
          <a:lstStyle/>
          <a:p>
            <a:endParaRPr lang="pt-BR" noProof="0" dirty="0"/>
          </a:p>
        </p:txBody>
      </p:sp>
      <p:sp>
        <p:nvSpPr>
          <p:cNvPr id="32" name="Text 29">
            <a:extLst>
              <a:ext uri="{FF2B5EF4-FFF2-40B4-BE49-F238E27FC236}">
                <a16:creationId xmlns:a16="http://schemas.microsoft.com/office/drawing/2014/main" id="{9787B65E-5524-E252-170F-AF6FF1EA4DE5}"/>
              </a:ext>
            </a:extLst>
          </p:cNvPr>
          <p:cNvSpPr/>
          <p:nvPr/>
        </p:nvSpPr>
        <p:spPr>
          <a:xfrm>
            <a:off x="722376" y="5660223"/>
            <a:ext cx="10652760"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PERGUNTAS</a:t>
            </a:r>
            <a:endParaRPr lang="pt-BR" sz="1250" noProof="0" dirty="0"/>
          </a:p>
        </p:txBody>
      </p:sp>
      <p:grpSp>
        <p:nvGrpSpPr>
          <p:cNvPr id="33" name="Agrupar 32">
            <a:extLst>
              <a:ext uri="{FF2B5EF4-FFF2-40B4-BE49-F238E27FC236}">
                <a16:creationId xmlns:a16="http://schemas.microsoft.com/office/drawing/2014/main" id="{7BBCEE67-9226-62A4-3F5E-E6757D81C5DE}"/>
              </a:ext>
            </a:extLst>
          </p:cNvPr>
          <p:cNvGrpSpPr/>
          <p:nvPr/>
        </p:nvGrpSpPr>
        <p:grpSpPr>
          <a:xfrm>
            <a:off x="562356" y="762835"/>
            <a:ext cx="5542707" cy="1003510"/>
            <a:chOff x="502920" y="873151"/>
            <a:chExt cx="11201400" cy="625035"/>
          </a:xfrm>
        </p:grpSpPr>
        <p:sp>
          <p:nvSpPr>
            <p:cNvPr id="34" name="Shape 1">
              <a:extLst>
                <a:ext uri="{FF2B5EF4-FFF2-40B4-BE49-F238E27FC236}">
                  <a16:creationId xmlns:a16="http://schemas.microsoft.com/office/drawing/2014/main" id="{4B2AC7DA-50F4-D1FE-BA20-29C54AF0EFEE}"/>
                </a:ext>
              </a:extLst>
            </p:cNvPr>
            <p:cNvSpPr/>
            <p:nvPr/>
          </p:nvSpPr>
          <p:spPr>
            <a:xfrm>
              <a:off x="502920" y="903826"/>
              <a:ext cx="11201400" cy="594360"/>
            </a:xfrm>
            <a:prstGeom prst="roundRect">
              <a:avLst>
                <a:gd name="adj" fmla="val 7692"/>
              </a:avLst>
            </a:prstGeom>
            <a:solidFill>
              <a:srgbClr val="1B2A4A"/>
            </a:solidFill>
            <a:ln w="12700">
              <a:solidFill>
                <a:srgbClr val="1B2A4A"/>
              </a:solidFill>
              <a:prstDash val="solid"/>
            </a:ln>
          </p:spPr>
          <p:txBody>
            <a:bodyPr/>
            <a:lstStyle/>
            <a:p>
              <a:endParaRPr lang="pt-BR" noProof="0" dirty="0"/>
            </a:p>
          </p:txBody>
        </p:sp>
        <p:sp>
          <p:nvSpPr>
            <p:cNvPr id="36" name="Text 3">
              <a:extLst>
                <a:ext uri="{FF2B5EF4-FFF2-40B4-BE49-F238E27FC236}">
                  <a16:creationId xmlns:a16="http://schemas.microsoft.com/office/drawing/2014/main" id="{8A9A7628-79AE-2078-7665-B4DA06B7E014}"/>
                </a:ext>
              </a:extLst>
            </p:cNvPr>
            <p:cNvSpPr/>
            <p:nvPr/>
          </p:nvSpPr>
          <p:spPr>
            <a:xfrm>
              <a:off x="1030165" y="873151"/>
              <a:ext cx="10652759" cy="594360"/>
            </a:xfrm>
            <a:prstGeom prst="rect">
              <a:avLst/>
            </a:prstGeom>
            <a:noFill/>
            <a:ln/>
          </p:spPr>
          <p:txBody>
            <a:bodyPr wrap="square" lIns="0" tIns="0" rIns="0" bIns="0" rtlCol="0" anchor="ctr"/>
            <a:lstStyle/>
            <a:p>
              <a:pPr marL="0" indent="0">
                <a:lnSpc>
                  <a:spcPct val="110000"/>
                </a:lnSpc>
                <a:buNone/>
              </a:pPr>
              <a:r>
                <a:rPr lang="pt-BR" sz="1400" dirty="0">
                  <a:solidFill>
                    <a:schemeClr val="bg1"/>
                  </a:solidFill>
                  <a:latin typeface="Calibri" pitchFamily="34" charset="0"/>
                  <a:ea typeface="Calibri" pitchFamily="34" charset="-122"/>
                  <a:cs typeface="Calibri" pitchFamily="34" charset="-120"/>
                </a:rPr>
                <a:t>Clean Code: é um conjunto de princípios e práticas que busca reduzir o esforço necessário para compreender, verificar e modificar um software. </a:t>
              </a:r>
            </a:p>
          </p:txBody>
        </p:sp>
      </p:grpSp>
      <p:sp>
        <p:nvSpPr>
          <p:cNvPr id="37" name="Shape 2">
            <a:extLst>
              <a:ext uri="{FF2B5EF4-FFF2-40B4-BE49-F238E27FC236}">
                <a16:creationId xmlns:a16="http://schemas.microsoft.com/office/drawing/2014/main" id="{55A29F35-749C-D555-BF3C-08E506E53EC7}"/>
              </a:ext>
            </a:extLst>
          </p:cNvPr>
          <p:cNvSpPr/>
          <p:nvPr/>
        </p:nvSpPr>
        <p:spPr>
          <a:xfrm>
            <a:off x="555213" y="809243"/>
            <a:ext cx="64008" cy="966299"/>
          </a:xfrm>
          <a:prstGeom prst="rect">
            <a:avLst/>
          </a:prstGeom>
          <a:solidFill>
            <a:srgbClr val="C9A227"/>
          </a:solidFill>
          <a:ln/>
        </p:spPr>
        <p:txBody>
          <a:bodyPr/>
          <a:lstStyle/>
          <a:p>
            <a:endParaRPr lang="pt-BR"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39" name="Imagem 38">
            <a:extLst>
              <a:ext uri="{FF2B5EF4-FFF2-40B4-BE49-F238E27FC236}">
                <a16:creationId xmlns:a16="http://schemas.microsoft.com/office/drawing/2014/main" id="{E7C11E4D-4233-DAFE-41CE-32BE618EE9C9}"/>
              </a:ext>
            </a:extLst>
          </p:cNvPr>
          <p:cNvPicPr>
            <a:picLocks noChangeAspect="1"/>
          </p:cNvPicPr>
          <p:nvPr/>
        </p:nvPicPr>
        <p:blipFill>
          <a:blip r:embed="rId3"/>
          <a:stretch>
            <a:fillRect/>
          </a:stretch>
        </p:blipFill>
        <p:spPr>
          <a:xfrm>
            <a:off x="6172200" y="4632041"/>
            <a:ext cx="5450296" cy="676715"/>
          </a:xfrm>
          <a:prstGeom prst="rect">
            <a:avLst/>
          </a:prstGeom>
        </p:spPr>
      </p:pic>
      <p:pic>
        <p:nvPicPr>
          <p:cNvPr id="38" name="Imagem 37">
            <a:extLst>
              <a:ext uri="{FF2B5EF4-FFF2-40B4-BE49-F238E27FC236}">
                <a16:creationId xmlns:a16="http://schemas.microsoft.com/office/drawing/2014/main" id="{ECC37E75-CDA9-9DCA-5FFB-810A7B4E25E9}"/>
              </a:ext>
            </a:extLst>
          </p:cNvPr>
          <p:cNvPicPr>
            <a:picLocks noChangeAspect="1"/>
          </p:cNvPicPr>
          <p:nvPr/>
        </p:nvPicPr>
        <p:blipFill>
          <a:blip r:embed="rId3"/>
          <a:stretch>
            <a:fillRect/>
          </a:stretch>
        </p:blipFill>
        <p:spPr>
          <a:xfrm>
            <a:off x="493304" y="4634333"/>
            <a:ext cx="5252177" cy="676715"/>
          </a:xfrm>
          <a:prstGeom prst="rect">
            <a:avLst/>
          </a:prstGeom>
        </p:spPr>
      </p:pic>
      <p:pic>
        <p:nvPicPr>
          <p:cNvPr id="37" name="Imagem 36">
            <a:extLst>
              <a:ext uri="{FF2B5EF4-FFF2-40B4-BE49-F238E27FC236}">
                <a16:creationId xmlns:a16="http://schemas.microsoft.com/office/drawing/2014/main" id="{909F309E-49CE-EDBF-FC34-40B2E3B69FB6}"/>
              </a:ext>
            </a:extLst>
          </p:cNvPr>
          <p:cNvPicPr>
            <a:picLocks noChangeAspect="1"/>
          </p:cNvPicPr>
          <p:nvPr/>
        </p:nvPicPr>
        <p:blipFill>
          <a:blip r:embed="rId3"/>
          <a:stretch>
            <a:fillRect/>
          </a:stretch>
        </p:blipFill>
        <p:spPr>
          <a:xfrm>
            <a:off x="6162584" y="3581793"/>
            <a:ext cx="5450296" cy="676715"/>
          </a:xfrm>
          <a:prstGeom prst="rect">
            <a:avLst/>
          </a:prstGeom>
        </p:spPr>
      </p:pic>
      <p:sp>
        <p:nvSpPr>
          <p:cNvPr id="36" name="Shape 10">
            <a:extLst>
              <a:ext uri="{FF2B5EF4-FFF2-40B4-BE49-F238E27FC236}">
                <a16:creationId xmlns:a16="http://schemas.microsoft.com/office/drawing/2014/main" id="{84A4165E-0C24-1026-B399-FC4852C667A1}"/>
              </a:ext>
            </a:extLst>
          </p:cNvPr>
          <p:cNvSpPr/>
          <p:nvPr/>
        </p:nvSpPr>
        <p:spPr>
          <a:xfrm>
            <a:off x="6172200" y="2598759"/>
            <a:ext cx="5440680" cy="659387"/>
          </a:xfrm>
          <a:prstGeom prst="roundRect">
            <a:avLst>
              <a:gd name="adj" fmla="val 7258"/>
            </a:avLst>
          </a:prstGeom>
          <a:solidFill>
            <a:srgbClr val="F2F2F3"/>
          </a:solidFill>
          <a:ln w="12700">
            <a:solidFill>
              <a:srgbClr val="D7DAE0"/>
            </a:solidFill>
            <a:prstDash val="solid"/>
          </a:ln>
        </p:spPr>
        <p:txBody>
          <a:bodyPr/>
          <a:lstStyle/>
          <a:p>
            <a:endParaRPr lang="pt-BR" sz="1200" noProof="0" dirty="0"/>
          </a:p>
        </p:txBody>
      </p:sp>
      <p:sp>
        <p:nvSpPr>
          <p:cNvPr id="2" name="Text 0"/>
          <p:cNvSpPr/>
          <p:nvPr/>
        </p:nvSpPr>
        <p:spPr>
          <a:xfrm>
            <a:off x="824657" y="292608"/>
            <a:ext cx="11155680" cy="566928"/>
          </a:xfrm>
          <a:prstGeom prst="rect">
            <a:avLst/>
          </a:prstGeom>
          <a:noFill/>
          <a:ln/>
        </p:spPr>
        <p:txBody>
          <a:bodyPr wrap="square" lIns="0" tIns="0" rIns="0" bIns="0" rtlCol="0" anchor="t"/>
          <a:lstStyle/>
          <a:p>
            <a:pPr marL="0" indent="0">
              <a:buNone/>
            </a:pPr>
            <a:r>
              <a:rPr lang="pt-BR" sz="2700" b="1" noProof="0" dirty="0">
                <a:solidFill>
                  <a:srgbClr val="1B2A4A"/>
                </a:solidFill>
                <a:latin typeface="Cambria" pitchFamily="34" charset="0"/>
                <a:ea typeface="Cambria" pitchFamily="34" charset="-122"/>
                <a:cs typeface="Cambria" pitchFamily="34" charset="-120"/>
              </a:rPr>
              <a:t>Clean Code: Nomes Significativos</a:t>
            </a:r>
            <a:endParaRPr lang="pt-BR" sz="2700" noProof="0" dirty="0"/>
          </a:p>
        </p:txBody>
      </p:sp>
      <p:sp>
        <p:nvSpPr>
          <p:cNvPr id="3" name="Shape 1"/>
          <p:cNvSpPr/>
          <p:nvPr/>
        </p:nvSpPr>
        <p:spPr>
          <a:xfrm>
            <a:off x="502920" y="955548"/>
            <a:ext cx="118872" cy="118872"/>
          </a:xfrm>
          <a:prstGeom prst="rect">
            <a:avLst/>
          </a:prstGeom>
          <a:solidFill>
            <a:srgbClr val="C9A227"/>
          </a:solidFill>
          <a:ln/>
        </p:spPr>
        <p:txBody>
          <a:bodyPr/>
          <a:lstStyle/>
          <a:p>
            <a:endParaRPr lang="pt-BR" noProof="0" dirty="0"/>
          </a:p>
        </p:txBody>
      </p:sp>
      <p:sp>
        <p:nvSpPr>
          <p:cNvPr id="4" name="Text 2"/>
          <p:cNvSpPr/>
          <p:nvPr/>
        </p:nvSpPr>
        <p:spPr>
          <a:xfrm>
            <a:off x="722376" y="886968"/>
            <a:ext cx="512978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DEFINIÇÃO</a:t>
            </a:r>
            <a:endParaRPr lang="pt-BR" sz="1250" noProof="0" dirty="0"/>
          </a:p>
        </p:txBody>
      </p:sp>
      <p:sp>
        <p:nvSpPr>
          <p:cNvPr id="5" name="Text 3"/>
          <p:cNvSpPr/>
          <p:nvPr/>
        </p:nvSpPr>
        <p:spPr>
          <a:xfrm>
            <a:off x="502920" y="1225296"/>
            <a:ext cx="5486400" cy="502920"/>
          </a:xfrm>
          <a:prstGeom prst="rect">
            <a:avLst/>
          </a:prstGeom>
          <a:noFill/>
          <a:ln/>
        </p:spPr>
        <p:txBody>
          <a:bodyPr wrap="square" lIns="0" tIns="0" rIns="0" bIns="0" rtlCol="0" anchor="ctr"/>
          <a:lstStyle/>
          <a:p>
            <a:pPr marL="0" indent="0">
              <a:lnSpc>
                <a:spcPct val="110000"/>
              </a:lnSpc>
              <a:buNone/>
            </a:pPr>
            <a:r>
              <a:rPr lang="pt-BR" sz="1400" noProof="0" dirty="0">
                <a:solidFill>
                  <a:srgbClr val="2B2B2E"/>
                </a:solidFill>
                <a:latin typeface="Calibri" pitchFamily="34" charset="0"/>
                <a:ea typeface="Calibri" pitchFamily="34" charset="-122"/>
                <a:cs typeface="Calibri" pitchFamily="34" charset="-120"/>
              </a:rPr>
              <a:t>Um nome significativo revela a intenção, o papel e o contexto do elemento que representa.</a:t>
            </a:r>
          </a:p>
        </p:txBody>
      </p:sp>
      <p:sp>
        <p:nvSpPr>
          <p:cNvPr id="6" name="Shape 4"/>
          <p:cNvSpPr/>
          <p:nvPr/>
        </p:nvSpPr>
        <p:spPr>
          <a:xfrm>
            <a:off x="502920" y="1915331"/>
            <a:ext cx="118872" cy="118872"/>
          </a:xfrm>
          <a:prstGeom prst="rect">
            <a:avLst/>
          </a:prstGeom>
          <a:solidFill>
            <a:srgbClr val="C9A227"/>
          </a:solidFill>
          <a:ln/>
        </p:spPr>
        <p:txBody>
          <a:bodyPr/>
          <a:lstStyle/>
          <a:p>
            <a:endParaRPr lang="pt-BR" noProof="0" dirty="0"/>
          </a:p>
        </p:txBody>
      </p:sp>
      <p:sp>
        <p:nvSpPr>
          <p:cNvPr id="7" name="Text 5"/>
          <p:cNvSpPr/>
          <p:nvPr/>
        </p:nvSpPr>
        <p:spPr>
          <a:xfrm>
            <a:off x="722376" y="1846751"/>
            <a:ext cx="512978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CRITÉRIOS</a:t>
            </a:r>
            <a:endParaRPr lang="pt-BR" sz="1250" noProof="0" dirty="0"/>
          </a:p>
        </p:txBody>
      </p:sp>
      <p:sp>
        <p:nvSpPr>
          <p:cNvPr id="8" name="Text 6"/>
          <p:cNvSpPr/>
          <p:nvPr/>
        </p:nvSpPr>
        <p:spPr>
          <a:xfrm>
            <a:off x="502920" y="2152565"/>
            <a:ext cx="5349240" cy="1627632"/>
          </a:xfrm>
          <a:prstGeom prst="rect">
            <a:avLst/>
          </a:prstGeom>
          <a:noFill/>
          <a:ln/>
        </p:spPr>
        <p:txBody>
          <a:bodyPr wrap="square" lIns="0" tIns="0" rIns="0" bIns="0" rtlCol="0" anchor="t"/>
          <a:lstStyle/>
          <a:p>
            <a:pPr marL="177800" indent="-177800">
              <a:lnSpc>
                <a:spcPct val="106000"/>
              </a:lnSpc>
              <a:spcAft>
                <a:spcPts val="350"/>
              </a:spcAft>
              <a:buSzPct val="100000"/>
              <a:buChar char="▪"/>
            </a:pPr>
            <a:r>
              <a:rPr lang="pt-BR" sz="1400" noProof="0" dirty="0">
                <a:solidFill>
                  <a:srgbClr val="2B2B2E"/>
                </a:solidFill>
                <a:latin typeface="Calibri" pitchFamily="34" charset="0"/>
                <a:ea typeface="Calibri" pitchFamily="34" charset="-122"/>
                <a:cs typeface="Calibri" pitchFamily="34" charset="-120"/>
              </a:rPr>
              <a:t>Revelar o propósito</a:t>
            </a:r>
          </a:p>
          <a:p>
            <a:pPr marL="177800" indent="-177800">
              <a:lnSpc>
                <a:spcPct val="106000"/>
              </a:lnSpc>
              <a:spcAft>
                <a:spcPts val="350"/>
              </a:spcAft>
              <a:buSzPct val="100000"/>
              <a:buChar char="▪"/>
            </a:pPr>
            <a:r>
              <a:rPr lang="pt-BR" sz="1400" noProof="0" dirty="0">
                <a:solidFill>
                  <a:srgbClr val="2B2B2E"/>
                </a:solidFill>
                <a:latin typeface="Calibri" pitchFamily="34" charset="0"/>
                <a:ea typeface="Calibri" pitchFamily="34" charset="-122"/>
                <a:cs typeface="Calibri" pitchFamily="34" charset="-120"/>
              </a:rPr>
              <a:t>Usar vocabulário do domínio</a:t>
            </a:r>
          </a:p>
          <a:p>
            <a:pPr marL="177800" indent="-177800">
              <a:lnSpc>
                <a:spcPct val="106000"/>
              </a:lnSpc>
              <a:spcAft>
                <a:spcPts val="350"/>
              </a:spcAft>
              <a:buSzPct val="100000"/>
              <a:buChar char="▪"/>
            </a:pPr>
            <a:r>
              <a:rPr lang="pt-BR" sz="1400" noProof="0" dirty="0">
                <a:solidFill>
                  <a:srgbClr val="2B2B2E"/>
                </a:solidFill>
                <a:latin typeface="Calibri" pitchFamily="34" charset="0"/>
                <a:ea typeface="Calibri" pitchFamily="34" charset="-122"/>
                <a:cs typeface="Calibri" pitchFamily="34" charset="-120"/>
              </a:rPr>
              <a:t>Ser pronunciável</a:t>
            </a:r>
          </a:p>
          <a:p>
            <a:pPr marL="177800" indent="-177800">
              <a:lnSpc>
                <a:spcPct val="106000"/>
              </a:lnSpc>
              <a:spcAft>
                <a:spcPts val="350"/>
              </a:spcAft>
              <a:buSzPct val="100000"/>
              <a:buChar char="▪"/>
            </a:pPr>
            <a:r>
              <a:rPr lang="pt-BR" sz="1400" noProof="0" dirty="0">
                <a:solidFill>
                  <a:srgbClr val="2B2B2E"/>
                </a:solidFill>
                <a:latin typeface="Calibri" pitchFamily="34" charset="0"/>
                <a:ea typeface="Calibri" pitchFamily="34" charset="-122"/>
                <a:cs typeface="Calibri" pitchFamily="34" charset="-120"/>
              </a:rPr>
              <a:t>Ser pesquisável</a:t>
            </a:r>
          </a:p>
          <a:p>
            <a:pPr marL="177800" indent="-177800">
              <a:lnSpc>
                <a:spcPct val="106000"/>
              </a:lnSpc>
              <a:spcAft>
                <a:spcPts val="350"/>
              </a:spcAft>
              <a:buSzPct val="100000"/>
              <a:buChar char="▪"/>
            </a:pPr>
            <a:r>
              <a:rPr lang="pt-BR" sz="1400" noProof="0" dirty="0">
                <a:solidFill>
                  <a:srgbClr val="2B2B2E"/>
                </a:solidFill>
                <a:latin typeface="Calibri" pitchFamily="34" charset="0"/>
                <a:ea typeface="Calibri" pitchFamily="34" charset="-122"/>
                <a:cs typeface="Calibri" pitchFamily="34" charset="-120"/>
              </a:rPr>
              <a:t>Evitar abreviações obscuras</a:t>
            </a:r>
          </a:p>
          <a:p>
            <a:pPr marL="177800" indent="-177800">
              <a:lnSpc>
                <a:spcPct val="106000"/>
              </a:lnSpc>
              <a:spcAft>
                <a:spcPts val="350"/>
              </a:spcAft>
              <a:buSzPct val="100000"/>
              <a:buChar char="▪"/>
            </a:pPr>
            <a:r>
              <a:rPr lang="pt-BR" sz="1400" noProof="0" dirty="0">
                <a:solidFill>
                  <a:srgbClr val="2B2B2E"/>
                </a:solidFill>
                <a:latin typeface="Calibri" pitchFamily="34" charset="0"/>
                <a:ea typeface="Calibri" pitchFamily="34" charset="-122"/>
                <a:cs typeface="Calibri" pitchFamily="34" charset="-120"/>
              </a:rPr>
              <a:t>Manter consistência</a:t>
            </a:r>
          </a:p>
        </p:txBody>
      </p:sp>
      <p:sp>
        <p:nvSpPr>
          <p:cNvPr id="9" name="Shape 7"/>
          <p:cNvSpPr/>
          <p:nvPr/>
        </p:nvSpPr>
        <p:spPr>
          <a:xfrm>
            <a:off x="6172200" y="955548"/>
            <a:ext cx="118872" cy="118872"/>
          </a:xfrm>
          <a:prstGeom prst="rect">
            <a:avLst/>
          </a:prstGeom>
          <a:solidFill>
            <a:srgbClr val="C9A227"/>
          </a:solidFill>
          <a:ln/>
        </p:spPr>
        <p:txBody>
          <a:bodyPr/>
          <a:lstStyle/>
          <a:p>
            <a:endParaRPr lang="pt-BR" noProof="0" dirty="0"/>
          </a:p>
        </p:txBody>
      </p:sp>
      <p:sp>
        <p:nvSpPr>
          <p:cNvPr id="10" name="Text 8"/>
          <p:cNvSpPr/>
          <p:nvPr/>
        </p:nvSpPr>
        <p:spPr>
          <a:xfrm>
            <a:off x="6391656" y="886968"/>
            <a:ext cx="522122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CONVENÇÕES SEMÂNTICAS EM JAVA</a:t>
            </a:r>
            <a:endParaRPr lang="pt-BR" sz="1250" noProof="0" dirty="0"/>
          </a:p>
        </p:txBody>
      </p:sp>
      <p:sp>
        <p:nvSpPr>
          <p:cNvPr id="11" name="Text 9"/>
          <p:cNvSpPr/>
          <p:nvPr/>
        </p:nvSpPr>
        <p:spPr>
          <a:xfrm>
            <a:off x="6172200" y="1221233"/>
            <a:ext cx="5440680" cy="256032"/>
          </a:xfrm>
          <a:prstGeom prst="rect">
            <a:avLst/>
          </a:prstGeom>
          <a:noFill/>
          <a:ln/>
        </p:spPr>
        <p:txBody>
          <a:bodyPr wrap="square" lIns="0" tIns="0" rIns="0" bIns="0" rtlCol="0" anchor="ctr"/>
          <a:lstStyle/>
          <a:p>
            <a:pPr marL="0" indent="0">
              <a:buNone/>
            </a:pPr>
            <a:r>
              <a:rPr lang="pt-BR" sz="1200" b="1" noProof="0" dirty="0">
                <a:solidFill>
                  <a:srgbClr val="1B2A4A"/>
                </a:solidFill>
                <a:latin typeface="Calibri" pitchFamily="34" charset="0"/>
                <a:ea typeface="Calibri" pitchFamily="34" charset="-122"/>
                <a:cs typeface="Calibri" pitchFamily="34" charset="-120"/>
              </a:rPr>
              <a:t>Classes e objetos — substantivos ou expressões nominais</a:t>
            </a:r>
            <a:endParaRPr lang="pt-BR" sz="1200" noProof="0" dirty="0"/>
          </a:p>
        </p:txBody>
      </p:sp>
      <p:sp>
        <p:nvSpPr>
          <p:cNvPr id="12" name="Shape 10"/>
          <p:cNvSpPr/>
          <p:nvPr/>
        </p:nvSpPr>
        <p:spPr>
          <a:xfrm>
            <a:off x="6172200" y="1599182"/>
            <a:ext cx="5440680" cy="659387"/>
          </a:xfrm>
          <a:prstGeom prst="roundRect">
            <a:avLst>
              <a:gd name="adj" fmla="val 7258"/>
            </a:avLst>
          </a:prstGeom>
          <a:solidFill>
            <a:srgbClr val="F2F2F3"/>
          </a:solidFill>
          <a:ln w="12700">
            <a:solidFill>
              <a:srgbClr val="D7DAE0"/>
            </a:solidFill>
            <a:prstDash val="solid"/>
          </a:ln>
        </p:spPr>
        <p:txBody>
          <a:bodyPr/>
          <a:lstStyle/>
          <a:p>
            <a:endParaRPr lang="pt-BR" sz="1200" noProof="0" dirty="0"/>
          </a:p>
        </p:txBody>
      </p:sp>
      <p:sp>
        <p:nvSpPr>
          <p:cNvPr id="13" name="Text 11"/>
          <p:cNvSpPr/>
          <p:nvPr/>
        </p:nvSpPr>
        <p:spPr>
          <a:xfrm>
            <a:off x="6355080" y="1688593"/>
            <a:ext cx="5074920" cy="420624"/>
          </a:xfrm>
          <a:prstGeom prst="rect">
            <a:avLst/>
          </a:prstGeom>
          <a:noFill/>
          <a:ln/>
        </p:spPr>
        <p:txBody>
          <a:bodyPr wrap="square" lIns="0" tIns="0" rIns="0" bIns="0" rtlCol="0" anchor="ctr"/>
          <a:lstStyle/>
          <a:p>
            <a:pPr marL="0" indent="0">
              <a:lnSpc>
                <a:spcPct val="118000"/>
              </a:lnSpc>
              <a:buNone/>
            </a:pPr>
            <a:r>
              <a:rPr lang="pt-BR" sz="1200" noProof="0" dirty="0">
                <a:solidFill>
                  <a:srgbClr val="1B2A4A"/>
                </a:solidFill>
                <a:latin typeface="Courier New" pitchFamily="34" charset="0"/>
                <a:ea typeface="Courier New" pitchFamily="34" charset="-122"/>
                <a:cs typeface="Courier New" pitchFamily="34" charset="-120"/>
              </a:rPr>
              <a:t>Pedido</a:t>
            </a:r>
            <a:endParaRPr lang="pt-BR" sz="1200" noProof="0" dirty="0"/>
          </a:p>
          <a:p>
            <a:pPr marL="0" indent="0">
              <a:lnSpc>
                <a:spcPct val="118000"/>
              </a:lnSpc>
              <a:buNone/>
            </a:pPr>
            <a:r>
              <a:rPr lang="pt-BR" sz="1200" noProof="0" dirty="0">
                <a:solidFill>
                  <a:srgbClr val="1B2A4A"/>
                </a:solidFill>
                <a:latin typeface="Courier New" pitchFamily="34" charset="0"/>
                <a:ea typeface="Courier New" pitchFamily="34" charset="-122"/>
                <a:cs typeface="Courier New" pitchFamily="34" charset="-120"/>
              </a:rPr>
              <a:t>Cliente</a:t>
            </a:r>
            <a:endParaRPr lang="pt-BR" sz="1200" noProof="0" dirty="0"/>
          </a:p>
          <a:p>
            <a:pPr marL="0" indent="0">
              <a:lnSpc>
                <a:spcPct val="118000"/>
              </a:lnSpc>
              <a:buNone/>
            </a:pPr>
            <a:r>
              <a:rPr lang="pt-BR" sz="1200" noProof="0" dirty="0" err="1">
                <a:solidFill>
                  <a:srgbClr val="1B2A4A"/>
                </a:solidFill>
                <a:latin typeface="Courier New" pitchFamily="34" charset="0"/>
                <a:ea typeface="Courier New" pitchFamily="34" charset="-122"/>
                <a:cs typeface="Courier New" pitchFamily="34" charset="-120"/>
              </a:rPr>
              <a:t>CalculadoraDeFrete</a:t>
            </a:r>
            <a:endParaRPr lang="pt-BR" sz="1200" noProof="0" dirty="0"/>
          </a:p>
        </p:txBody>
      </p:sp>
      <p:sp>
        <p:nvSpPr>
          <p:cNvPr id="14" name="Text 12"/>
          <p:cNvSpPr/>
          <p:nvPr/>
        </p:nvSpPr>
        <p:spPr>
          <a:xfrm>
            <a:off x="6172200" y="2336126"/>
            <a:ext cx="5440680" cy="256032"/>
          </a:xfrm>
          <a:prstGeom prst="rect">
            <a:avLst/>
          </a:prstGeom>
          <a:noFill/>
          <a:ln/>
        </p:spPr>
        <p:txBody>
          <a:bodyPr wrap="square" lIns="0" tIns="0" rIns="0" bIns="0" rtlCol="0" anchor="ctr"/>
          <a:lstStyle/>
          <a:p>
            <a:pPr marL="0" indent="0">
              <a:buNone/>
            </a:pPr>
            <a:r>
              <a:rPr lang="pt-BR" sz="1200" b="1" noProof="0" dirty="0">
                <a:solidFill>
                  <a:srgbClr val="1B2A4A"/>
                </a:solidFill>
                <a:latin typeface="Calibri" pitchFamily="34" charset="0"/>
                <a:ea typeface="Calibri" pitchFamily="34" charset="-122"/>
                <a:cs typeface="Calibri" pitchFamily="34" charset="-120"/>
              </a:rPr>
              <a:t>Métodos — verbos ou expressões verbais</a:t>
            </a:r>
            <a:endParaRPr lang="pt-BR" sz="1200" noProof="0" dirty="0"/>
          </a:p>
        </p:txBody>
      </p:sp>
      <p:sp>
        <p:nvSpPr>
          <p:cNvPr id="16" name="Text 14"/>
          <p:cNvSpPr/>
          <p:nvPr/>
        </p:nvSpPr>
        <p:spPr>
          <a:xfrm>
            <a:off x="6355080" y="2701886"/>
            <a:ext cx="5074920" cy="420624"/>
          </a:xfrm>
          <a:prstGeom prst="rect">
            <a:avLst/>
          </a:prstGeom>
          <a:noFill/>
          <a:ln/>
        </p:spPr>
        <p:txBody>
          <a:bodyPr wrap="square" lIns="0" tIns="0" rIns="0" bIns="0" rtlCol="0" anchor="ctr"/>
          <a:lstStyle/>
          <a:p>
            <a:pPr marL="0" indent="0">
              <a:lnSpc>
                <a:spcPct val="118000"/>
              </a:lnSpc>
              <a:buNone/>
            </a:pPr>
            <a:r>
              <a:rPr lang="pt-BR" sz="1200" noProof="0" dirty="0">
                <a:solidFill>
                  <a:srgbClr val="1B2A4A"/>
                </a:solidFill>
                <a:latin typeface="Courier New" pitchFamily="34" charset="0"/>
                <a:ea typeface="Courier New" pitchFamily="34" charset="-122"/>
                <a:cs typeface="Courier New" pitchFamily="34" charset="-120"/>
              </a:rPr>
              <a:t>confirmar()</a:t>
            </a:r>
            <a:endParaRPr lang="pt-BR" sz="1200" noProof="0" dirty="0"/>
          </a:p>
          <a:p>
            <a:pPr marL="0" indent="0">
              <a:lnSpc>
                <a:spcPct val="118000"/>
              </a:lnSpc>
              <a:buNone/>
            </a:pPr>
            <a:r>
              <a:rPr lang="pt-BR" sz="1200" noProof="0" dirty="0" err="1">
                <a:solidFill>
                  <a:srgbClr val="1B2A4A"/>
                </a:solidFill>
                <a:latin typeface="Courier New" pitchFamily="34" charset="0"/>
                <a:ea typeface="Courier New" pitchFamily="34" charset="-122"/>
                <a:cs typeface="Courier New" pitchFamily="34" charset="-120"/>
              </a:rPr>
              <a:t>calcularTotal</a:t>
            </a:r>
            <a:r>
              <a:rPr lang="pt-BR" sz="1200" noProof="0" dirty="0">
                <a:solidFill>
                  <a:srgbClr val="1B2A4A"/>
                </a:solidFill>
                <a:latin typeface="Courier New" pitchFamily="34" charset="0"/>
                <a:ea typeface="Courier New" pitchFamily="34" charset="-122"/>
                <a:cs typeface="Courier New" pitchFamily="34" charset="-120"/>
              </a:rPr>
              <a:t>()</a:t>
            </a:r>
            <a:endParaRPr lang="pt-BR" sz="1200" noProof="0" dirty="0"/>
          </a:p>
          <a:p>
            <a:pPr marL="0" indent="0">
              <a:lnSpc>
                <a:spcPct val="118000"/>
              </a:lnSpc>
              <a:buNone/>
            </a:pPr>
            <a:r>
              <a:rPr lang="pt-BR" sz="1200" noProof="0" dirty="0" err="1">
                <a:solidFill>
                  <a:srgbClr val="1B2A4A"/>
                </a:solidFill>
                <a:latin typeface="Courier New" pitchFamily="34" charset="0"/>
                <a:ea typeface="Courier New" pitchFamily="34" charset="-122"/>
                <a:cs typeface="Courier New" pitchFamily="34" charset="-120"/>
              </a:rPr>
              <a:t>podeReceberDesconto</a:t>
            </a:r>
            <a:r>
              <a:rPr lang="pt-BR" sz="1200" noProof="0" dirty="0">
                <a:solidFill>
                  <a:srgbClr val="1B2A4A"/>
                </a:solidFill>
                <a:latin typeface="Courier New" pitchFamily="34" charset="0"/>
                <a:ea typeface="Courier New" pitchFamily="34" charset="-122"/>
                <a:cs typeface="Courier New" pitchFamily="34" charset="-120"/>
              </a:rPr>
              <a:t>()</a:t>
            </a:r>
            <a:endParaRPr lang="pt-BR" sz="1200" noProof="0" dirty="0"/>
          </a:p>
        </p:txBody>
      </p:sp>
      <p:sp>
        <p:nvSpPr>
          <p:cNvPr id="17" name="Text 15"/>
          <p:cNvSpPr/>
          <p:nvPr/>
        </p:nvSpPr>
        <p:spPr>
          <a:xfrm>
            <a:off x="6172200" y="3273213"/>
            <a:ext cx="5440680" cy="256032"/>
          </a:xfrm>
          <a:prstGeom prst="rect">
            <a:avLst/>
          </a:prstGeom>
          <a:noFill/>
          <a:ln/>
        </p:spPr>
        <p:txBody>
          <a:bodyPr wrap="square" lIns="0" tIns="0" rIns="0" bIns="0" rtlCol="0" anchor="ctr"/>
          <a:lstStyle/>
          <a:p>
            <a:pPr marL="0" indent="0">
              <a:buNone/>
            </a:pPr>
            <a:r>
              <a:rPr lang="pt-BR" sz="1200" b="1" noProof="0" dirty="0">
                <a:solidFill>
                  <a:srgbClr val="1B2A4A"/>
                </a:solidFill>
                <a:latin typeface="Calibri" pitchFamily="34" charset="0"/>
                <a:ea typeface="Calibri" pitchFamily="34" charset="-122"/>
                <a:cs typeface="Calibri" pitchFamily="34" charset="-120"/>
              </a:rPr>
              <a:t>Booleanos — perguntas ou estados</a:t>
            </a:r>
            <a:endParaRPr lang="pt-BR" sz="1200" noProof="0" dirty="0"/>
          </a:p>
        </p:txBody>
      </p:sp>
      <p:sp>
        <p:nvSpPr>
          <p:cNvPr id="19" name="Text 17"/>
          <p:cNvSpPr/>
          <p:nvPr/>
        </p:nvSpPr>
        <p:spPr>
          <a:xfrm>
            <a:off x="6355080" y="3672841"/>
            <a:ext cx="5074920" cy="420624"/>
          </a:xfrm>
          <a:prstGeom prst="rect">
            <a:avLst/>
          </a:prstGeom>
          <a:noFill/>
          <a:ln/>
        </p:spPr>
        <p:txBody>
          <a:bodyPr wrap="square" lIns="0" tIns="0" rIns="0" bIns="0" rtlCol="0" anchor="ctr"/>
          <a:lstStyle/>
          <a:p>
            <a:pPr marL="0" indent="0">
              <a:lnSpc>
                <a:spcPct val="118000"/>
              </a:lnSpc>
              <a:buNone/>
            </a:pPr>
            <a:r>
              <a:rPr lang="pt-BR" sz="1200" noProof="0" dirty="0" err="1">
                <a:solidFill>
                  <a:srgbClr val="1B2A4A"/>
                </a:solidFill>
                <a:latin typeface="Courier New" pitchFamily="34" charset="0"/>
                <a:ea typeface="Courier New" pitchFamily="34" charset="-122"/>
                <a:cs typeface="Courier New" pitchFamily="34" charset="-120"/>
              </a:rPr>
              <a:t>estaPago</a:t>
            </a:r>
            <a:endParaRPr lang="pt-BR" sz="1200" noProof="0" dirty="0"/>
          </a:p>
          <a:p>
            <a:pPr marL="0" indent="0">
              <a:lnSpc>
                <a:spcPct val="118000"/>
              </a:lnSpc>
              <a:buNone/>
            </a:pPr>
            <a:r>
              <a:rPr lang="pt-BR" sz="1200" noProof="0" dirty="0" err="1">
                <a:solidFill>
                  <a:srgbClr val="1B2A4A"/>
                </a:solidFill>
                <a:latin typeface="Courier New" pitchFamily="34" charset="0"/>
                <a:ea typeface="Courier New" pitchFamily="34" charset="-122"/>
                <a:cs typeface="Courier New" pitchFamily="34" charset="-120"/>
              </a:rPr>
              <a:t>possuiEstoque</a:t>
            </a:r>
            <a:endParaRPr lang="pt-BR" sz="1200" noProof="0" dirty="0"/>
          </a:p>
          <a:p>
            <a:pPr marL="0" indent="0">
              <a:lnSpc>
                <a:spcPct val="118000"/>
              </a:lnSpc>
              <a:buNone/>
            </a:pPr>
            <a:r>
              <a:rPr lang="pt-BR" sz="1200" noProof="0" dirty="0" err="1">
                <a:solidFill>
                  <a:srgbClr val="1B2A4A"/>
                </a:solidFill>
                <a:latin typeface="Courier New" pitchFamily="34" charset="0"/>
                <a:ea typeface="Courier New" pitchFamily="34" charset="-122"/>
                <a:cs typeface="Courier New" pitchFamily="34" charset="-120"/>
              </a:rPr>
              <a:t>podeConfirmar</a:t>
            </a:r>
            <a:r>
              <a:rPr lang="pt-BR" sz="1200" noProof="0" dirty="0">
                <a:solidFill>
                  <a:srgbClr val="1B2A4A"/>
                </a:solidFill>
                <a:latin typeface="Courier New" pitchFamily="34" charset="0"/>
                <a:ea typeface="Courier New" pitchFamily="34" charset="-122"/>
                <a:cs typeface="Courier New" pitchFamily="34" charset="-120"/>
              </a:rPr>
              <a:t>()</a:t>
            </a:r>
            <a:endParaRPr lang="pt-BR" sz="1200" noProof="0" dirty="0"/>
          </a:p>
        </p:txBody>
      </p:sp>
      <p:sp>
        <p:nvSpPr>
          <p:cNvPr id="20" name="Shape 18"/>
          <p:cNvSpPr/>
          <p:nvPr/>
        </p:nvSpPr>
        <p:spPr>
          <a:xfrm>
            <a:off x="502920" y="4151205"/>
            <a:ext cx="118872" cy="118872"/>
          </a:xfrm>
          <a:prstGeom prst="rect">
            <a:avLst/>
          </a:prstGeom>
          <a:solidFill>
            <a:srgbClr val="C9A227"/>
          </a:solidFill>
          <a:ln/>
        </p:spPr>
        <p:txBody>
          <a:bodyPr/>
          <a:lstStyle/>
          <a:p>
            <a:endParaRPr lang="pt-BR" noProof="0" dirty="0"/>
          </a:p>
        </p:txBody>
      </p:sp>
      <p:sp>
        <p:nvSpPr>
          <p:cNvPr id="21" name="Text 19"/>
          <p:cNvSpPr/>
          <p:nvPr/>
        </p:nvSpPr>
        <p:spPr>
          <a:xfrm>
            <a:off x="722376" y="4082625"/>
            <a:ext cx="709574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EXEMPLO VISÍVEL</a:t>
            </a:r>
            <a:endParaRPr lang="pt-BR" sz="1250" noProof="0" dirty="0"/>
          </a:p>
        </p:txBody>
      </p:sp>
      <p:sp>
        <p:nvSpPr>
          <p:cNvPr id="22" name="Text 20"/>
          <p:cNvSpPr/>
          <p:nvPr/>
        </p:nvSpPr>
        <p:spPr>
          <a:xfrm>
            <a:off x="502920" y="4384377"/>
            <a:ext cx="5440680"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Nome fraco</a:t>
            </a:r>
            <a:endParaRPr lang="pt-BR" sz="1100" noProof="0" dirty="0"/>
          </a:p>
        </p:txBody>
      </p:sp>
      <p:sp>
        <p:nvSpPr>
          <p:cNvPr id="24" name="Text 22"/>
          <p:cNvSpPr/>
          <p:nvPr/>
        </p:nvSpPr>
        <p:spPr>
          <a:xfrm>
            <a:off x="685800" y="4750137"/>
            <a:ext cx="5074920" cy="438912"/>
          </a:xfrm>
          <a:prstGeom prst="rect">
            <a:avLst/>
          </a:prstGeom>
          <a:noFill/>
          <a:ln/>
        </p:spPr>
        <p:txBody>
          <a:bodyPr wrap="square" lIns="0" tIns="0" rIns="0" bIns="0" rtlCol="0" anchor="ctr"/>
          <a:lstStyle/>
          <a:p>
            <a:pPr marL="0" indent="0">
              <a:lnSpc>
                <a:spcPct val="118000"/>
              </a:lnSpc>
              <a:buNone/>
            </a:pPr>
            <a:r>
              <a:rPr lang="pt-BR" sz="1200" noProof="0" dirty="0">
                <a:solidFill>
                  <a:srgbClr val="1B2A4A"/>
                </a:solidFill>
                <a:latin typeface="Courier New" pitchFamily="34" charset="0"/>
                <a:cs typeface="Courier New" pitchFamily="34" charset="-120"/>
              </a:rPr>
              <a:t>Produto </a:t>
            </a:r>
            <a:r>
              <a:rPr lang="pt-BR" sz="1200" noProof="0" dirty="0" err="1">
                <a:solidFill>
                  <a:srgbClr val="1B2A4A"/>
                </a:solidFill>
                <a:latin typeface="Courier New" pitchFamily="34" charset="0"/>
                <a:cs typeface="Courier New" pitchFamily="34" charset="-120"/>
              </a:rPr>
              <a:t>produto</a:t>
            </a:r>
            <a:r>
              <a:rPr lang="pt-BR" sz="1200" noProof="0" dirty="0">
                <a:solidFill>
                  <a:srgbClr val="1B2A4A"/>
                </a:solidFill>
                <a:latin typeface="Courier New" pitchFamily="34" charset="0"/>
                <a:cs typeface="Courier New" pitchFamily="34" charset="-120"/>
              </a:rPr>
              <a:t>;</a:t>
            </a:r>
          </a:p>
          <a:p>
            <a:pPr marL="0" indent="0">
              <a:lnSpc>
                <a:spcPct val="118000"/>
              </a:lnSpc>
              <a:buNone/>
            </a:pPr>
            <a:r>
              <a:rPr lang="pt-BR" sz="1200" noProof="0" dirty="0">
                <a:solidFill>
                  <a:srgbClr val="1B2A4A"/>
                </a:solidFill>
                <a:latin typeface="Courier New" pitchFamily="34" charset="0"/>
                <a:cs typeface="Courier New" pitchFamily="34" charset="-120"/>
              </a:rPr>
              <a:t>Produto </a:t>
            </a:r>
            <a:r>
              <a:rPr lang="pt-BR" sz="1200" noProof="0" dirty="0" err="1">
                <a:solidFill>
                  <a:srgbClr val="1B2A4A"/>
                </a:solidFill>
                <a:latin typeface="Courier New" pitchFamily="34" charset="0"/>
                <a:cs typeface="Courier New" pitchFamily="34" charset="-120"/>
              </a:rPr>
              <a:t>produtoInfo</a:t>
            </a:r>
            <a:r>
              <a:rPr lang="pt-BR" sz="1200" noProof="0" dirty="0">
                <a:solidFill>
                  <a:srgbClr val="1B2A4A"/>
                </a:solidFill>
                <a:latin typeface="Courier New" pitchFamily="34" charset="0"/>
                <a:cs typeface="Courier New" pitchFamily="34" charset="-120"/>
              </a:rPr>
              <a:t>;</a:t>
            </a:r>
          </a:p>
          <a:p>
            <a:pPr marL="0" indent="0">
              <a:lnSpc>
                <a:spcPct val="118000"/>
              </a:lnSpc>
              <a:buNone/>
            </a:pPr>
            <a:r>
              <a:rPr lang="pt-BR" sz="1200" noProof="0" dirty="0">
                <a:solidFill>
                  <a:srgbClr val="1B2A4A"/>
                </a:solidFill>
                <a:latin typeface="Courier New" pitchFamily="34" charset="0"/>
                <a:cs typeface="Courier New" pitchFamily="34" charset="-120"/>
              </a:rPr>
              <a:t>Produto </a:t>
            </a:r>
            <a:r>
              <a:rPr lang="pt-BR" sz="1200" noProof="0" dirty="0" err="1">
                <a:solidFill>
                  <a:srgbClr val="1B2A4A"/>
                </a:solidFill>
                <a:latin typeface="Courier New" pitchFamily="34" charset="0"/>
                <a:cs typeface="Courier New" pitchFamily="34" charset="-120"/>
              </a:rPr>
              <a:t>produtoData</a:t>
            </a:r>
            <a:r>
              <a:rPr lang="pt-BR" sz="1200" noProof="0" dirty="0">
                <a:solidFill>
                  <a:srgbClr val="1B2A4A"/>
                </a:solidFill>
                <a:latin typeface="Courier New" pitchFamily="34" charset="0"/>
                <a:cs typeface="Courier New" pitchFamily="34" charset="-120"/>
              </a:rPr>
              <a:t>;</a:t>
            </a:r>
          </a:p>
        </p:txBody>
      </p:sp>
      <p:sp>
        <p:nvSpPr>
          <p:cNvPr id="25" name="Text 23"/>
          <p:cNvSpPr/>
          <p:nvPr/>
        </p:nvSpPr>
        <p:spPr>
          <a:xfrm>
            <a:off x="6263640" y="4384377"/>
            <a:ext cx="5440680"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Papel explícito</a:t>
            </a:r>
            <a:endParaRPr lang="pt-BR" sz="1100" noProof="0" dirty="0"/>
          </a:p>
        </p:txBody>
      </p:sp>
      <p:sp>
        <p:nvSpPr>
          <p:cNvPr id="27" name="Text 25"/>
          <p:cNvSpPr/>
          <p:nvPr/>
        </p:nvSpPr>
        <p:spPr>
          <a:xfrm>
            <a:off x="6446520" y="4750137"/>
            <a:ext cx="5074920" cy="438912"/>
          </a:xfrm>
          <a:prstGeom prst="rect">
            <a:avLst/>
          </a:prstGeom>
          <a:noFill/>
          <a:ln/>
        </p:spPr>
        <p:txBody>
          <a:bodyPr wrap="square" lIns="0" tIns="0" rIns="0" bIns="0" rtlCol="0" anchor="ctr"/>
          <a:lstStyle/>
          <a:p>
            <a:pPr>
              <a:lnSpc>
                <a:spcPct val="118000"/>
              </a:lnSpc>
            </a:pPr>
            <a:r>
              <a:rPr lang="pt-BR" sz="1200" noProof="0" dirty="0">
                <a:solidFill>
                  <a:srgbClr val="1B2A4A"/>
                </a:solidFill>
                <a:latin typeface="Courier New" pitchFamily="34" charset="0"/>
                <a:cs typeface="Courier New" pitchFamily="34" charset="-120"/>
              </a:rPr>
              <a:t>Produto </a:t>
            </a:r>
            <a:r>
              <a:rPr lang="pt-BR" sz="1200" noProof="0" dirty="0" err="1">
                <a:solidFill>
                  <a:srgbClr val="1B2A4A"/>
                </a:solidFill>
                <a:latin typeface="Courier New" pitchFamily="34" charset="0"/>
                <a:cs typeface="Courier New" pitchFamily="34" charset="-120"/>
              </a:rPr>
              <a:t>produtoSelecionado</a:t>
            </a:r>
            <a:r>
              <a:rPr lang="pt-BR" sz="1200" noProof="0" dirty="0">
                <a:solidFill>
                  <a:srgbClr val="1B2A4A"/>
                </a:solidFill>
                <a:latin typeface="Courier New" pitchFamily="34" charset="0"/>
                <a:cs typeface="Courier New" pitchFamily="34" charset="-120"/>
              </a:rPr>
              <a:t>;</a:t>
            </a:r>
          </a:p>
          <a:p>
            <a:pPr>
              <a:lnSpc>
                <a:spcPct val="118000"/>
              </a:lnSpc>
            </a:pPr>
            <a:r>
              <a:rPr lang="pt-BR" sz="1200" noProof="0" dirty="0">
                <a:solidFill>
                  <a:srgbClr val="1B2A4A"/>
                </a:solidFill>
                <a:latin typeface="Courier New" pitchFamily="34" charset="0"/>
                <a:cs typeface="Courier New" pitchFamily="34" charset="-120"/>
              </a:rPr>
              <a:t>Produto </a:t>
            </a:r>
            <a:r>
              <a:rPr lang="pt-BR" sz="1200" noProof="0" dirty="0" err="1">
                <a:solidFill>
                  <a:srgbClr val="1B2A4A"/>
                </a:solidFill>
                <a:latin typeface="Courier New" pitchFamily="34" charset="0"/>
                <a:cs typeface="Courier New" pitchFamily="34" charset="-120"/>
              </a:rPr>
              <a:t>produtoSubstituto</a:t>
            </a:r>
            <a:r>
              <a:rPr lang="pt-BR" sz="1200" noProof="0" dirty="0">
                <a:solidFill>
                  <a:srgbClr val="1B2A4A"/>
                </a:solidFill>
                <a:latin typeface="Courier New" pitchFamily="34" charset="0"/>
                <a:cs typeface="Courier New" pitchFamily="34" charset="-120"/>
              </a:rPr>
              <a:t>;</a:t>
            </a:r>
          </a:p>
          <a:p>
            <a:pPr>
              <a:lnSpc>
                <a:spcPct val="118000"/>
              </a:lnSpc>
            </a:pPr>
            <a:r>
              <a:rPr lang="pt-BR" sz="1200" noProof="0" dirty="0">
                <a:solidFill>
                  <a:srgbClr val="1B2A4A"/>
                </a:solidFill>
                <a:latin typeface="Courier New" pitchFamily="34" charset="0"/>
                <a:cs typeface="Courier New" pitchFamily="34" charset="-120"/>
              </a:rPr>
              <a:t>Produto </a:t>
            </a:r>
            <a:r>
              <a:rPr lang="pt-BR" sz="1200" noProof="0" dirty="0" err="1">
                <a:solidFill>
                  <a:srgbClr val="1B2A4A"/>
                </a:solidFill>
                <a:latin typeface="Courier New" pitchFamily="34" charset="0"/>
                <a:cs typeface="Courier New" pitchFamily="34" charset="-120"/>
              </a:rPr>
              <a:t>produtoPromocional</a:t>
            </a:r>
            <a:r>
              <a:rPr lang="pt-BR" sz="1200" noProof="0" dirty="0">
                <a:solidFill>
                  <a:srgbClr val="1B2A4A"/>
                </a:solidFill>
                <a:latin typeface="Courier New" pitchFamily="34" charset="0"/>
                <a:cs typeface="Courier New" pitchFamily="34" charset="-120"/>
              </a:rPr>
              <a:t>;</a:t>
            </a:r>
          </a:p>
        </p:txBody>
      </p:sp>
      <p:sp>
        <p:nvSpPr>
          <p:cNvPr id="28" name="Text 26"/>
          <p:cNvSpPr/>
          <p:nvPr/>
        </p:nvSpPr>
        <p:spPr>
          <a:xfrm>
            <a:off x="502920" y="5381748"/>
            <a:ext cx="11201400" cy="320040"/>
          </a:xfrm>
          <a:prstGeom prst="rect">
            <a:avLst/>
          </a:prstGeom>
          <a:noFill/>
          <a:ln/>
        </p:spPr>
        <p:txBody>
          <a:bodyPr wrap="square" lIns="0" tIns="0" rIns="0" bIns="0" rtlCol="0" anchor="t"/>
          <a:lstStyle/>
          <a:p>
            <a:pPr marL="0" indent="0" algn="ctr">
              <a:lnSpc>
                <a:spcPct val="110000"/>
              </a:lnSpc>
              <a:buNone/>
            </a:pPr>
            <a:r>
              <a:rPr lang="pt-BR" sz="1100" b="1" i="1" u="sng" noProof="0" dirty="0">
                <a:solidFill>
                  <a:srgbClr val="1B2A4A"/>
                </a:solidFill>
                <a:latin typeface="Calibri" pitchFamily="34" charset="0"/>
                <a:ea typeface="Calibri" pitchFamily="34" charset="-122"/>
                <a:cs typeface="Calibri" pitchFamily="34" charset="-120"/>
              </a:rPr>
              <a:t>Consistência</a:t>
            </a:r>
            <a:r>
              <a:rPr lang="pt-BR" sz="1100" i="1" u="sng" noProof="0" dirty="0">
                <a:solidFill>
                  <a:srgbClr val="1B2A4A"/>
                </a:solidFill>
                <a:latin typeface="Calibri" pitchFamily="34" charset="0"/>
                <a:ea typeface="Calibri" pitchFamily="34" charset="-122"/>
                <a:cs typeface="Calibri" pitchFamily="34" charset="-120"/>
              </a:rPr>
              <a:t>: se </a:t>
            </a:r>
            <a:r>
              <a:rPr lang="pt-BR" sz="1100" i="1" u="sng" noProof="0" dirty="0" err="1">
                <a:solidFill>
                  <a:srgbClr val="1B2A4A"/>
                </a:solidFill>
                <a:latin typeface="Calibri" pitchFamily="34" charset="0"/>
                <a:ea typeface="Calibri" pitchFamily="34" charset="-122"/>
                <a:cs typeface="Calibri" pitchFamily="34" charset="-120"/>
              </a:rPr>
              <a:t>adicionarItem</a:t>
            </a:r>
            <a:r>
              <a:rPr lang="pt-BR" sz="1100" i="1" u="sng" noProof="0" dirty="0">
                <a:solidFill>
                  <a:srgbClr val="1B2A4A"/>
                </a:solidFill>
                <a:latin typeface="Calibri" pitchFamily="34" charset="0"/>
                <a:ea typeface="Calibri" pitchFamily="34" charset="-122"/>
                <a:cs typeface="Calibri" pitchFamily="34" charset="-120"/>
              </a:rPr>
              <a:t>() representa uma operação, não utilizar sem necessidade </a:t>
            </a:r>
            <a:r>
              <a:rPr lang="pt-BR" sz="1100" i="1" u="sng" noProof="0" dirty="0" err="1">
                <a:solidFill>
                  <a:srgbClr val="1B2A4A"/>
                </a:solidFill>
                <a:latin typeface="Calibri" pitchFamily="34" charset="0"/>
                <a:ea typeface="Calibri" pitchFamily="34" charset="-122"/>
                <a:cs typeface="Calibri" pitchFamily="34" charset="-120"/>
              </a:rPr>
              <a:t>incluirItem</a:t>
            </a:r>
            <a:r>
              <a:rPr lang="pt-BR" sz="1100" i="1" u="sng" noProof="0" dirty="0">
                <a:solidFill>
                  <a:srgbClr val="1B2A4A"/>
                </a:solidFill>
                <a:latin typeface="Calibri" pitchFamily="34" charset="0"/>
                <a:ea typeface="Calibri" pitchFamily="34" charset="-122"/>
                <a:cs typeface="Calibri" pitchFamily="34" charset="-120"/>
              </a:rPr>
              <a:t>(), </a:t>
            </a:r>
            <a:r>
              <a:rPr lang="pt-BR" sz="1100" i="1" u="sng" noProof="0" dirty="0" err="1">
                <a:solidFill>
                  <a:srgbClr val="1B2A4A"/>
                </a:solidFill>
                <a:latin typeface="Calibri" pitchFamily="34" charset="0"/>
                <a:ea typeface="Calibri" pitchFamily="34" charset="-122"/>
                <a:cs typeface="Calibri" pitchFamily="34" charset="-120"/>
              </a:rPr>
              <a:t>anexarItem</a:t>
            </a:r>
            <a:r>
              <a:rPr lang="pt-BR" sz="1100" i="1" u="sng" noProof="0" dirty="0">
                <a:solidFill>
                  <a:srgbClr val="1B2A4A"/>
                </a:solidFill>
                <a:latin typeface="Calibri" pitchFamily="34" charset="0"/>
                <a:ea typeface="Calibri" pitchFamily="34" charset="-122"/>
                <a:cs typeface="Calibri" pitchFamily="34" charset="-120"/>
              </a:rPr>
              <a:t>() e </a:t>
            </a:r>
            <a:r>
              <a:rPr lang="pt-BR" sz="1100" i="1" u="sng" noProof="0" dirty="0" err="1">
                <a:solidFill>
                  <a:srgbClr val="1B2A4A"/>
                </a:solidFill>
                <a:latin typeface="Calibri" pitchFamily="34" charset="0"/>
                <a:ea typeface="Calibri" pitchFamily="34" charset="-122"/>
                <a:cs typeface="Calibri" pitchFamily="34" charset="-120"/>
              </a:rPr>
              <a:t>registrarItem</a:t>
            </a:r>
            <a:r>
              <a:rPr lang="pt-BR" sz="1100" i="1" u="sng" noProof="0" dirty="0">
                <a:solidFill>
                  <a:srgbClr val="1B2A4A"/>
                </a:solidFill>
                <a:latin typeface="Calibri" pitchFamily="34" charset="0"/>
                <a:ea typeface="Calibri" pitchFamily="34" charset="-122"/>
                <a:cs typeface="Calibri" pitchFamily="34" charset="-120"/>
              </a:rPr>
              <a:t>() para a mesma ideia.</a:t>
            </a:r>
          </a:p>
        </p:txBody>
      </p:sp>
      <p:sp>
        <p:nvSpPr>
          <p:cNvPr id="32" name="Text 30"/>
          <p:cNvSpPr/>
          <p:nvPr/>
        </p:nvSpPr>
        <p:spPr>
          <a:xfrm>
            <a:off x="562356" y="5971032"/>
            <a:ext cx="10872216" cy="435785"/>
          </a:xfrm>
          <a:prstGeom prst="rect">
            <a:avLst/>
          </a:prstGeom>
          <a:noFill/>
          <a:ln/>
        </p:spPr>
        <p:txBody>
          <a:bodyPr wrap="square" lIns="0" tIns="0" rIns="0" bIns="0" numCol="2" rtlCol="0" anchor="t"/>
          <a:lstStyle/>
          <a:p>
            <a:pPr marL="177800" indent="-177800">
              <a:lnSpc>
                <a:spcPct val="106000"/>
              </a:lnSpc>
              <a:spcAft>
                <a:spcPts val="150"/>
              </a:spcAft>
              <a:buSzPct val="100000"/>
              <a:buChar char="▪"/>
            </a:pPr>
            <a:r>
              <a:rPr lang="pt-BR" sz="1200" noProof="0" dirty="0">
                <a:solidFill>
                  <a:srgbClr val="2B2B2E"/>
                </a:solidFill>
                <a:latin typeface="Calibri" pitchFamily="34" charset="0"/>
                <a:ea typeface="Calibri" pitchFamily="34" charset="-122"/>
                <a:cs typeface="Calibri" pitchFamily="34" charset="-120"/>
              </a:rPr>
              <a:t>O nome explica o papel ou apenas o tipo?</a:t>
            </a:r>
          </a:p>
          <a:p>
            <a:pPr marL="177800" indent="-177800">
              <a:lnSpc>
                <a:spcPct val="106000"/>
              </a:lnSpc>
              <a:spcAft>
                <a:spcPts val="150"/>
              </a:spcAft>
              <a:buSzPct val="100000"/>
              <a:buChar char="▪"/>
            </a:pPr>
            <a:r>
              <a:rPr lang="pt-BR" sz="1200" noProof="0" dirty="0">
                <a:solidFill>
                  <a:srgbClr val="2B2B2E"/>
                </a:solidFill>
                <a:latin typeface="Calibri" pitchFamily="34" charset="0"/>
                <a:ea typeface="Calibri" pitchFamily="34" charset="-122"/>
                <a:cs typeface="Calibri" pitchFamily="34" charset="-120"/>
              </a:rPr>
              <a:t>É possível pesquisar esse conceito no sistema?</a:t>
            </a:r>
          </a:p>
          <a:p>
            <a:pPr marL="177800" indent="-177800">
              <a:lnSpc>
                <a:spcPct val="106000"/>
              </a:lnSpc>
              <a:spcAft>
                <a:spcPts val="150"/>
              </a:spcAft>
              <a:buSzPct val="100000"/>
              <a:buChar char="▪"/>
            </a:pPr>
            <a:r>
              <a:rPr lang="pt-BR" sz="1200" noProof="0" dirty="0">
                <a:solidFill>
                  <a:srgbClr val="2B2B2E"/>
                </a:solidFill>
                <a:latin typeface="Calibri" pitchFamily="34" charset="0"/>
                <a:ea typeface="Calibri" pitchFamily="34" charset="-122"/>
                <a:cs typeface="Calibri" pitchFamily="34" charset="-120"/>
              </a:rPr>
              <a:t>A equipe utiliza o mesmo vocabulário para a mesma ideia?</a:t>
            </a:r>
          </a:p>
        </p:txBody>
      </p:sp>
      <p:sp>
        <p:nvSpPr>
          <p:cNvPr id="33" name="Shape 31"/>
          <p:cNvSpPr/>
          <p:nvPr/>
        </p:nvSpPr>
        <p:spPr>
          <a:xfrm>
            <a:off x="0" y="6528816"/>
            <a:ext cx="12188952" cy="329184"/>
          </a:xfrm>
          <a:prstGeom prst="rect">
            <a:avLst/>
          </a:prstGeom>
          <a:solidFill>
            <a:srgbClr val="1B2A4A"/>
          </a:solidFill>
          <a:ln/>
        </p:spPr>
        <p:txBody>
          <a:bodyPr/>
          <a:lstStyle/>
          <a:p>
            <a:endParaRPr lang="pt-BR" noProof="0" dirty="0"/>
          </a:p>
        </p:txBody>
      </p:sp>
      <p:sp>
        <p:nvSpPr>
          <p:cNvPr id="34" name="Text 32"/>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35" name="Text 33"/>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06 / 13</a:t>
            </a:r>
            <a:endParaRPr lang="pt-BR" sz="950" noProof="0" dirty="0"/>
          </a:p>
        </p:txBody>
      </p:sp>
      <p:sp>
        <p:nvSpPr>
          <p:cNvPr id="40" name="Shape 28">
            <a:extLst>
              <a:ext uri="{FF2B5EF4-FFF2-40B4-BE49-F238E27FC236}">
                <a16:creationId xmlns:a16="http://schemas.microsoft.com/office/drawing/2014/main" id="{5DA56687-622E-6232-C01A-F8E4DF97947D}"/>
              </a:ext>
            </a:extLst>
          </p:cNvPr>
          <p:cNvSpPr/>
          <p:nvPr/>
        </p:nvSpPr>
        <p:spPr>
          <a:xfrm>
            <a:off x="502920" y="5703402"/>
            <a:ext cx="118872" cy="118872"/>
          </a:xfrm>
          <a:prstGeom prst="rect">
            <a:avLst/>
          </a:prstGeom>
          <a:solidFill>
            <a:srgbClr val="C9A227"/>
          </a:solidFill>
          <a:ln/>
        </p:spPr>
        <p:txBody>
          <a:bodyPr/>
          <a:lstStyle/>
          <a:p>
            <a:endParaRPr lang="pt-BR" noProof="0" dirty="0"/>
          </a:p>
        </p:txBody>
      </p:sp>
      <p:sp>
        <p:nvSpPr>
          <p:cNvPr id="41" name="Text 29">
            <a:extLst>
              <a:ext uri="{FF2B5EF4-FFF2-40B4-BE49-F238E27FC236}">
                <a16:creationId xmlns:a16="http://schemas.microsoft.com/office/drawing/2014/main" id="{AE2DA51B-7A5E-2C54-49E1-BE835B5DFAE5}"/>
              </a:ext>
            </a:extLst>
          </p:cNvPr>
          <p:cNvSpPr/>
          <p:nvPr/>
        </p:nvSpPr>
        <p:spPr>
          <a:xfrm>
            <a:off x="722376" y="5634822"/>
            <a:ext cx="10652760"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PERGUNTAS</a:t>
            </a:r>
            <a:endParaRPr lang="pt-BR" sz="1250" noProof="0" dirty="0"/>
          </a:p>
        </p:txBody>
      </p:sp>
      <p:grpSp>
        <p:nvGrpSpPr>
          <p:cNvPr id="42" name="Agrupar 41">
            <a:extLst>
              <a:ext uri="{FF2B5EF4-FFF2-40B4-BE49-F238E27FC236}">
                <a16:creationId xmlns:a16="http://schemas.microsoft.com/office/drawing/2014/main" id="{A5EC97DF-606E-23A3-865A-6A4E21899C42}"/>
              </a:ext>
            </a:extLst>
          </p:cNvPr>
          <p:cNvGrpSpPr/>
          <p:nvPr/>
        </p:nvGrpSpPr>
        <p:grpSpPr>
          <a:xfrm>
            <a:off x="278892" y="205740"/>
            <a:ext cx="566928" cy="566928"/>
            <a:chOff x="384048" y="290322"/>
            <a:chExt cx="566928" cy="566928"/>
          </a:xfrm>
        </p:grpSpPr>
        <p:sp>
          <p:nvSpPr>
            <p:cNvPr id="43" name="Shape 0">
              <a:extLst>
                <a:ext uri="{FF2B5EF4-FFF2-40B4-BE49-F238E27FC236}">
                  <a16:creationId xmlns:a16="http://schemas.microsoft.com/office/drawing/2014/main" id="{B764146F-2394-DC6C-6912-3FB691CC8A56}"/>
                </a:ext>
              </a:extLst>
            </p:cNvPr>
            <p:cNvSpPr/>
            <p:nvPr/>
          </p:nvSpPr>
          <p:spPr>
            <a:xfrm>
              <a:off x="457200" y="384048"/>
              <a:ext cx="429768" cy="388620"/>
            </a:xfrm>
            <a:prstGeom prst="ellipse">
              <a:avLst/>
            </a:prstGeom>
            <a:solidFill>
              <a:srgbClr val="C9A227"/>
            </a:solidFill>
            <a:ln w="12700">
              <a:noFill/>
              <a:prstDash val="solid"/>
            </a:ln>
          </p:spPr>
          <p:txBody>
            <a:bodyPr/>
            <a:lstStyle/>
            <a:p>
              <a:endParaRPr lang="pt-BR" noProof="0" dirty="0"/>
            </a:p>
          </p:txBody>
        </p:sp>
        <p:sp>
          <p:nvSpPr>
            <p:cNvPr id="44" name="Text 1">
              <a:extLst>
                <a:ext uri="{FF2B5EF4-FFF2-40B4-BE49-F238E27FC236}">
                  <a16:creationId xmlns:a16="http://schemas.microsoft.com/office/drawing/2014/main" id="{9E1CE4FB-B339-2856-CB59-69752D33F187}"/>
                </a:ext>
              </a:extLst>
            </p:cNvPr>
            <p:cNvSpPr/>
            <p:nvPr/>
          </p:nvSpPr>
          <p:spPr>
            <a:xfrm>
              <a:off x="384048" y="290322"/>
              <a:ext cx="566928" cy="566928"/>
            </a:xfrm>
            <a:prstGeom prst="rect">
              <a:avLst/>
            </a:prstGeom>
            <a:noFill/>
            <a:ln/>
          </p:spPr>
          <p:txBody>
            <a:bodyPr wrap="square" rtlCol="0" anchor="ctr"/>
            <a:lstStyle/>
            <a:p>
              <a:pPr marL="0" indent="0" algn="ctr">
                <a:buNone/>
              </a:pPr>
              <a:r>
                <a:rPr lang="pt-BR" sz="2000" b="1" noProof="0" dirty="0">
                  <a:solidFill>
                    <a:schemeClr val="bg1"/>
                  </a:solidFill>
                  <a:latin typeface="Tahoma" pitchFamily="34" charset="0"/>
                  <a:ea typeface="Tahoma" pitchFamily="34" charset="-122"/>
                  <a:cs typeface="Tahoma" pitchFamily="34" charset="-120"/>
                </a:rPr>
                <a:t>1</a:t>
              </a:r>
              <a:endParaRPr lang="pt-BR" sz="2000" noProof="0" dirty="0">
                <a:solidFill>
                  <a:schemeClr val="bg1"/>
                </a:solidFi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33120" y="292608"/>
            <a:ext cx="11155680" cy="566928"/>
          </a:xfrm>
          <a:prstGeom prst="rect">
            <a:avLst/>
          </a:prstGeom>
          <a:noFill/>
          <a:ln/>
        </p:spPr>
        <p:txBody>
          <a:bodyPr wrap="square" lIns="0" tIns="0" rIns="0" bIns="0" rtlCol="0" anchor="t"/>
          <a:lstStyle/>
          <a:p>
            <a:pPr marL="0" indent="0">
              <a:buNone/>
            </a:pPr>
            <a:r>
              <a:rPr lang="pt-BR" sz="2700" b="1" noProof="0" dirty="0">
                <a:solidFill>
                  <a:srgbClr val="1B2A4A"/>
                </a:solidFill>
                <a:latin typeface="Cambria" pitchFamily="34" charset="0"/>
                <a:ea typeface="Cambria" pitchFamily="34" charset="-122"/>
                <a:cs typeface="Cambria" pitchFamily="34" charset="-120"/>
              </a:rPr>
              <a:t>Clean Code: Funções Pequenas e Focadas</a:t>
            </a:r>
            <a:endParaRPr lang="pt-BR" sz="2700" noProof="0" dirty="0"/>
          </a:p>
        </p:txBody>
      </p:sp>
      <p:sp>
        <p:nvSpPr>
          <p:cNvPr id="3" name="Text 1"/>
          <p:cNvSpPr/>
          <p:nvPr/>
        </p:nvSpPr>
        <p:spPr>
          <a:xfrm>
            <a:off x="502920" y="896112"/>
            <a:ext cx="11155680" cy="548640"/>
          </a:xfrm>
          <a:prstGeom prst="rect">
            <a:avLst/>
          </a:prstGeom>
          <a:noFill/>
          <a:ln/>
        </p:spPr>
        <p:txBody>
          <a:bodyPr wrap="square" lIns="0" tIns="0" rIns="0" bIns="0" rtlCol="0" anchor="ctr"/>
          <a:lstStyle/>
          <a:p>
            <a:pPr marL="0" indent="0">
              <a:lnSpc>
                <a:spcPct val="110000"/>
              </a:lnSpc>
              <a:buNone/>
            </a:pPr>
            <a:r>
              <a:rPr lang="pt-BR" sz="1400" noProof="0" dirty="0">
                <a:solidFill>
                  <a:srgbClr val="2B2B2E"/>
                </a:solidFill>
                <a:latin typeface="Calibri" pitchFamily="34" charset="0"/>
                <a:ea typeface="Calibri" pitchFamily="34" charset="-122"/>
                <a:cs typeface="Calibri" pitchFamily="34" charset="-120"/>
              </a:rPr>
              <a:t>Uma função é focada quando suas instruções colaboram para cumprir uma única intenção reconhecível e trabalham em um nível de abstração coerente. Não definir uma função pequena apenas pela quantidade de linhas.</a:t>
            </a:r>
          </a:p>
        </p:txBody>
      </p:sp>
      <p:sp>
        <p:nvSpPr>
          <p:cNvPr id="4" name="Text 2"/>
          <p:cNvSpPr/>
          <p:nvPr/>
        </p:nvSpPr>
        <p:spPr>
          <a:xfrm>
            <a:off x="502920" y="1517904"/>
            <a:ext cx="3611880"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Responsabilidades misturadas</a:t>
            </a:r>
            <a:endParaRPr lang="pt-BR" sz="1100" noProof="0" dirty="0"/>
          </a:p>
        </p:txBody>
      </p:sp>
      <p:sp>
        <p:nvSpPr>
          <p:cNvPr id="5" name="Shape 3"/>
          <p:cNvSpPr/>
          <p:nvPr/>
        </p:nvSpPr>
        <p:spPr>
          <a:xfrm>
            <a:off x="502920" y="1810512"/>
            <a:ext cx="3611880" cy="1448139"/>
          </a:xfrm>
          <a:prstGeom prst="roundRect">
            <a:avLst>
              <a:gd name="adj" fmla="val 3333"/>
            </a:avLst>
          </a:prstGeom>
          <a:solidFill>
            <a:srgbClr val="F2F2F3"/>
          </a:solidFill>
          <a:ln w="12700">
            <a:solidFill>
              <a:srgbClr val="D7DAE0"/>
            </a:solidFill>
            <a:prstDash val="solid"/>
          </a:ln>
        </p:spPr>
        <p:txBody>
          <a:bodyPr/>
          <a:lstStyle/>
          <a:p>
            <a:endParaRPr lang="pt-BR" noProof="0" dirty="0"/>
          </a:p>
        </p:txBody>
      </p:sp>
      <p:sp>
        <p:nvSpPr>
          <p:cNvPr id="6" name="Text 4"/>
          <p:cNvSpPr/>
          <p:nvPr/>
        </p:nvSpPr>
        <p:spPr>
          <a:xfrm>
            <a:off x="685800" y="1883664"/>
            <a:ext cx="3246120" cy="1088136"/>
          </a:xfrm>
          <a:prstGeom prst="rect">
            <a:avLst/>
          </a:prstGeom>
          <a:noFill/>
          <a:ln/>
        </p:spPr>
        <p:txBody>
          <a:bodyPr wrap="square" lIns="0" tIns="0" rIns="0" bIns="0" rtlCol="0" anchor="t"/>
          <a:lstStyle/>
          <a:p>
            <a:pPr marL="0" indent="0">
              <a:lnSpc>
                <a:spcPct val="118000"/>
              </a:lnSpc>
              <a:buNone/>
            </a:pPr>
            <a:r>
              <a:rPr lang="pt-BR" sz="1200" noProof="0" dirty="0" err="1">
                <a:solidFill>
                  <a:srgbClr val="1B2A4A"/>
                </a:solidFill>
                <a:latin typeface="Courier New" pitchFamily="34" charset="0"/>
                <a:cs typeface="Courier New" pitchFamily="34" charset="-120"/>
              </a:rPr>
              <a:t>processarSolicitacao</a:t>
            </a:r>
            <a:r>
              <a:rPr lang="pt-BR" sz="1200" noProof="0" dirty="0">
                <a:solidFill>
                  <a:srgbClr val="1B2A4A"/>
                </a:solidFill>
                <a:latin typeface="Courier New" pitchFamily="34" charset="0"/>
                <a:cs typeface="Courier New" pitchFamily="34" charset="-120"/>
              </a:rPr>
              <a:t>()</a:t>
            </a:r>
          </a:p>
          <a:p>
            <a:pPr marL="0" indent="0">
              <a:lnSpc>
                <a:spcPct val="118000"/>
              </a:lnSpc>
              <a:buNone/>
            </a:pPr>
            <a:r>
              <a:rPr lang="pt-BR" sz="1200" noProof="0" dirty="0">
                <a:solidFill>
                  <a:srgbClr val="1B2A4A"/>
                </a:solidFill>
                <a:latin typeface="Courier New" pitchFamily="34" charset="0"/>
                <a:cs typeface="Courier New" pitchFamily="34" charset="-120"/>
              </a:rPr>
              <a:t> ├─ validar dados</a:t>
            </a:r>
          </a:p>
          <a:p>
            <a:pPr marL="0" indent="0">
              <a:lnSpc>
                <a:spcPct val="118000"/>
              </a:lnSpc>
              <a:buNone/>
            </a:pPr>
            <a:r>
              <a:rPr lang="pt-BR" sz="1200" noProof="0" dirty="0">
                <a:solidFill>
                  <a:srgbClr val="1B2A4A"/>
                </a:solidFill>
                <a:latin typeface="Courier New" pitchFamily="34" charset="0"/>
                <a:cs typeface="Courier New" pitchFamily="34" charset="-120"/>
              </a:rPr>
              <a:t> ├─ calcular valores</a:t>
            </a:r>
          </a:p>
          <a:p>
            <a:pPr marL="0" indent="0">
              <a:lnSpc>
                <a:spcPct val="118000"/>
              </a:lnSpc>
              <a:buNone/>
            </a:pPr>
            <a:r>
              <a:rPr lang="pt-BR" sz="1200" noProof="0" dirty="0">
                <a:solidFill>
                  <a:srgbClr val="1B2A4A"/>
                </a:solidFill>
                <a:latin typeface="Courier New" pitchFamily="34" charset="0"/>
                <a:cs typeface="Courier New" pitchFamily="34" charset="-120"/>
              </a:rPr>
              <a:t> ├─ salvar registros</a:t>
            </a:r>
          </a:p>
          <a:p>
            <a:pPr marL="0" indent="0">
              <a:lnSpc>
                <a:spcPct val="118000"/>
              </a:lnSpc>
              <a:buNone/>
            </a:pPr>
            <a:r>
              <a:rPr lang="pt-BR" sz="1200" noProof="0" dirty="0">
                <a:solidFill>
                  <a:srgbClr val="1B2A4A"/>
                </a:solidFill>
                <a:latin typeface="Courier New" pitchFamily="34" charset="0"/>
                <a:cs typeface="Courier New" pitchFamily="34" charset="-120"/>
              </a:rPr>
              <a:t> ├─ enviar notificações</a:t>
            </a:r>
          </a:p>
          <a:p>
            <a:pPr marL="0" indent="0">
              <a:lnSpc>
                <a:spcPct val="118000"/>
              </a:lnSpc>
              <a:buNone/>
            </a:pPr>
            <a:r>
              <a:rPr lang="pt-BR" sz="1200" noProof="0" dirty="0">
                <a:solidFill>
                  <a:srgbClr val="1B2A4A"/>
                </a:solidFill>
                <a:latin typeface="Courier New" pitchFamily="34" charset="0"/>
                <a:cs typeface="Courier New" pitchFamily="34" charset="-120"/>
              </a:rPr>
              <a:t> └─ formatar resposta</a:t>
            </a:r>
          </a:p>
        </p:txBody>
      </p:sp>
      <p:sp>
        <p:nvSpPr>
          <p:cNvPr id="7" name="Text 5"/>
          <p:cNvSpPr/>
          <p:nvPr/>
        </p:nvSpPr>
        <p:spPr>
          <a:xfrm>
            <a:off x="4297680" y="1517904"/>
            <a:ext cx="3611880"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Alternativa</a:t>
            </a:r>
            <a:endParaRPr lang="pt-BR" sz="1100" noProof="0" dirty="0"/>
          </a:p>
        </p:txBody>
      </p:sp>
      <p:sp>
        <p:nvSpPr>
          <p:cNvPr id="8" name="Shape 6"/>
          <p:cNvSpPr/>
          <p:nvPr/>
        </p:nvSpPr>
        <p:spPr>
          <a:xfrm>
            <a:off x="4297680" y="1810512"/>
            <a:ext cx="3611880" cy="1448139"/>
          </a:xfrm>
          <a:prstGeom prst="roundRect">
            <a:avLst>
              <a:gd name="adj" fmla="val 3333"/>
            </a:avLst>
          </a:prstGeom>
          <a:solidFill>
            <a:srgbClr val="F2F2F3"/>
          </a:solidFill>
          <a:ln w="12700">
            <a:solidFill>
              <a:srgbClr val="D7DAE0"/>
            </a:solidFill>
            <a:prstDash val="solid"/>
          </a:ln>
        </p:spPr>
        <p:txBody>
          <a:bodyPr/>
          <a:lstStyle/>
          <a:p>
            <a:endParaRPr lang="pt-BR" noProof="0" dirty="0"/>
          </a:p>
        </p:txBody>
      </p:sp>
      <p:sp>
        <p:nvSpPr>
          <p:cNvPr id="9" name="Text 7"/>
          <p:cNvSpPr/>
          <p:nvPr/>
        </p:nvSpPr>
        <p:spPr>
          <a:xfrm>
            <a:off x="4480560" y="1883664"/>
            <a:ext cx="3246120" cy="1088136"/>
          </a:xfrm>
          <a:prstGeom prst="rect">
            <a:avLst/>
          </a:prstGeom>
          <a:noFill/>
          <a:ln/>
        </p:spPr>
        <p:txBody>
          <a:bodyPr wrap="square" lIns="0" tIns="0" rIns="0" bIns="0" rtlCol="0" anchor="t"/>
          <a:lstStyle/>
          <a:p>
            <a:pPr>
              <a:lnSpc>
                <a:spcPct val="118000"/>
              </a:lnSpc>
            </a:pPr>
            <a:r>
              <a:rPr lang="pt-BR" sz="1200" noProof="0" dirty="0" err="1">
                <a:solidFill>
                  <a:srgbClr val="1B2A4A"/>
                </a:solidFill>
                <a:latin typeface="Courier New" pitchFamily="34" charset="0"/>
                <a:cs typeface="Courier New" pitchFamily="34" charset="-120"/>
              </a:rPr>
              <a:t>validarSolicitacao</a:t>
            </a:r>
            <a:r>
              <a:rPr lang="pt-BR" sz="1200" noProof="0" dirty="0">
                <a:solidFill>
                  <a:srgbClr val="1B2A4A"/>
                </a:solidFill>
                <a:latin typeface="Courier New" pitchFamily="34" charset="0"/>
                <a:cs typeface="Courier New" pitchFamily="34" charset="-120"/>
              </a:rPr>
              <a:t>();</a:t>
            </a:r>
          </a:p>
          <a:p>
            <a:pPr>
              <a:lnSpc>
                <a:spcPct val="118000"/>
              </a:lnSpc>
            </a:pPr>
            <a:r>
              <a:rPr lang="pt-BR" sz="1200" noProof="0" dirty="0" err="1">
                <a:solidFill>
                  <a:srgbClr val="1B2A4A"/>
                </a:solidFill>
                <a:latin typeface="Courier New" pitchFamily="34" charset="0"/>
                <a:cs typeface="Courier New" pitchFamily="34" charset="-120"/>
              </a:rPr>
              <a:t>calcularResultado</a:t>
            </a:r>
            <a:r>
              <a:rPr lang="pt-BR" sz="1200" noProof="0" dirty="0">
                <a:solidFill>
                  <a:srgbClr val="1B2A4A"/>
                </a:solidFill>
                <a:latin typeface="Courier New" pitchFamily="34" charset="0"/>
                <a:cs typeface="Courier New" pitchFamily="34" charset="-120"/>
              </a:rPr>
              <a:t>();</a:t>
            </a:r>
          </a:p>
          <a:p>
            <a:pPr>
              <a:lnSpc>
                <a:spcPct val="118000"/>
              </a:lnSpc>
            </a:pPr>
            <a:r>
              <a:rPr lang="pt-BR" sz="1200" noProof="0" dirty="0" err="1">
                <a:solidFill>
                  <a:srgbClr val="1B2A4A"/>
                </a:solidFill>
                <a:latin typeface="Courier New" pitchFamily="34" charset="0"/>
                <a:cs typeface="Courier New" pitchFamily="34" charset="-120"/>
              </a:rPr>
              <a:t>registrarOperacao</a:t>
            </a:r>
            <a:r>
              <a:rPr lang="pt-BR" sz="1200" noProof="0" dirty="0">
                <a:solidFill>
                  <a:srgbClr val="1B2A4A"/>
                </a:solidFill>
                <a:latin typeface="Courier New" pitchFamily="34" charset="0"/>
                <a:cs typeface="Courier New" pitchFamily="34" charset="-120"/>
              </a:rPr>
              <a:t>();</a:t>
            </a:r>
          </a:p>
          <a:p>
            <a:pPr>
              <a:lnSpc>
                <a:spcPct val="118000"/>
              </a:lnSpc>
            </a:pPr>
            <a:r>
              <a:rPr lang="pt-BR" sz="1200" noProof="0" dirty="0" err="1">
                <a:solidFill>
                  <a:srgbClr val="1B2A4A"/>
                </a:solidFill>
                <a:latin typeface="Courier New" pitchFamily="34" charset="0"/>
                <a:cs typeface="Courier New" pitchFamily="34" charset="-120"/>
              </a:rPr>
              <a:t>enviarConfirmacao</a:t>
            </a:r>
            <a:r>
              <a:rPr lang="pt-BR" sz="1200" noProof="0" dirty="0">
                <a:solidFill>
                  <a:srgbClr val="1B2A4A"/>
                </a:solidFill>
                <a:latin typeface="Courier New" pitchFamily="34" charset="0"/>
                <a:cs typeface="Courier New" pitchFamily="34" charset="-120"/>
              </a:rPr>
              <a:t>();</a:t>
            </a:r>
          </a:p>
        </p:txBody>
      </p:sp>
      <p:sp>
        <p:nvSpPr>
          <p:cNvPr id="10" name="Text 8"/>
          <p:cNvSpPr/>
          <p:nvPr/>
        </p:nvSpPr>
        <p:spPr>
          <a:xfrm>
            <a:off x="8092440" y="1517904"/>
            <a:ext cx="3611880"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Nível de abstração</a:t>
            </a:r>
            <a:endParaRPr lang="pt-BR" sz="1100" noProof="0" dirty="0"/>
          </a:p>
        </p:txBody>
      </p:sp>
      <p:sp>
        <p:nvSpPr>
          <p:cNvPr id="11" name="Shape 9"/>
          <p:cNvSpPr/>
          <p:nvPr/>
        </p:nvSpPr>
        <p:spPr>
          <a:xfrm>
            <a:off x="8092440" y="1810512"/>
            <a:ext cx="3611880" cy="1618488"/>
          </a:xfrm>
          <a:prstGeom prst="roundRect">
            <a:avLst>
              <a:gd name="adj" fmla="val 3333"/>
            </a:avLst>
          </a:prstGeom>
          <a:solidFill>
            <a:srgbClr val="F2F2F3"/>
          </a:solidFill>
          <a:ln w="12700">
            <a:solidFill>
              <a:srgbClr val="D7DAE0"/>
            </a:solidFill>
            <a:prstDash val="solid"/>
          </a:ln>
        </p:spPr>
        <p:txBody>
          <a:bodyPr/>
          <a:lstStyle/>
          <a:p>
            <a:endParaRPr lang="pt-BR" noProof="0" dirty="0"/>
          </a:p>
        </p:txBody>
      </p:sp>
      <p:sp>
        <p:nvSpPr>
          <p:cNvPr id="12" name="Text 10"/>
          <p:cNvSpPr/>
          <p:nvPr/>
        </p:nvSpPr>
        <p:spPr>
          <a:xfrm>
            <a:off x="8275320" y="1883664"/>
            <a:ext cx="3246120" cy="1088136"/>
          </a:xfrm>
          <a:prstGeom prst="rect">
            <a:avLst/>
          </a:prstGeom>
          <a:noFill/>
          <a:ln/>
        </p:spPr>
        <p:txBody>
          <a:bodyPr wrap="square" lIns="0" tIns="0" rIns="0" bIns="0" rtlCol="0" anchor="t"/>
          <a:lstStyle/>
          <a:p>
            <a:pPr indent="0">
              <a:lnSpc>
                <a:spcPct val="118000"/>
              </a:lnSpc>
              <a:buNone/>
            </a:pPr>
            <a:r>
              <a:rPr lang="pt-BR" sz="1200" noProof="0" dirty="0" err="1">
                <a:solidFill>
                  <a:srgbClr val="1B2A4A"/>
                </a:solidFill>
                <a:latin typeface="Courier New" pitchFamily="34" charset="0"/>
                <a:cs typeface="Courier New" pitchFamily="34" charset="-120"/>
              </a:rPr>
              <a:t>public</a:t>
            </a:r>
            <a:r>
              <a:rPr lang="pt-BR" sz="1200" noProof="0" dirty="0">
                <a:solidFill>
                  <a:srgbClr val="1B2A4A"/>
                </a:solidFill>
                <a:latin typeface="Courier New" pitchFamily="34" charset="0"/>
                <a:cs typeface="Courier New" pitchFamily="34" charset="-120"/>
              </a:rPr>
              <a:t> </a:t>
            </a:r>
            <a:r>
              <a:rPr lang="pt-BR" sz="1200" noProof="0" dirty="0" err="1">
                <a:solidFill>
                  <a:srgbClr val="1B2A4A"/>
                </a:solidFill>
                <a:latin typeface="Courier New" pitchFamily="34" charset="0"/>
                <a:cs typeface="Courier New" pitchFamily="34" charset="-120"/>
              </a:rPr>
              <a:t>void</a:t>
            </a:r>
            <a:r>
              <a:rPr lang="pt-BR" sz="1200" noProof="0" dirty="0">
                <a:solidFill>
                  <a:srgbClr val="1B2A4A"/>
                </a:solidFill>
                <a:latin typeface="Courier New" pitchFamily="34" charset="0"/>
                <a:cs typeface="Courier New" pitchFamily="34" charset="-120"/>
              </a:rPr>
              <a:t> </a:t>
            </a:r>
            <a:r>
              <a:rPr lang="pt-BR" sz="1200" noProof="0" dirty="0" err="1">
                <a:solidFill>
                  <a:srgbClr val="1B2A4A"/>
                </a:solidFill>
                <a:latin typeface="Courier New" pitchFamily="34" charset="0"/>
                <a:cs typeface="Courier New" pitchFamily="34" charset="-120"/>
              </a:rPr>
              <a:t>finalizarCompra</a:t>
            </a:r>
            <a:r>
              <a:rPr lang="pt-BR" sz="1200" noProof="0" dirty="0">
                <a:solidFill>
                  <a:srgbClr val="1B2A4A"/>
                </a:solidFill>
                <a:latin typeface="Courier New" pitchFamily="34" charset="0"/>
                <a:cs typeface="Courier New" pitchFamily="34" charset="-120"/>
              </a:rPr>
              <a:t>(Carrinho c) {</a:t>
            </a:r>
          </a:p>
          <a:p>
            <a:pPr indent="0">
              <a:lnSpc>
                <a:spcPct val="118000"/>
              </a:lnSpc>
              <a:buNone/>
            </a:pPr>
            <a:r>
              <a:rPr lang="pt-BR" sz="1200" noProof="0" dirty="0">
                <a:solidFill>
                  <a:srgbClr val="1B2A4A"/>
                </a:solidFill>
                <a:latin typeface="Courier New" pitchFamily="34" charset="0"/>
                <a:cs typeface="Courier New" pitchFamily="34" charset="-120"/>
              </a:rPr>
              <a:t>  </a:t>
            </a:r>
            <a:r>
              <a:rPr lang="pt-BR" sz="1200" noProof="0" dirty="0" err="1">
                <a:solidFill>
                  <a:srgbClr val="1B2A4A"/>
                </a:solidFill>
                <a:latin typeface="Courier New" pitchFamily="34" charset="0"/>
                <a:cs typeface="Courier New" pitchFamily="34" charset="-120"/>
              </a:rPr>
              <a:t>validarCarrinho</a:t>
            </a:r>
            <a:r>
              <a:rPr lang="pt-BR" sz="1200" noProof="0" dirty="0">
                <a:solidFill>
                  <a:srgbClr val="1B2A4A"/>
                </a:solidFill>
                <a:latin typeface="Courier New" pitchFamily="34" charset="0"/>
                <a:cs typeface="Courier New" pitchFamily="34" charset="-120"/>
              </a:rPr>
              <a:t>(c);</a:t>
            </a:r>
          </a:p>
          <a:p>
            <a:pPr indent="0">
              <a:lnSpc>
                <a:spcPct val="118000"/>
              </a:lnSpc>
              <a:buNone/>
            </a:pPr>
            <a:r>
              <a:rPr lang="pt-BR" sz="1200" noProof="0" dirty="0">
                <a:solidFill>
                  <a:srgbClr val="1B2A4A"/>
                </a:solidFill>
                <a:latin typeface="Courier New" pitchFamily="34" charset="0"/>
                <a:cs typeface="Courier New" pitchFamily="34" charset="-120"/>
              </a:rPr>
              <a:t>  </a:t>
            </a:r>
            <a:r>
              <a:rPr lang="pt-BR" sz="1200" noProof="0" dirty="0" err="1">
                <a:solidFill>
                  <a:srgbClr val="1B2A4A"/>
                </a:solidFill>
                <a:latin typeface="Courier New" pitchFamily="34" charset="0"/>
                <a:cs typeface="Courier New" pitchFamily="34" charset="-120"/>
              </a:rPr>
              <a:t>reservarEstoque</a:t>
            </a:r>
            <a:r>
              <a:rPr lang="pt-BR" sz="1200" noProof="0" dirty="0">
                <a:solidFill>
                  <a:srgbClr val="1B2A4A"/>
                </a:solidFill>
                <a:latin typeface="Courier New" pitchFamily="34" charset="0"/>
                <a:cs typeface="Courier New" pitchFamily="34" charset="-120"/>
              </a:rPr>
              <a:t>(c);</a:t>
            </a:r>
          </a:p>
          <a:p>
            <a:pPr indent="0">
              <a:lnSpc>
                <a:spcPct val="118000"/>
              </a:lnSpc>
              <a:buNone/>
            </a:pPr>
            <a:r>
              <a:rPr lang="pt-BR" sz="1200" noProof="0" dirty="0">
                <a:solidFill>
                  <a:srgbClr val="1B2A4A"/>
                </a:solidFill>
                <a:latin typeface="Courier New" pitchFamily="34" charset="0"/>
                <a:cs typeface="Courier New" pitchFamily="34" charset="-120"/>
              </a:rPr>
              <a:t>  </a:t>
            </a:r>
            <a:r>
              <a:rPr lang="pt-BR" sz="1200" noProof="0" dirty="0" err="1">
                <a:solidFill>
                  <a:srgbClr val="1B2A4A"/>
                </a:solidFill>
                <a:latin typeface="Courier New" pitchFamily="34" charset="0"/>
                <a:cs typeface="Courier New" pitchFamily="34" charset="-120"/>
              </a:rPr>
              <a:t>cobrarPagamento</a:t>
            </a:r>
            <a:r>
              <a:rPr lang="pt-BR" sz="1200" noProof="0" dirty="0">
                <a:solidFill>
                  <a:srgbClr val="1B2A4A"/>
                </a:solidFill>
                <a:latin typeface="Courier New" pitchFamily="34" charset="0"/>
                <a:cs typeface="Courier New" pitchFamily="34" charset="-120"/>
              </a:rPr>
              <a:t>(c);</a:t>
            </a:r>
          </a:p>
          <a:p>
            <a:pPr indent="0">
              <a:lnSpc>
                <a:spcPct val="118000"/>
              </a:lnSpc>
              <a:buNone/>
            </a:pPr>
            <a:r>
              <a:rPr lang="pt-BR" sz="1200" noProof="0" dirty="0">
                <a:solidFill>
                  <a:srgbClr val="1B2A4A"/>
                </a:solidFill>
                <a:latin typeface="Courier New" pitchFamily="34" charset="0"/>
                <a:cs typeface="Courier New" pitchFamily="34" charset="-120"/>
              </a:rPr>
              <a:t>  </a:t>
            </a:r>
            <a:r>
              <a:rPr lang="pt-BR" sz="1200" noProof="0" dirty="0" err="1">
                <a:solidFill>
                  <a:srgbClr val="1B2A4A"/>
                </a:solidFill>
                <a:latin typeface="Courier New" pitchFamily="34" charset="0"/>
                <a:cs typeface="Courier New" pitchFamily="34" charset="-120"/>
              </a:rPr>
              <a:t>gerarPedido</a:t>
            </a:r>
            <a:r>
              <a:rPr lang="pt-BR" sz="1200" noProof="0" dirty="0">
                <a:solidFill>
                  <a:srgbClr val="1B2A4A"/>
                </a:solidFill>
                <a:latin typeface="Courier New" pitchFamily="34" charset="0"/>
                <a:cs typeface="Courier New" pitchFamily="34" charset="-120"/>
              </a:rPr>
              <a:t>(c);</a:t>
            </a:r>
          </a:p>
          <a:p>
            <a:pPr indent="0">
              <a:lnSpc>
                <a:spcPct val="118000"/>
              </a:lnSpc>
              <a:buNone/>
            </a:pPr>
            <a:r>
              <a:rPr lang="pt-BR" sz="1200" noProof="0" dirty="0">
                <a:solidFill>
                  <a:srgbClr val="1B2A4A"/>
                </a:solidFill>
                <a:latin typeface="Courier New" pitchFamily="34" charset="0"/>
                <a:cs typeface="Courier New" pitchFamily="34" charset="-120"/>
              </a:rPr>
              <a:t>}</a:t>
            </a:r>
          </a:p>
        </p:txBody>
      </p:sp>
      <p:sp>
        <p:nvSpPr>
          <p:cNvPr id="13" name="Text 11"/>
          <p:cNvSpPr/>
          <p:nvPr/>
        </p:nvSpPr>
        <p:spPr>
          <a:xfrm>
            <a:off x="502920" y="3205480"/>
            <a:ext cx="11201400" cy="384048"/>
          </a:xfrm>
          <a:prstGeom prst="rect">
            <a:avLst/>
          </a:prstGeom>
          <a:noFill/>
          <a:ln/>
        </p:spPr>
        <p:txBody>
          <a:bodyPr wrap="square" lIns="0" tIns="0" rIns="0" bIns="0" rtlCol="0" anchor="ctr"/>
          <a:lstStyle/>
          <a:p>
            <a:pPr marL="0" indent="0" algn="ctr">
              <a:lnSpc>
                <a:spcPct val="108000"/>
              </a:lnSpc>
              <a:buNone/>
            </a:pPr>
            <a:r>
              <a:rPr lang="pt-BR" sz="1000" i="1" noProof="0" dirty="0">
                <a:solidFill>
                  <a:srgbClr val="6B7280"/>
                </a:solidFill>
                <a:latin typeface="Calibri" pitchFamily="34" charset="0"/>
                <a:ea typeface="Calibri" pitchFamily="34" charset="-122"/>
                <a:cs typeface="Calibri" pitchFamily="34" charset="-120"/>
              </a:rPr>
              <a:t>A função de alto nível apresenta a narrativa da operação. Laços, consultas, conversões e detalhes de infraestrutura pertencem a níveis inferiores.</a:t>
            </a:r>
            <a:endParaRPr lang="pt-BR" sz="1000" noProof="0" dirty="0"/>
          </a:p>
        </p:txBody>
      </p:sp>
      <p:sp>
        <p:nvSpPr>
          <p:cNvPr id="14" name="Shape 12"/>
          <p:cNvSpPr/>
          <p:nvPr/>
        </p:nvSpPr>
        <p:spPr>
          <a:xfrm>
            <a:off x="502920" y="3598845"/>
            <a:ext cx="118872" cy="118872"/>
          </a:xfrm>
          <a:prstGeom prst="rect">
            <a:avLst/>
          </a:prstGeom>
          <a:solidFill>
            <a:srgbClr val="C9A227"/>
          </a:solidFill>
          <a:ln/>
        </p:spPr>
        <p:txBody>
          <a:bodyPr/>
          <a:lstStyle/>
          <a:p>
            <a:endParaRPr lang="pt-BR" noProof="0" dirty="0"/>
          </a:p>
        </p:txBody>
      </p:sp>
      <p:sp>
        <p:nvSpPr>
          <p:cNvPr id="15" name="Text 13"/>
          <p:cNvSpPr/>
          <p:nvPr/>
        </p:nvSpPr>
        <p:spPr>
          <a:xfrm>
            <a:off x="749808" y="3521121"/>
            <a:ext cx="526694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EXEMPLO DE ARGUMENTOS</a:t>
            </a:r>
            <a:endParaRPr lang="pt-BR" sz="1250" noProof="0" dirty="0"/>
          </a:p>
        </p:txBody>
      </p:sp>
      <p:sp>
        <p:nvSpPr>
          <p:cNvPr id="16" name="Text 14"/>
          <p:cNvSpPr/>
          <p:nvPr/>
        </p:nvSpPr>
        <p:spPr>
          <a:xfrm>
            <a:off x="502920" y="3859449"/>
            <a:ext cx="5440680"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Antes</a:t>
            </a:r>
            <a:endParaRPr lang="pt-BR" sz="1100" noProof="0" dirty="0"/>
          </a:p>
        </p:txBody>
      </p:sp>
      <p:sp>
        <p:nvSpPr>
          <p:cNvPr id="17" name="Shape 15"/>
          <p:cNvSpPr/>
          <p:nvPr/>
        </p:nvSpPr>
        <p:spPr>
          <a:xfrm>
            <a:off x="502920" y="4152057"/>
            <a:ext cx="5440680" cy="777240"/>
          </a:xfrm>
          <a:prstGeom prst="roundRect">
            <a:avLst>
              <a:gd name="adj" fmla="val 5294"/>
            </a:avLst>
          </a:prstGeom>
          <a:solidFill>
            <a:srgbClr val="F2F2F3"/>
          </a:solidFill>
          <a:ln w="12700">
            <a:solidFill>
              <a:srgbClr val="D7DAE0"/>
            </a:solidFill>
            <a:prstDash val="solid"/>
          </a:ln>
        </p:spPr>
        <p:txBody>
          <a:bodyPr/>
          <a:lstStyle/>
          <a:p>
            <a:endParaRPr lang="pt-BR" noProof="0" dirty="0"/>
          </a:p>
        </p:txBody>
      </p:sp>
      <p:sp>
        <p:nvSpPr>
          <p:cNvPr id="18" name="Text 16"/>
          <p:cNvSpPr/>
          <p:nvPr/>
        </p:nvSpPr>
        <p:spPr>
          <a:xfrm>
            <a:off x="685800" y="4225209"/>
            <a:ext cx="5074920" cy="630936"/>
          </a:xfrm>
          <a:prstGeom prst="rect">
            <a:avLst/>
          </a:prstGeom>
          <a:noFill/>
          <a:ln/>
        </p:spPr>
        <p:txBody>
          <a:bodyPr wrap="square" lIns="0" tIns="0" rIns="0" bIns="0" rtlCol="0" anchor="t"/>
          <a:lstStyle/>
          <a:p>
            <a:pPr marL="0" indent="0">
              <a:lnSpc>
                <a:spcPct val="118000"/>
              </a:lnSpc>
              <a:buNone/>
            </a:pPr>
            <a:r>
              <a:rPr lang="pt-BR" sz="960" noProof="0" dirty="0" err="1">
                <a:solidFill>
                  <a:srgbClr val="1B2A4A"/>
                </a:solidFill>
                <a:latin typeface="Courier New" pitchFamily="34" charset="0"/>
                <a:ea typeface="Courier New" pitchFamily="34" charset="-122"/>
                <a:cs typeface="Courier New" pitchFamily="34" charset="-120"/>
              </a:rPr>
              <a:t>calcularFrete</a:t>
            </a:r>
            <a:r>
              <a:rPr lang="pt-BR" sz="960" noProof="0" dirty="0">
                <a:solidFill>
                  <a:srgbClr val="1B2A4A"/>
                </a:solidFill>
                <a:latin typeface="Courier New" pitchFamily="34" charset="0"/>
                <a:ea typeface="Courier New" pitchFamily="34" charset="-122"/>
                <a:cs typeface="Courier New" pitchFamily="34" charset="-120"/>
              </a:rPr>
              <a:t>(</a:t>
            </a:r>
            <a:endParaRPr lang="pt-BR" sz="960" noProof="0" dirty="0"/>
          </a:p>
          <a:p>
            <a:pPr marL="0" indent="0">
              <a:lnSpc>
                <a:spcPct val="118000"/>
              </a:lnSpc>
              <a:buNone/>
            </a:pPr>
            <a:r>
              <a:rPr lang="pt-BR" sz="960" noProof="0" dirty="0">
                <a:solidFill>
                  <a:srgbClr val="1B2A4A"/>
                </a:solidFill>
                <a:latin typeface="Courier New" pitchFamily="34" charset="0"/>
                <a:ea typeface="Courier New" pitchFamily="34" charset="-122"/>
                <a:cs typeface="Courier New" pitchFamily="34" charset="-120"/>
              </a:rPr>
              <a:t>  cep, cidade, estado,</a:t>
            </a:r>
            <a:endParaRPr lang="pt-BR" sz="960" noProof="0" dirty="0"/>
          </a:p>
          <a:p>
            <a:pPr marL="0" indent="0">
              <a:lnSpc>
                <a:spcPct val="118000"/>
              </a:lnSpc>
              <a:buNone/>
            </a:pPr>
            <a:r>
              <a:rPr lang="pt-BR" sz="960" noProof="0" dirty="0">
                <a:solidFill>
                  <a:srgbClr val="1B2A4A"/>
                </a:solidFill>
                <a:latin typeface="Courier New" pitchFamily="34" charset="0"/>
                <a:ea typeface="Courier New" pitchFamily="34" charset="-122"/>
                <a:cs typeface="Courier New" pitchFamily="34" charset="-120"/>
              </a:rPr>
              <a:t>  peso, altura, largura, profundidade</a:t>
            </a:r>
            <a:endParaRPr lang="pt-BR" sz="960" noProof="0" dirty="0"/>
          </a:p>
          <a:p>
            <a:pPr marL="0" indent="0">
              <a:lnSpc>
                <a:spcPct val="118000"/>
              </a:lnSpc>
              <a:buNone/>
            </a:pPr>
            <a:r>
              <a:rPr lang="pt-BR" sz="960" noProof="0" dirty="0">
                <a:solidFill>
                  <a:srgbClr val="1B2A4A"/>
                </a:solidFill>
                <a:latin typeface="Courier New" pitchFamily="34" charset="0"/>
                <a:ea typeface="Courier New" pitchFamily="34" charset="-122"/>
                <a:cs typeface="Courier New" pitchFamily="34" charset="-120"/>
              </a:rPr>
              <a:t>);</a:t>
            </a:r>
            <a:endParaRPr lang="pt-BR" sz="960" noProof="0" dirty="0"/>
          </a:p>
        </p:txBody>
      </p:sp>
      <p:sp>
        <p:nvSpPr>
          <p:cNvPr id="19" name="Text 17"/>
          <p:cNvSpPr/>
          <p:nvPr/>
        </p:nvSpPr>
        <p:spPr>
          <a:xfrm>
            <a:off x="6263640" y="3859449"/>
            <a:ext cx="5440680"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Depois</a:t>
            </a:r>
            <a:endParaRPr lang="pt-BR" sz="1100" noProof="0" dirty="0"/>
          </a:p>
        </p:txBody>
      </p:sp>
      <p:sp>
        <p:nvSpPr>
          <p:cNvPr id="20" name="Shape 18"/>
          <p:cNvSpPr/>
          <p:nvPr/>
        </p:nvSpPr>
        <p:spPr>
          <a:xfrm>
            <a:off x="6263640" y="4152057"/>
            <a:ext cx="5440680" cy="777240"/>
          </a:xfrm>
          <a:prstGeom prst="roundRect">
            <a:avLst>
              <a:gd name="adj" fmla="val 5294"/>
            </a:avLst>
          </a:prstGeom>
          <a:solidFill>
            <a:srgbClr val="F2F2F3"/>
          </a:solidFill>
          <a:ln w="12700">
            <a:solidFill>
              <a:srgbClr val="D7DAE0"/>
            </a:solidFill>
            <a:prstDash val="solid"/>
          </a:ln>
        </p:spPr>
        <p:txBody>
          <a:bodyPr/>
          <a:lstStyle/>
          <a:p>
            <a:endParaRPr lang="pt-BR" noProof="0" dirty="0"/>
          </a:p>
        </p:txBody>
      </p:sp>
      <p:sp>
        <p:nvSpPr>
          <p:cNvPr id="21" name="Text 19"/>
          <p:cNvSpPr/>
          <p:nvPr/>
        </p:nvSpPr>
        <p:spPr>
          <a:xfrm>
            <a:off x="6446520" y="4225209"/>
            <a:ext cx="5074920" cy="630936"/>
          </a:xfrm>
          <a:prstGeom prst="rect">
            <a:avLst/>
          </a:prstGeom>
          <a:noFill/>
          <a:ln/>
        </p:spPr>
        <p:txBody>
          <a:bodyPr wrap="square" lIns="0" tIns="0" rIns="0" bIns="0" rtlCol="0" anchor="ctr"/>
          <a:lstStyle/>
          <a:p>
            <a:pPr marL="0" indent="0">
              <a:lnSpc>
                <a:spcPct val="118000"/>
              </a:lnSpc>
              <a:buNone/>
            </a:pPr>
            <a:r>
              <a:rPr lang="pt-BR" sz="1150" noProof="0" dirty="0" err="1">
                <a:solidFill>
                  <a:srgbClr val="1B2A4A"/>
                </a:solidFill>
                <a:latin typeface="Courier New" pitchFamily="34" charset="0"/>
                <a:ea typeface="Courier New" pitchFamily="34" charset="-122"/>
                <a:cs typeface="Courier New" pitchFamily="34" charset="-120"/>
              </a:rPr>
              <a:t>calcularFrete</a:t>
            </a:r>
            <a:r>
              <a:rPr lang="pt-BR" sz="1150" noProof="0" dirty="0">
                <a:solidFill>
                  <a:srgbClr val="1B2A4A"/>
                </a:solidFill>
                <a:latin typeface="Courier New" pitchFamily="34" charset="0"/>
                <a:ea typeface="Courier New" pitchFamily="34" charset="-122"/>
                <a:cs typeface="Courier New" pitchFamily="34" charset="-120"/>
              </a:rPr>
              <a:t>(destino, pacote);</a:t>
            </a:r>
            <a:endParaRPr lang="pt-BR" sz="1150" noProof="0" dirty="0"/>
          </a:p>
        </p:txBody>
      </p:sp>
      <p:sp>
        <p:nvSpPr>
          <p:cNvPr id="22" name="Text 20"/>
          <p:cNvSpPr/>
          <p:nvPr/>
        </p:nvSpPr>
        <p:spPr>
          <a:xfrm>
            <a:off x="516805" y="4851575"/>
            <a:ext cx="11917680" cy="457200"/>
          </a:xfrm>
          <a:prstGeom prst="rect">
            <a:avLst/>
          </a:prstGeom>
          <a:noFill/>
          <a:ln/>
        </p:spPr>
        <p:txBody>
          <a:bodyPr wrap="square" lIns="0" tIns="0" rIns="0" bIns="0" rtlCol="0" anchor="ctr"/>
          <a:lstStyle/>
          <a:p>
            <a:pPr marL="0" indent="0" algn="ctr">
              <a:lnSpc>
                <a:spcPct val="110000"/>
              </a:lnSpc>
              <a:buNone/>
            </a:pPr>
            <a:r>
              <a:rPr lang="pt-BR" sz="1000" b="1" i="1" noProof="0" dirty="0">
                <a:solidFill>
                  <a:srgbClr val="6B7280"/>
                </a:solidFill>
                <a:latin typeface="Calibri" pitchFamily="34" charset="0"/>
                <a:ea typeface="Calibri" pitchFamily="34" charset="-122"/>
                <a:cs typeface="Calibri" pitchFamily="34" charset="-120"/>
              </a:rPr>
              <a:t>Efeitos colaterais: </a:t>
            </a:r>
            <a:r>
              <a:rPr lang="pt-BR" sz="1000" i="1" noProof="0" dirty="0">
                <a:solidFill>
                  <a:srgbClr val="6B7280"/>
                </a:solidFill>
                <a:latin typeface="Calibri" pitchFamily="34" charset="0"/>
                <a:ea typeface="Calibri" pitchFamily="34" charset="-122"/>
                <a:cs typeface="Calibri" pitchFamily="34" charset="-120"/>
              </a:rPr>
              <a:t>um método chamado </a:t>
            </a:r>
            <a:r>
              <a:rPr lang="pt-BR" sz="1000" i="1" noProof="0" dirty="0" err="1">
                <a:solidFill>
                  <a:srgbClr val="6B7280"/>
                </a:solidFill>
                <a:latin typeface="Calibri" pitchFamily="34" charset="0"/>
                <a:ea typeface="Calibri" pitchFamily="34" charset="-122"/>
                <a:cs typeface="Calibri" pitchFamily="34" charset="-120"/>
              </a:rPr>
              <a:t>consultarTotal</a:t>
            </a:r>
            <a:r>
              <a:rPr lang="pt-BR" sz="1000" i="1" noProof="0" dirty="0">
                <a:solidFill>
                  <a:srgbClr val="6B7280"/>
                </a:solidFill>
                <a:latin typeface="Calibri" pitchFamily="34" charset="0"/>
                <a:ea typeface="Calibri" pitchFamily="34" charset="-122"/>
                <a:cs typeface="Calibri" pitchFamily="34" charset="-120"/>
              </a:rPr>
              <a:t>() não deve alterar estado ou persistir dados.</a:t>
            </a:r>
          </a:p>
        </p:txBody>
      </p:sp>
      <p:sp>
        <p:nvSpPr>
          <p:cNvPr id="23" name="Shape 21"/>
          <p:cNvSpPr/>
          <p:nvPr/>
        </p:nvSpPr>
        <p:spPr>
          <a:xfrm>
            <a:off x="502920" y="5355171"/>
            <a:ext cx="118872" cy="118872"/>
          </a:xfrm>
          <a:prstGeom prst="rect">
            <a:avLst/>
          </a:prstGeom>
          <a:solidFill>
            <a:srgbClr val="C9A227"/>
          </a:solidFill>
          <a:ln/>
        </p:spPr>
        <p:txBody>
          <a:bodyPr/>
          <a:lstStyle/>
          <a:p>
            <a:endParaRPr lang="pt-BR" noProof="0" dirty="0"/>
          </a:p>
        </p:txBody>
      </p:sp>
      <p:sp>
        <p:nvSpPr>
          <p:cNvPr id="24" name="Text 22"/>
          <p:cNvSpPr/>
          <p:nvPr/>
        </p:nvSpPr>
        <p:spPr>
          <a:xfrm>
            <a:off x="722376" y="5286591"/>
            <a:ext cx="554126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LIMITES</a:t>
            </a:r>
            <a:endParaRPr lang="pt-BR" sz="1250" noProof="0" dirty="0"/>
          </a:p>
        </p:txBody>
      </p:sp>
      <p:sp>
        <p:nvSpPr>
          <p:cNvPr id="25" name="Text 23"/>
          <p:cNvSpPr/>
          <p:nvPr/>
        </p:nvSpPr>
        <p:spPr>
          <a:xfrm>
            <a:off x="502920" y="5582584"/>
            <a:ext cx="5760720" cy="640080"/>
          </a:xfrm>
          <a:prstGeom prst="rect">
            <a:avLst/>
          </a:prstGeom>
          <a:noFill/>
          <a:ln/>
        </p:spPr>
        <p:txBody>
          <a:bodyPr wrap="square" lIns="0" tIns="0" rIns="0" bIns="0" rtlCol="0" anchor="t"/>
          <a:lstStyle/>
          <a:p>
            <a:pPr marL="177800" indent="-177800">
              <a:lnSpc>
                <a:spcPct val="106000"/>
              </a:lnSpc>
              <a:spcAft>
                <a:spcPts val="150"/>
              </a:spcAft>
              <a:buSzPct val="100000"/>
              <a:buChar char="▪"/>
            </a:pPr>
            <a:r>
              <a:rPr lang="pt-BR" sz="1050" noProof="0" dirty="0">
                <a:solidFill>
                  <a:srgbClr val="2B2B2E"/>
                </a:solidFill>
                <a:latin typeface="Calibri" pitchFamily="34" charset="0"/>
                <a:ea typeface="Calibri" pitchFamily="34" charset="-122"/>
                <a:cs typeface="Calibri" pitchFamily="34" charset="-120"/>
              </a:rPr>
              <a:t>Funções pequenas demais podem fragmentar a leitura</a:t>
            </a:r>
            <a:endParaRPr lang="pt-BR" sz="1050" noProof="0" dirty="0"/>
          </a:p>
          <a:p>
            <a:pPr marL="177800" indent="-177800">
              <a:lnSpc>
                <a:spcPct val="106000"/>
              </a:lnSpc>
              <a:spcAft>
                <a:spcPts val="150"/>
              </a:spcAft>
              <a:buSzPct val="100000"/>
              <a:buChar char="▪"/>
            </a:pPr>
            <a:r>
              <a:rPr lang="pt-BR" sz="1050" noProof="0" dirty="0">
                <a:solidFill>
                  <a:srgbClr val="2B2B2E"/>
                </a:solidFill>
                <a:latin typeface="Calibri" pitchFamily="34" charset="0"/>
                <a:ea typeface="Calibri" pitchFamily="34" charset="-122"/>
                <a:cs typeface="Calibri" pitchFamily="34" charset="-120"/>
              </a:rPr>
              <a:t>Extrações sem significado criam saltos desnecessários</a:t>
            </a:r>
            <a:endParaRPr lang="pt-BR" sz="1050" noProof="0" dirty="0"/>
          </a:p>
          <a:p>
            <a:pPr marL="177800" indent="-177800">
              <a:lnSpc>
                <a:spcPct val="106000"/>
              </a:lnSpc>
              <a:spcAft>
                <a:spcPts val="150"/>
              </a:spcAft>
              <a:buSzPct val="100000"/>
              <a:buChar char="▪"/>
            </a:pPr>
            <a:r>
              <a:rPr lang="pt-BR" sz="1050" noProof="0" dirty="0">
                <a:solidFill>
                  <a:srgbClr val="2B2B2E"/>
                </a:solidFill>
                <a:latin typeface="Calibri" pitchFamily="34" charset="0"/>
                <a:ea typeface="Calibri" pitchFamily="34" charset="-122"/>
                <a:cs typeface="Calibri" pitchFamily="34" charset="-120"/>
              </a:rPr>
              <a:t>Uma função longa pode representar uma sequência coesa</a:t>
            </a:r>
            <a:endParaRPr lang="pt-BR" sz="1050" noProof="0" dirty="0"/>
          </a:p>
          <a:p>
            <a:pPr marL="177800" indent="-177800">
              <a:lnSpc>
                <a:spcPct val="106000"/>
              </a:lnSpc>
              <a:spcAft>
                <a:spcPts val="150"/>
              </a:spcAft>
              <a:buSzPct val="100000"/>
              <a:buChar char="▪"/>
            </a:pPr>
            <a:r>
              <a:rPr lang="pt-BR" sz="1050" noProof="0" dirty="0">
                <a:solidFill>
                  <a:srgbClr val="2B2B2E"/>
                </a:solidFill>
                <a:latin typeface="Calibri" pitchFamily="34" charset="0"/>
                <a:ea typeface="Calibri" pitchFamily="34" charset="-122"/>
                <a:cs typeface="Calibri" pitchFamily="34" charset="-120"/>
              </a:rPr>
              <a:t>O contexto determina a fronteira adequada</a:t>
            </a:r>
            <a:endParaRPr lang="pt-BR" sz="1050" noProof="0" dirty="0"/>
          </a:p>
        </p:txBody>
      </p:sp>
      <p:sp>
        <p:nvSpPr>
          <p:cNvPr id="27" name="Shape 25"/>
          <p:cNvSpPr/>
          <p:nvPr/>
        </p:nvSpPr>
        <p:spPr>
          <a:xfrm>
            <a:off x="6622963" y="5359908"/>
            <a:ext cx="118872" cy="118872"/>
          </a:xfrm>
          <a:prstGeom prst="rect">
            <a:avLst/>
          </a:prstGeom>
          <a:solidFill>
            <a:srgbClr val="C9A227"/>
          </a:solidFill>
          <a:ln/>
        </p:spPr>
        <p:txBody>
          <a:bodyPr/>
          <a:lstStyle/>
          <a:p>
            <a:endParaRPr lang="pt-BR" noProof="0" dirty="0"/>
          </a:p>
        </p:txBody>
      </p:sp>
      <p:sp>
        <p:nvSpPr>
          <p:cNvPr id="28" name="Text 26"/>
          <p:cNvSpPr/>
          <p:nvPr/>
        </p:nvSpPr>
        <p:spPr>
          <a:xfrm>
            <a:off x="6842419" y="5291328"/>
            <a:ext cx="4663440"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PERGUNTAS PARA ANÁLISE</a:t>
            </a:r>
            <a:endParaRPr lang="pt-BR" sz="1250" noProof="0" dirty="0"/>
          </a:p>
        </p:txBody>
      </p:sp>
      <p:sp>
        <p:nvSpPr>
          <p:cNvPr id="29" name="Text 27"/>
          <p:cNvSpPr/>
          <p:nvPr/>
        </p:nvSpPr>
        <p:spPr>
          <a:xfrm>
            <a:off x="6656832" y="5588002"/>
            <a:ext cx="4882896" cy="688442"/>
          </a:xfrm>
          <a:prstGeom prst="rect">
            <a:avLst/>
          </a:prstGeom>
          <a:noFill/>
          <a:ln/>
        </p:spPr>
        <p:txBody>
          <a:bodyPr wrap="square" lIns="0" tIns="0" rIns="0" bIns="0" rtlCol="0" anchor="t"/>
          <a:lstStyle/>
          <a:p>
            <a:pPr marL="177800" indent="-177800">
              <a:lnSpc>
                <a:spcPct val="106000"/>
              </a:lnSpc>
              <a:spcAft>
                <a:spcPts val="200"/>
              </a:spcAft>
              <a:buSzPct val="100000"/>
              <a:buChar char="▪"/>
            </a:pPr>
            <a:r>
              <a:rPr lang="pt-BR" sz="1050" i="1" noProof="0" dirty="0">
                <a:solidFill>
                  <a:srgbClr val="1B2A4A"/>
                </a:solidFill>
                <a:latin typeface="Calibri" pitchFamily="34" charset="0"/>
                <a:ea typeface="Calibri" pitchFamily="34" charset="-122"/>
                <a:cs typeface="Calibri" pitchFamily="34" charset="-120"/>
              </a:rPr>
              <a:t>É possível nomear uma única intenção?</a:t>
            </a:r>
            <a:endParaRPr lang="pt-BR" sz="1050" noProof="0" dirty="0"/>
          </a:p>
          <a:p>
            <a:pPr marL="177800" indent="-177800">
              <a:lnSpc>
                <a:spcPct val="106000"/>
              </a:lnSpc>
              <a:spcAft>
                <a:spcPts val="200"/>
              </a:spcAft>
              <a:buSzPct val="100000"/>
              <a:buChar char="▪"/>
            </a:pPr>
            <a:r>
              <a:rPr lang="pt-BR" sz="1050" i="1" noProof="0" dirty="0">
                <a:solidFill>
                  <a:srgbClr val="1B2A4A"/>
                </a:solidFill>
                <a:latin typeface="Calibri" pitchFamily="34" charset="0"/>
                <a:ea typeface="Calibri" pitchFamily="34" charset="-122"/>
                <a:cs typeface="Calibri" pitchFamily="34" charset="-120"/>
              </a:rPr>
              <a:t>A função mistura níveis de abstração?</a:t>
            </a:r>
            <a:endParaRPr lang="pt-BR" sz="1050" noProof="0" dirty="0"/>
          </a:p>
          <a:p>
            <a:pPr marL="177800" indent="-177800">
              <a:lnSpc>
                <a:spcPct val="106000"/>
              </a:lnSpc>
              <a:spcAft>
                <a:spcPts val="200"/>
              </a:spcAft>
              <a:buSzPct val="100000"/>
              <a:buChar char="▪"/>
            </a:pPr>
            <a:r>
              <a:rPr lang="pt-BR" sz="1050" i="1" noProof="0" dirty="0">
                <a:solidFill>
                  <a:srgbClr val="1B2A4A"/>
                </a:solidFill>
                <a:latin typeface="Calibri" pitchFamily="34" charset="0"/>
                <a:ea typeface="Calibri" pitchFamily="34" charset="-122"/>
                <a:cs typeface="Calibri" pitchFamily="34" charset="-120"/>
              </a:rPr>
              <a:t>A assinatura revela conceitos ausentes?</a:t>
            </a:r>
            <a:endParaRPr lang="pt-BR" sz="1050" noProof="0" dirty="0"/>
          </a:p>
          <a:p>
            <a:pPr marL="177800" indent="-177800">
              <a:lnSpc>
                <a:spcPct val="106000"/>
              </a:lnSpc>
              <a:spcAft>
                <a:spcPts val="200"/>
              </a:spcAft>
              <a:buSzPct val="100000"/>
              <a:buChar char="▪"/>
            </a:pPr>
            <a:r>
              <a:rPr lang="pt-BR" sz="1050" i="1" noProof="0" dirty="0">
                <a:solidFill>
                  <a:srgbClr val="1B2A4A"/>
                </a:solidFill>
                <a:latin typeface="Calibri" pitchFamily="34" charset="0"/>
                <a:ea typeface="Calibri" pitchFamily="34" charset="-122"/>
                <a:cs typeface="Calibri" pitchFamily="34" charset="-120"/>
              </a:rPr>
              <a:t>O nome prepara o leitor para os efeitos?</a:t>
            </a:r>
            <a:endParaRPr lang="pt-BR" sz="1050" noProof="0" dirty="0"/>
          </a:p>
        </p:txBody>
      </p:sp>
      <p:sp>
        <p:nvSpPr>
          <p:cNvPr id="30" name="Shape 28"/>
          <p:cNvSpPr/>
          <p:nvPr/>
        </p:nvSpPr>
        <p:spPr>
          <a:xfrm>
            <a:off x="0" y="6528816"/>
            <a:ext cx="12188952" cy="329184"/>
          </a:xfrm>
          <a:prstGeom prst="rect">
            <a:avLst/>
          </a:prstGeom>
          <a:solidFill>
            <a:srgbClr val="1B2A4A"/>
          </a:solidFill>
          <a:ln/>
        </p:spPr>
        <p:txBody>
          <a:bodyPr/>
          <a:lstStyle/>
          <a:p>
            <a:endParaRPr lang="pt-BR" noProof="0" dirty="0"/>
          </a:p>
        </p:txBody>
      </p:sp>
      <p:sp>
        <p:nvSpPr>
          <p:cNvPr id="31" name="Text 29"/>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32" name="Text 30"/>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07 / 13</a:t>
            </a:r>
            <a:endParaRPr lang="pt-BR" sz="950" noProof="0" dirty="0"/>
          </a:p>
        </p:txBody>
      </p:sp>
      <p:grpSp>
        <p:nvGrpSpPr>
          <p:cNvPr id="33" name="Agrupar 32">
            <a:extLst>
              <a:ext uri="{FF2B5EF4-FFF2-40B4-BE49-F238E27FC236}">
                <a16:creationId xmlns:a16="http://schemas.microsoft.com/office/drawing/2014/main" id="{D1616547-E247-8DE4-ECC8-A3621865AF4E}"/>
              </a:ext>
            </a:extLst>
          </p:cNvPr>
          <p:cNvGrpSpPr/>
          <p:nvPr/>
        </p:nvGrpSpPr>
        <p:grpSpPr>
          <a:xfrm>
            <a:off x="278892" y="205740"/>
            <a:ext cx="566928" cy="566928"/>
            <a:chOff x="384048" y="290322"/>
            <a:chExt cx="566928" cy="566928"/>
          </a:xfrm>
        </p:grpSpPr>
        <p:sp>
          <p:nvSpPr>
            <p:cNvPr id="34" name="Shape 0">
              <a:extLst>
                <a:ext uri="{FF2B5EF4-FFF2-40B4-BE49-F238E27FC236}">
                  <a16:creationId xmlns:a16="http://schemas.microsoft.com/office/drawing/2014/main" id="{DCEB81ED-FD43-C432-5F24-E1F37A872347}"/>
                </a:ext>
              </a:extLst>
            </p:cNvPr>
            <p:cNvSpPr/>
            <p:nvPr/>
          </p:nvSpPr>
          <p:spPr>
            <a:xfrm>
              <a:off x="457200" y="384048"/>
              <a:ext cx="429768" cy="388620"/>
            </a:xfrm>
            <a:prstGeom prst="ellipse">
              <a:avLst/>
            </a:prstGeom>
            <a:solidFill>
              <a:srgbClr val="C9A227"/>
            </a:solidFill>
            <a:ln w="12700">
              <a:noFill/>
              <a:prstDash val="solid"/>
            </a:ln>
          </p:spPr>
          <p:txBody>
            <a:bodyPr/>
            <a:lstStyle/>
            <a:p>
              <a:endParaRPr lang="pt-BR" noProof="0" dirty="0"/>
            </a:p>
          </p:txBody>
        </p:sp>
        <p:sp>
          <p:nvSpPr>
            <p:cNvPr id="35" name="Text 1">
              <a:extLst>
                <a:ext uri="{FF2B5EF4-FFF2-40B4-BE49-F238E27FC236}">
                  <a16:creationId xmlns:a16="http://schemas.microsoft.com/office/drawing/2014/main" id="{177C6194-5740-EEDB-820A-C0D8AB5C0BC2}"/>
                </a:ext>
              </a:extLst>
            </p:cNvPr>
            <p:cNvSpPr/>
            <p:nvPr/>
          </p:nvSpPr>
          <p:spPr>
            <a:xfrm>
              <a:off x="384048" y="290322"/>
              <a:ext cx="566928" cy="566928"/>
            </a:xfrm>
            <a:prstGeom prst="rect">
              <a:avLst/>
            </a:prstGeom>
            <a:noFill/>
            <a:ln/>
          </p:spPr>
          <p:txBody>
            <a:bodyPr wrap="square" rtlCol="0" anchor="ctr"/>
            <a:lstStyle/>
            <a:p>
              <a:pPr marL="0" indent="0" algn="ctr">
                <a:buNone/>
              </a:pPr>
              <a:r>
                <a:rPr lang="pt-BR" sz="2000" b="1" noProof="0" dirty="0">
                  <a:solidFill>
                    <a:schemeClr val="bg1"/>
                  </a:solidFill>
                  <a:latin typeface="Tahoma" pitchFamily="34" charset="0"/>
                  <a:ea typeface="Tahoma" pitchFamily="34" charset="-122"/>
                  <a:cs typeface="Tahoma" pitchFamily="34" charset="-120"/>
                </a:rPr>
                <a:t>1</a:t>
              </a:r>
              <a:endParaRPr lang="pt-BR" sz="2000" noProof="0" dirty="0">
                <a:solidFill>
                  <a:schemeClr val="bg1"/>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7725" y="292608"/>
            <a:ext cx="11155680" cy="566928"/>
          </a:xfrm>
          <a:prstGeom prst="rect">
            <a:avLst/>
          </a:prstGeom>
          <a:noFill/>
          <a:ln/>
        </p:spPr>
        <p:txBody>
          <a:bodyPr wrap="square" lIns="0" tIns="0" rIns="0" bIns="0" rtlCol="0" anchor="t"/>
          <a:lstStyle/>
          <a:p>
            <a:pPr marL="0" indent="0">
              <a:buNone/>
            </a:pPr>
            <a:r>
              <a:rPr lang="pt-BR" sz="2700" b="1" noProof="0" dirty="0">
                <a:solidFill>
                  <a:srgbClr val="1B2A4A"/>
                </a:solidFill>
                <a:latin typeface="Cambria" pitchFamily="34" charset="0"/>
                <a:ea typeface="Cambria" pitchFamily="34" charset="-122"/>
                <a:cs typeface="Cambria" pitchFamily="34" charset="-120"/>
              </a:rPr>
              <a:t>DRY: Uma Fonte Confiável para Cada Conhecimento</a:t>
            </a:r>
            <a:endParaRPr lang="pt-BR" sz="2700" noProof="0" dirty="0"/>
          </a:p>
        </p:txBody>
      </p:sp>
      <p:sp>
        <p:nvSpPr>
          <p:cNvPr id="5" name="Text 3"/>
          <p:cNvSpPr/>
          <p:nvPr/>
        </p:nvSpPr>
        <p:spPr>
          <a:xfrm>
            <a:off x="502920" y="1225296"/>
            <a:ext cx="11155680" cy="457200"/>
          </a:xfrm>
          <a:prstGeom prst="rect">
            <a:avLst/>
          </a:prstGeom>
          <a:noFill/>
          <a:ln/>
        </p:spPr>
        <p:txBody>
          <a:bodyPr wrap="square" lIns="0" tIns="0" rIns="0" bIns="0" rtlCol="0" anchor="ctr"/>
          <a:lstStyle/>
          <a:p>
            <a:pPr marL="0" indent="0">
              <a:lnSpc>
                <a:spcPct val="110000"/>
              </a:lnSpc>
              <a:buNone/>
            </a:pPr>
            <a:endParaRPr lang="pt-BR" sz="1400" noProof="0" dirty="0">
              <a:solidFill>
                <a:srgbClr val="2B2B2E"/>
              </a:solidFill>
              <a:latin typeface="Calibri" pitchFamily="34" charset="0"/>
              <a:ea typeface="Calibri" pitchFamily="34" charset="-122"/>
              <a:cs typeface="Calibri" pitchFamily="34" charset="-120"/>
            </a:endParaRPr>
          </a:p>
        </p:txBody>
      </p:sp>
      <p:sp>
        <p:nvSpPr>
          <p:cNvPr id="6" name="Shape 4"/>
          <p:cNvSpPr/>
          <p:nvPr/>
        </p:nvSpPr>
        <p:spPr>
          <a:xfrm>
            <a:off x="674370" y="1869948"/>
            <a:ext cx="118872" cy="118872"/>
          </a:xfrm>
          <a:prstGeom prst="rect">
            <a:avLst/>
          </a:prstGeom>
          <a:solidFill>
            <a:srgbClr val="C9A227"/>
          </a:solidFill>
          <a:ln/>
        </p:spPr>
        <p:txBody>
          <a:bodyPr/>
          <a:lstStyle/>
          <a:p>
            <a:endParaRPr lang="pt-BR" noProof="0" dirty="0"/>
          </a:p>
        </p:txBody>
      </p:sp>
      <p:sp>
        <p:nvSpPr>
          <p:cNvPr id="7" name="Text 5"/>
          <p:cNvSpPr/>
          <p:nvPr/>
        </p:nvSpPr>
        <p:spPr>
          <a:xfrm>
            <a:off x="893826" y="1801368"/>
            <a:ext cx="5084064" cy="256032"/>
          </a:xfrm>
          <a:prstGeom prst="rect">
            <a:avLst/>
          </a:prstGeom>
          <a:noFill/>
          <a:ln/>
        </p:spPr>
        <p:txBody>
          <a:bodyPr wrap="square" lIns="0" tIns="0" rIns="0" bIns="0" rtlCol="0" anchor="ctr"/>
          <a:lstStyle/>
          <a:p>
            <a:pPr marL="0" indent="0">
              <a:buNone/>
            </a:pPr>
            <a:r>
              <a:rPr lang="pt-BR" sz="1300" b="1" kern="0" spc="50" noProof="0" dirty="0">
                <a:solidFill>
                  <a:srgbClr val="1B2A4A"/>
                </a:solidFill>
                <a:latin typeface="Calibri" pitchFamily="34" charset="0"/>
                <a:ea typeface="Calibri" pitchFamily="34" charset="-122"/>
                <a:cs typeface="Calibri" pitchFamily="34" charset="-120"/>
              </a:rPr>
              <a:t>O que pode ser conhecimento duplicado?</a:t>
            </a:r>
            <a:endParaRPr lang="pt-BR" sz="1300" noProof="0" dirty="0"/>
          </a:p>
        </p:txBody>
      </p:sp>
      <p:sp>
        <p:nvSpPr>
          <p:cNvPr id="8" name="Text 6"/>
          <p:cNvSpPr/>
          <p:nvPr/>
        </p:nvSpPr>
        <p:spPr>
          <a:xfrm>
            <a:off x="674370" y="2157984"/>
            <a:ext cx="4373880" cy="1280160"/>
          </a:xfrm>
          <a:prstGeom prst="rect">
            <a:avLst/>
          </a:prstGeom>
          <a:noFill/>
          <a:ln/>
        </p:spPr>
        <p:txBody>
          <a:bodyPr wrap="square" lIns="0" tIns="0" rIns="0" bIns="0" rtlCol="0" anchor="t"/>
          <a:lstStyle/>
          <a:p>
            <a:pPr marL="285750" indent="-285750">
              <a:lnSpc>
                <a:spcPct val="106000"/>
              </a:lnSpc>
              <a:spcAft>
                <a:spcPts val="400"/>
              </a:spcAft>
              <a:buSzPct val="100000"/>
              <a:buFont typeface="Wingdings" panose="05000000000000000000" pitchFamily="2" charset="2"/>
              <a:buChar char="§"/>
            </a:pPr>
            <a:r>
              <a:rPr lang="pt-BR" sz="1400" noProof="0" dirty="0">
                <a:solidFill>
                  <a:srgbClr val="2B2B2E"/>
                </a:solidFill>
                <a:latin typeface="Calibri" pitchFamily="34" charset="0"/>
                <a:ea typeface="Calibri" pitchFamily="34" charset="-122"/>
                <a:cs typeface="Calibri" pitchFamily="34" charset="-120"/>
              </a:rPr>
              <a:t>Uma regra de negócio.</a:t>
            </a:r>
          </a:p>
          <a:p>
            <a:pPr marL="285750" indent="-285750">
              <a:lnSpc>
                <a:spcPct val="106000"/>
              </a:lnSpc>
              <a:spcAft>
                <a:spcPts val="400"/>
              </a:spcAft>
              <a:buSzPct val="100000"/>
              <a:buFont typeface="Wingdings" panose="05000000000000000000" pitchFamily="2" charset="2"/>
              <a:buChar char="§"/>
            </a:pPr>
            <a:r>
              <a:rPr lang="pt-BR" sz="1400" noProof="0" dirty="0">
                <a:solidFill>
                  <a:srgbClr val="2B2B2E"/>
                </a:solidFill>
                <a:latin typeface="Calibri" pitchFamily="34" charset="0"/>
                <a:ea typeface="Calibri" pitchFamily="34" charset="-122"/>
                <a:cs typeface="Calibri" pitchFamily="34" charset="-120"/>
              </a:rPr>
              <a:t>Uma fórmula de cálculo.</a:t>
            </a:r>
          </a:p>
          <a:p>
            <a:pPr marL="285750" indent="-285750">
              <a:lnSpc>
                <a:spcPct val="106000"/>
              </a:lnSpc>
              <a:spcAft>
                <a:spcPts val="400"/>
              </a:spcAft>
              <a:buSzPct val="100000"/>
              <a:buFont typeface="Wingdings" panose="05000000000000000000" pitchFamily="2" charset="2"/>
              <a:buChar char="§"/>
            </a:pPr>
            <a:r>
              <a:rPr lang="pt-BR" sz="1400" noProof="0" dirty="0">
                <a:solidFill>
                  <a:srgbClr val="2B2B2E"/>
                </a:solidFill>
                <a:latin typeface="Calibri" pitchFamily="34" charset="0"/>
                <a:ea typeface="Calibri" pitchFamily="34" charset="-122"/>
                <a:cs typeface="Calibri" pitchFamily="34" charset="-120"/>
              </a:rPr>
              <a:t>Um percentual ou valor constante.</a:t>
            </a:r>
          </a:p>
          <a:p>
            <a:pPr marL="285750" indent="-285750">
              <a:lnSpc>
                <a:spcPct val="106000"/>
              </a:lnSpc>
              <a:spcAft>
                <a:spcPts val="400"/>
              </a:spcAft>
              <a:buSzPct val="100000"/>
              <a:buFont typeface="Wingdings" panose="05000000000000000000" pitchFamily="2" charset="2"/>
              <a:buChar char="§"/>
            </a:pPr>
            <a:r>
              <a:rPr lang="pt-BR" sz="1400" noProof="0" dirty="0">
                <a:solidFill>
                  <a:srgbClr val="2B2B2E"/>
                </a:solidFill>
                <a:latin typeface="Calibri" pitchFamily="34" charset="0"/>
                <a:ea typeface="Calibri" pitchFamily="34" charset="-122"/>
                <a:cs typeface="Calibri" pitchFamily="34" charset="-120"/>
              </a:rPr>
              <a:t>Uma condição de validação.</a:t>
            </a:r>
          </a:p>
          <a:p>
            <a:pPr marL="285750" indent="-285750">
              <a:lnSpc>
                <a:spcPct val="106000"/>
              </a:lnSpc>
              <a:spcAft>
                <a:spcPts val="400"/>
              </a:spcAft>
              <a:buSzPct val="100000"/>
              <a:buFont typeface="Wingdings" panose="05000000000000000000" pitchFamily="2" charset="2"/>
              <a:buChar char="§"/>
            </a:pPr>
            <a:r>
              <a:rPr lang="pt-BR" sz="1400" noProof="0" dirty="0">
                <a:solidFill>
                  <a:srgbClr val="2B2B2E"/>
                </a:solidFill>
                <a:latin typeface="Calibri" pitchFamily="34" charset="0"/>
                <a:ea typeface="Calibri" pitchFamily="34" charset="-122"/>
                <a:cs typeface="Calibri" pitchFamily="34" charset="-120"/>
              </a:rPr>
              <a:t>Uma lista de estados permitidos.</a:t>
            </a:r>
          </a:p>
          <a:p>
            <a:pPr marL="285750" indent="-285750">
              <a:lnSpc>
                <a:spcPct val="106000"/>
              </a:lnSpc>
              <a:spcAft>
                <a:spcPts val="400"/>
              </a:spcAft>
              <a:buSzPct val="100000"/>
              <a:buFont typeface="Wingdings" panose="05000000000000000000" pitchFamily="2" charset="2"/>
              <a:buChar char="§"/>
            </a:pPr>
            <a:r>
              <a:rPr lang="pt-BR" sz="1400" noProof="0" dirty="0">
                <a:solidFill>
                  <a:srgbClr val="2B2B2E"/>
                </a:solidFill>
                <a:latin typeface="Calibri" pitchFamily="34" charset="0"/>
                <a:ea typeface="Calibri" pitchFamily="34" charset="-122"/>
                <a:cs typeface="Calibri" pitchFamily="34" charset="-120"/>
              </a:rPr>
              <a:t>Um mapeamento entre conceitos.</a:t>
            </a:r>
          </a:p>
        </p:txBody>
      </p:sp>
      <p:sp>
        <p:nvSpPr>
          <p:cNvPr id="39" name="Shape 37"/>
          <p:cNvSpPr/>
          <p:nvPr/>
        </p:nvSpPr>
        <p:spPr>
          <a:xfrm>
            <a:off x="6236208" y="3580485"/>
            <a:ext cx="51788" cy="118872"/>
          </a:xfrm>
          <a:prstGeom prst="rect">
            <a:avLst/>
          </a:prstGeom>
          <a:solidFill>
            <a:srgbClr val="C9A227"/>
          </a:solidFill>
          <a:ln/>
        </p:spPr>
        <p:txBody>
          <a:bodyPr/>
          <a:lstStyle/>
          <a:p>
            <a:endParaRPr lang="pt-BR" noProof="0" dirty="0"/>
          </a:p>
        </p:txBody>
      </p:sp>
      <p:sp>
        <p:nvSpPr>
          <p:cNvPr id="40" name="Text 38"/>
          <p:cNvSpPr/>
          <p:nvPr/>
        </p:nvSpPr>
        <p:spPr>
          <a:xfrm>
            <a:off x="6455664" y="3511905"/>
            <a:ext cx="4640961"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PERGUNTAS PARA ANÁLISE</a:t>
            </a:r>
            <a:endParaRPr lang="pt-BR" sz="1250" noProof="0" dirty="0"/>
          </a:p>
        </p:txBody>
      </p:sp>
      <p:sp>
        <p:nvSpPr>
          <p:cNvPr id="41" name="Text 39"/>
          <p:cNvSpPr/>
          <p:nvPr/>
        </p:nvSpPr>
        <p:spPr>
          <a:xfrm>
            <a:off x="6236208" y="3884777"/>
            <a:ext cx="4736569" cy="277622"/>
          </a:xfrm>
          <a:prstGeom prst="rect">
            <a:avLst/>
          </a:prstGeom>
          <a:noFill/>
          <a:ln/>
        </p:spPr>
        <p:txBody>
          <a:bodyPr wrap="square" lIns="0" tIns="0" rIns="0" bIns="0" rtlCol="0" anchor="t"/>
          <a:lstStyle/>
          <a:p>
            <a:pPr>
              <a:lnSpc>
                <a:spcPct val="106000"/>
              </a:lnSpc>
              <a:spcAft>
                <a:spcPts val="300"/>
              </a:spcAft>
              <a:buSzPct val="100000"/>
            </a:pPr>
            <a:r>
              <a:rPr lang="pt-BR" sz="1400" i="1" noProof="0" dirty="0">
                <a:solidFill>
                  <a:srgbClr val="1B2A4A"/>
                </a:solidFill>
                <a:latin typeface="Calibri" pitchFamily="34" charset="0"/>
                <a:ea typeface="Calibri" pitchFamily="34" charset="-122"/>
                <a:cs typeface="Calibri" pitchFamily="34" charset="-120"/>
              </a:rPr>
              <a:t>Se uma regra mudar, quantos lugares precisarão ser alterados?</a:t>
            </a:r>
            <a:endParaRPr lang="pt-BR" sz="1400" noProof="0" dirty="0"/>
          </a:p>
        </p:txBody>
      </p:sp>
      <p:sp>
        <p:nvSpPr>
          <p:cNvPr id="42" name="Shape 40"/>
          <p:cNvSpPr/>
          <p:nvPr/>
        </p:nvSpPr>
        <p:spPr>
          <a:xfrm>
            <a:off x="0" y="6528816"/>
            <a:ext cx="12188952" cy="329184"/>
          </a:xfrm>
          <a:prstGeom prst="rect">
            <a:avLst/>
          </a:prstGeom>
          <a:solidFill>
            <a:srgbClr val="1B2A4A"/>
          </a:solidFill>
          <a:ln/>
        </p:spPr>
        <p:txBody>
          <a:bodyPr/>
          <a:lstStyle/>
          <a:p>
            <a:endParaRPr lang="pt-BR" noProof="0" dirty="0"/>
          </a:p>
        </p:txBody>
      </p:sp>
      <p:sp>
        <p:nvSpPr>
          <p:cNvPr id="43" name="Text 41"/>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44" name="Text 42"/>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08 / 13</a:t>
            </a:r>
            <a:endParaRPr lang="pt-BR" sz="950" noProof="0" dirty="0"/>
          </a:p>
        </p:txBody>
      </p:sp>
      <p:grpSp>
        <p:nvGrpSpPr>
          <p:cNvPr id="45" name="Agrupar 44">
            <a:extLst>
              <a:ext uri="{FF2B5EF4-FFF2-40B4-BE49-F238E27FC236}">
                <a16:creationId xmlns:a16="http://schemas.microsoft.com/office/drawing/2014/main" id="{0A681AC0-09B3-8478-B7D9-7CE1C511E541}"/>
              </a:ext>
            </a:extLst>
          </p:cNvPr>
          <p:cNvGrpSpPr/>
          <p:nvPr/>
        </p:nvGrpSpPr>
        <p:grpSpPr>
          <a:xfrm>
            <a:off x="278892" y="205740"/>
            <a:ext cx="566928" cy="566928"/>
            <a:chOff x="384048" y="290322"/>
            <a:chExt cx="566928" cy="566928"/>
          </a:xfrm>
        </p:grpSpPr>
        <p:sp>
          <p:nvSpPr>
            <p:cNvPr id="46" name="Shape 0">
              <a:extLst>
                <a:ext uri="{FF2B5EF4-FFF2-40B4-BE49-F238E27FC236}">
                  <a16:creationId xmlns:a16="http://schemas.microsoft.com/office/drawing/2014/main" id="{B276376F-B1CD-8454-66E2-F6D2E252FD65}"/>
                </a:ext>
              </a:extLst>
            </p:cNvPr>
            <p:cNvSpPr/>
            <p:nvPr/>
          </p:nvSpPr>
          <p:spPr>
            <a:xfrm>
              <a:off x="457200" y="384048"/>
              <a:ext cx="429768" cy="388620"/>
            </a:xfrm>
            <a:prstGeom prst="ellipse">
              <a:avLst/>
            </a:prstGeom>
            <a:solidFill>
              <a:srgbClr val="C9A227"/>
            </a:solidFill>
            <a:ln w="12700">
              <a:noFill/>
              <a:prstDash val="solid"/>
            </a:ln>
          </p:spPr>
          <p:txBody>
            <a:bodyPr/>
            <a:lstStyle/>
            <a:p>
              <a:endParaRPr lang="pt-BR" noProof="0" dirty="0"/>
            </a:p>
          </p:txBody>
        </p:sp>
        <p:sp>
          <p:nvSpPr>
            <p:cNvPr id="47" name="Text 1">
              <a:extLst>
                <a:ext uri="{FF2B5EF4-FFF2-40B4-BE49-F238E27FC236}">
                  <a16:creationId xmlns:a16="http://schemas.microsoft.com/office/drawing/2014/main" id="{B61979FF-616B-A7A1-8B9E-85C640D570CE}"/>
                </a:ext>
              </a:extLst>
            </p:cNvPr>
            <p:cNvSpPr/>
            <p:nvPr/>
          </p:nvSpPr>
          <p:spPr>
            <a:xfrm>
              <a:off x="384048" y="290322"/>
              <a:ext cx="566928" cy="566928"/>
            </a:xfrm>
            <a:prstGeom prst="rect">
              <a:avLst/>
            </a:prstGeom>
            <a:noFill/>
            <a:ln/>
          </p:spPr>
          <p:txBody>
            <a:bodyPr wrap="square" rtlCol="0" anchor="ctr"/>
            <a:lstStyle/>
            <a:p>
              <a:pPr marL="0" indent="0" algn="ctr">
                <a:buNone/>
              </a:pPr>
              <a:r>
                <a:rPr lang="pt-BR" sz="2000" b="1" noProof="0" dirty="0">
                  <a:solidFill>
                    <a:schemeClr val="bg1"/>
                  </a:solidFill>
                  <a:latin typeface="Tahoma" pitchFamily="34" charset="0"/>
                  <a:ea typeface="Tahoma" pitchFamily="34" charset="-122"/>
                  <a:cs typeface="Tahoma" pitchFamily="34" charset="-120"/>
                </a:rPr>
                <a:t>2</a:t>
              </a:r>
              <a:endParaRPr lang="pt-BR" sz="2000" noProof="0" dirty="0">
                <a:solidFill>
                  <a:schemeClr val="bg1"/>
                </a:solidFill>
              </a:endParaRPr>
            </a:p>
          </p:txBody>
        </p:sp>
      </p:grpSp>
      <p:grpSp>
        <p:nvGrpSpPr>
          <p:cNvPr id="51" name="Agrupar 50">
            <a:extLst>
              <a:ext uri="{FF2B5EF4-FFF2-40B4-BE49-F238E27FC236}">
                <a16:creationId xmlns:a16="http://schemas.microsoft.com/office/drawing/2014/main" id="{1F16AA0B-32F7-49CE-6A78-C247001D0665}"/>
              </a:ext>
            </a:extLst>
          </p:cNvPr>
          <p:cNvGrpSpPr/>
          <p:nvPr/>
        </p:nvGrpSpPr>
        <p:grpSpPr>
          <a:xfrm>
            <a:off x="502920" y="939122"/>
            <a:ext cx="11201400" cy="584274"/>
            <a:chOff x="502920" y="914400"/>
            <a:chExt cx="11201400" cy="594360"/>
          </a:xfrm>
        </p:grpSpPr>
        <p:sp>
          <p:nvSpPr>
            <p:cNvPr id="48" name="Shape 1">
              <a:extLst>
                <a:ext uri="{FF2B5EF4-FFF2-40B4-BE49-F238E27FC236}">
                  <a16:creationId xmlns:a16="http://schemas.microsoft.com/office/drawing/2014/main" id="{92ED440E-CB04-66BD-DE50-9B416BD1AC3E}"/>
                </a:ext>
              </a:extLst>
            </p:cNvPr>
            <p:cNvSpPr/>
            <p:nvPr/>
          </p:nvSpPr>
          <p:spPr>
            <a:xfrm>
              <a:off x="502920" y="914400"/>
              <a:ext cx="11201400" cy="594360"/>
            </a:xfrm>
            <a:prstGeom prst="roundRect">
              <a:avLst>
                <a:gd name="adj" fmla="val 7692"/>
              </a:avLst>
            </a:prstGeom>
            <a:solidFill>
              <a:srgbClr val="1B2A4A"/>
            </a:solidFill>
            <a:ln w="12700">
              <a:solidFill>
                <a:srgbClr val="1B2A4A"/>
              </a:solidFill>
              <a:prstDash val="solid"/>
            </a:ln>
          </p:spPr>
          <p:txBody>
            <a:bodyPr/>
            <a:lstStyle/>
            <a:p>
              <a:endParaRPr lang="pt-BR" noProof="0" dirty="0"/>
            </a:p>
          </p:txBody>
        </p:sp>
        <p:sp>
          <p:nvSpPr>
            <p:cNvPr id="50" name="Text 3">
              <a:extLst>
                <a:ext uri="{FF2B5EF4-FFF2-40B4-BE49-F238E27FC236}">
                  <a16:creationId xmlns:a16="http://schemas.microsoft.com/office/drawing/2014/main" id="{F17B3216-F8BF-7854-1F9B-D3E299FF7E8E}"/>
                </a:ext>
              </a:extLst>
            </p:cNvPr>
            <p:cNvSpPr/>
            <p:nvPr/>
          </p:nvSpPr>
          <p:spPr>
            <a:xfrm>
              <a:off x="868680" y="914400"/>
              <a:ext cx="10652760" cy="594360"/>
            </a:xfrm>
            <a:prstGeom prst="rect">
              <a:avLst/>
            </a:prstGeom>
            <a:noFill/>
            <a:ln/>
          </p:spPr>
          <p:txBody>
            <a:bodyPr wrap="square" lIns="0" tIns="0" rIns="0" bIns="0" rtlCol="0" anchor="ctr"/>
            <a:lstStyle/>
            <a:p>
              <a:pPr marL="0" indent="0">
                <a:lnSpc>
                  <a:spcPct val="110000"/>
                </a:lnSpc>
                <a:buNone/>
              </a:pPr>
              <a:r>
                <a:rPr lang="pt-BR" sz="1400" dirty="0">
                  <a:solidFill>
                    <a:schemeClr val="bg1"/>
                  </a:solidFill>
                  <a:latin typeface="Calibri" pitchFamily="34" charset="0"/>
                  <a:ea typeface="Calibri" pitchFamily="34" charset="-122"/>
                  <a:cs typeface="Calibri" pitchFamily="34" charset="-120"/>
                </a:rPr>
                <a:t>DRY — </a:t>
              </a:r>
              <a:r>
                <a:rPr lang="pt-BR" sz="1400" dirty="0" err="1">
                  <a:solidFill>
                    <a:schemeClr val="bg1"/>
                  </a:solidFill>
                  <a:latin typeface="Calibri" pitchFamily="34" charset="0"/>
                  <a:ea typeface="Calibri" pitchFamily="34" charset="-122"/>
                  <a:cs typeface="Calibri" pitchFamily="34" charset="-120"/>
                </a:rPr>
                <a:t>Don’t</a:t>
              </a:r>
              <a:r>
                <a:rPr lang="pt-BR" sz="1400" dirty="0">
                  <a:solidFill>
                    <a:schemeClr val="bg1"/>
                  </a:solidFill>
                  <a:latin typeface="Calibri" pitchFamily="34" charset="0"/>
                  <a:ea typeface="Calibri" pitchFamily="34" charset="-122"/>
                  <a:cs typeface="Calibri" pitchFamily="34" charset="-120"/>
                </a:rPr>
                <a:t> </a:t>
              </a:r>
              <a:r>
                <a:rPr lang="pt-BR" sz="1400" dirty="0" err="1">
                  <a:solidFill>
                    <a:schemeClr val="bg1"/>
                  </a:solidFill>
                  <a:latin typeface="Calibri" pitchFamily="34" charset="0"/>
                  <a:ea typeface="Calibri" pitchFamily="34" charset="-122"/>
                  <a:cs typeface="Calibri" pitchFamily="34" charset="-120"/>
                </a:rPr>
                <a:t>Repeat</a:t>
              </a:r>
              <a:r>
                <a:rPr lang="pt-BR" sz="1400" dirty="0">
                  <a:solidFill>
                    <a:schemeClr val="bg1"/>
                  </a:solidFill>
                  <a:latin typeface="Calibri" pitchFamily="34" charset="0"/>
                  <a:ea typeface="Calibri" pitchFamily="34" charset="-122"/>
                  <a:cs typeface="Calibri" pitchFamily="34" charset="-120"/>
                </a:rPr>
                <a:t> </a:t>
              </a:r>
              <a:r>
                <a:rPr lang="pt-BR" sz="1400" dirty="0" err="1">
                  <a:solidFill>
                    <a:schemeClr val="bg1"/>
                  </a:solidFill>
                  <a:latin typeface="Calibri" pitchFamily="34" charset="0"/>
                  <a:ea typeface="Calibri" pitchFamily="34" charset="-122"/>
                  <a:cs typeface="Calibri" pitchFamily="34" charset="-120"/>
                </a:rPr>
                <a:t>Yourself</a:t>
              </a:r>
              <a:r>
                <a:rPr lang="pt-BR" sz="1400" dirty="0">
                  <a:solidFill>
                    <a:schemeClr val="bg1"/>
                  </a:solidFill>
                  <a:latin typeface="Calibri" pitchFamily="34" charset="0"/>
                  <a:ea typeface="Calibri" pitchFamily="34" charset="-122"/>
                  <a:cs typeface="Calibri" pitchFamily="34" charset="-120"/>
                </a:rPr>
                <a:t>: orienta que uma mesma regra ou decisão do sistema não seja definida em vários lugares.</a:t>
              </a:r>
            </a:p>
          </p:txBody>
        </p:sp>
      </p:grpSp>
      <p:sp>
        <p:nvSpPr>
          <p:cNvPr id="52" name="Shape 2">
            <a:extLst>
              <a:ext uri="{FF2B5EF4-FFF2-40B4-BE49-F238E27FC236}">
                <a16:creationId xmlns:a16="http://schemas.microsoft.com/office/drawing/2014/main" id="{D0CD05EF-B9F2-E0E6-13C9-36D6E39B89A0}"/>
              </a:ext>
            </a:extLst>
          </p:cNvPr>
          <p:cNvSpPr/>
          <p:nvPr/>
        </p:nvSpPr>
        <p:spPr>
          <a:xfrm>
            <a:off x="490220" y="931416"/>
            <a:ext cx="64008" cy="600773"/>
          </a:xfrm>
          <a:prstGeom prst="rect">
            <a:avLst/>
          </a:prstGeom>
          <a:solidFill>
            <a:srgbClr val="C9A227"/>
          </a:solidFill>
          <a:ln/>
        </p:spPr>
        <p:txBody>
          <a:bodyPr/>
          <a:lstStyle/>
          <a:p>
            <a:endParaRPr lang="pt-BR" noProof="0" dirty="0"/>
          </a:p>
        </p:txBody>
      </p:sp>
      <p:sp>
        <p:nvSpPr>
          <p:cNvPr id="59" name="Shape 4">
            <a:extLst>
              <a:ext uri="{FF2B5EF4-FFF2-40B4-BE49-F238E27FC236}">
                <a16:creationId xmlns:a16="http://schemas.microsoft.com/office/drawing/2014/main" id="{EB145F6C-29F3-B6E4-D757-B362E0E80239}"/>
              </a:ext>
            </a:extLst>
          </p:cNvPr>
          <p:cNvSpPr/>
          <p:nvPr/>
        </p:nvSpPr>
        <p:spPr>
          <a:xfrm>
            <a:off x="674370" y="4000272"/>
            <a:ext cx="118872" cy="118872"/>
          </a:xfrm>
          <a:prstGeom prst="rect">
            <a:avLst/>
          </a:prstGeom>
          <a:solidFill>
            <a:srgbClr val="C9A227"/>
          </a:solidFill>
          <a:ln/>
        </p:spPr>
        <p:txBody>
          <a:bodyPr/>
          <a:lstStyle/>
          <a:p>
            <a:endParaRPr lang="pt-BR" noProof="0" dirty="0"/>
          </a:p>
        </p:txBody>
      </p:sp>
      <p:sp>
        <p:nvSpPr>
          <p:cNvPr id="60" name="Text 5">
            <a:extLst>
              <a:ext uri="{FF2B5EF4-FFF2-40B4-BE49-F238E27FC236}">
                <a16:creationId xmlns:a16="http://schemas.microsoft.com/office/drawing/2014/main" id="{6C2AF9FD-D1ED-EFBC-6770-FEBEE1B0984A}"/>
              </a:ext>
            </a:extLst>
          </p:cNvPr>
          <p:cNvSpPr/>
          <p:nvPr/>
        </p:nvSpPr>
        <p:spPr>
          <a:xfrm>
            <a:off x="893826" y="3931692"/>
            <a:ext cx="5084064" cy="256032"/>
          </a:xfrm>
          <a:prstGeom prst="rect">
            <a:avLst/>
          </a:prstGeom>
          <a:noFill/>
          <a:ln/>
        </p:spPr>
        <p:txBody>
          <a:bodyPr wrap="square" lIns="0" tIns="0" rIns="0" bIns="0" rtlCol="0" anchor="ctr"/>
          <a:lstStyle/>
          <a:p>
            <a:pPr marL="0" indent="0">
              <a:buNone/>
            </a:pPr>
            <a:r>
              <a:rPr lang="pt-BR" sz="1300" b="1" kern="0" spc="50" noProof="0" dirty="0">
                <a:solidFill>
                  <a:srgbClr val="1B2A4A"/>
                </a:solidFill>
                <a:latin typeface="Calibri" pitchFamily="34" charset="0"/>
                <a:ea typeface="Calibri" pitchFamily="34" charset="-122"/>
                <a:cs typeface="Calibri" pitchFamily="34" charset="-120"/>
              </a:rPr>
              <a:t>Como reconhecer?</a:t>
            </a:r>
            <a:endParaRPr lang="pt-BR" sz="1300" noProof="0" dirty="0"/>
          </a:p>
        </p:txBody>
      </p:sp>
      <p:sp>
        <p:nvSpPr>
          <p:cNvPr id="61" name="Text 6">
            <a:extLst>
              <a:ext uri="{FF2B5EF4-FFF2-40B4-BE49-F238E27FC236}">
                <a16:creationId xmlns:a16="http://schemas.microsoft.com/office/drawing/2014/main" id="{6D32249D-F45C-89E5-F9EF-B09EAA46A6A6}"/>
              </a:ext>
            </a:extLst>
          </p:cNvPr>
          <p:cNvSpPr/>
          <p:nvPr/>
        </p:nvSpPr>
        <p:spPr>
          <a:xfrm>
            <a:off x="674370" y="4288308"/>
            <a:ext cx="5166360" cy="1280160"/>
          </a:xfrm>
          <a:prstGeom prst="rect">
            <a:avLst/>
          </a:prstGeom>
          <a:noFill/>
          <a:ln/>
        </p:spPr>
        <p:txBody>
          <a:bodyPr wrap="square" lIns="0" tIns="0" rIns="0" bIns="0" rtlCol="0" anchor="t"/>
          <a:lstStyle/>
          <a:p>
            <a:pPr marL="285750" indent="-285750">
              <a:lnSpc>
                <a:spcPct val="106000"/>
              </a:lnSpc>
              <a:spcAft>
                <a:spcPts val="400"/>
              </a:spcAft>
              <a:buSzPct val="100000"/>
              <a:buFont typeface="Wingdings" panose="05000000000000000000" pitchFamily="2" charset="2"/>
              <a:buChar char="§"/>
            </a:pPr>
            <a:r>
              <a:rPr lang="pt-BR" sz="1400" noProof="0" dirty="0">
                <a:solidFill>
                  <a:srgbClr val="2B2B2E"/>
                </a:solidFill>
                <a:latin typeface="Calibri" pitchFamily="34" charset="0"/>
                <a:ea typeface="Calibri" pitchFamily="34" charset="-122"/>
                <a:cs typeface="Calibri" pitchFamily="34" charset="-120"/>
              </a:rPr>
              <a:t>A </a:t>
            </a:r>
            <a:r>
              <a:rPr lang="pt-BR" sz="1400" dirty="0">
                <a:solidFill>
                  <a:srgbClr val="2B2B2E"/>
                </a:solidFill>
                <a:latin typeface="Calibri" pitchFamily="34" charset="0"/>
                <a:ea typeface="Calibri" pitchFamily="34" charset="-122"/>
                <a:cs typeface="Calibri" pitchFamily="34" charset="-120"/>
              </a:rPr>
              <a:t>mesma decisão aparece em diferentes lugares.</a:t>
            </a:r>
          </a:p>
          <a:p>
            <a:pPr marL="285750" indent="-285750">
              <a:lnSpc>
                <a:spcPct val="106000"/>
              </a:lnSpc>
              <a:spcAft>
                <a:spcPts val="4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Uma mudança exige alterar vários trechos.</a:t>
            </a:r>
          </a:p>
          <a:p>
            <a:pPr marL="285750" indent="-285750">
              <a:lnSpc>
                <a:spcPct val="106000"/>
              </a:lnSpc>
              <a:spcAft>
                <a:spcPts val="4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Esses trechos precisam permanecer sincronizados.</a:t>
            </a:r>
          </a:p>
          <a:p>
            <a:pPr marL="285750" indent="-285750">
              <a:lnSpc>
                <a:spcPct val="106000"/>
              </a:lnSpc>
              <a:spcAft>
                <a:spcPts val="4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Esquecer uma alteração pode gerar resultados contraditórios.</a:t>
            </a:r>
          </a:p>
        </p:txBody>
      </p:sp>
      <p:sp>
        <p:nvSpPr>
          <p:cNvPr id="63" name="CaixaDeTexto 62">
            <a:extLst>
              <a:ext uri="{FF2B5EF4-FFF2-40B4-BE49-F238E27FC236}">
                <a16:creationId xmlns:a16="http://schemas.microsoft.com/office/drawing/2014/main" id="{5776D827-3728-1E8A-0BAB-D9756AF8CBDA}"/>
              </a:ext>
            </a:extLst>
          </p:cNvPr>
          <p:cNvSpPr txBox="1"/>
          <p:nvPr/>
        </p:nvSpPr>
        <p:spPr>
          <a:xfrm>
            <a:off x="6167628" y="2100117"/>
            <a:ext cx="6096000" cy="1150123"/>
          </a:xfrm>
          <a:prstGeom prst="rect">
            <a:avLst/>
          </a:prstGeom>
          <a:noFill/>
        </p:spPr>
        <p:txBody>
          <a:bodyPr wrap="square">
            <a:spAutoFit/>
          </a:bodyPr>
          <a:lstStyle/>
          <a:p>
            <a:pPr marL="285750" indent="-285750">
              <a:lnSpc>
                <a:spcPct val="106000"/>
              </a:lnSpc>
              <a:spcAft>
                <a:spcPts val="4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Eliminar toda repetição visual.</a:t>
            </a:r>
          </a:p>
          <a:p>
            <a:pPr marL="285750" indent="-285750">
              <a:lnSpc>
                <a:spcPct val="106000"/>
              </a:lnSpc>
              <a:spcAft>
                <a:spcPts val="4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Extrair qualquer código parecido.</a:t>
            </a:r>
          </a:p>
          <a:p>
            <a:pPr marL="285750" indent="-285750">
              <a:lnSpc>
                <a:spcPct val="106000"/>
              </a:lnSpc>
              <a:spcAft>
                <a:spcPts val="4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Criar abstrações genéricas antecipadamente.</a:t>
            </a:r>
          </a:p>
          <a:p>
            <a:pPr marL="285750" indent="-285750">
              <a:lnSpc>
                <a:spcPct val="106000"/>
              </a:lnSpc>
              <a:spcAft>
                <a:spcPts val="400"/>
              </a:spcAft>
              <a:buSzPct val="100000"/>
              <a:buFont typeface="Wingdings" panose="05000000000000000000" pitchFamily="2" charset="2"/>
              <a:buChar char="§"/>
            </a:pPr>
            <a:r>
              <a:rPr lang="pt-BR" sz="1400" dirty="0">
                <a:solidFill>
                  <a:srgbClr val="2B2B2E"/>
                </a:solidFill>
                <a:latin typeface="Calibri" pitchFamily="34" charset="0"/>
                <a:ea typeface="Calibri" pitchFamily="34" charset="-122"/>
                <a:cs typeface="Calibri" pitchFamily="34" charset="-120"/>
              </a:rPr>
              <a:t>Reduzir o número de linhas a qualquer custo.</a:t>
            </a:r>
          </a:p>
        </p:txBody>
      </p:sp>
      <p:sp>
        <p:nvSpPr>
          <p:cNvPr id="66" name="Shape 21">
            <a:extLst>
              <a:ext uri="{FF2B5EF4-FFF2-40B4-BE49-F238E27FC236}">
                <a16:creationId xmlns:a16="http://schemas.microsoft.com/office/drawing/2014/main" id="{F0F9181B-3A86-8328-C799-54A6CA1D8D5A}"/>
              </a:ext>
            </a:extLst>
          </p:cNvPr>
          <p:cNvSpPr/>
          <p:nvPr/>
        </p:nvSpPr>
        <p:spPr>
          <a:xfrm>
            <a:off x="6191252" y="4370195"/>
            <a:ext cx="5113780" cy="1006491"/>
          </a:xfrm>
          <a:prstGeom prst="roundRect">
            <a:avLst>
              <a:gd name="adj" fmla="val 3633"/>
            </a:avLst>
          </a:prstGeom>
          <a:solidFill>
            <a:srgbClr val="F6F5EF"/>
          </a:solidFill>
          <a:ln w="12700">
            <a:solidFill>
              <a:srgbClr val="C9CDD6"/>
            </a:solidFill>
            <a:prstDash val="solid"/>
          </a:ln>
        </p:spPr>
        <p:txBody>
          <a:bodyPr/>
          <a:lstStyle/>
          <a:p>
            <a:endParaRPr lang="pt-BR" noProof="0" dirty="0"/>
          </a:p>
        </p:txBody>
      </p:sp>
      <p:sp>
        <p:nvSpPr>
          <p:cNvPr id="67" name="Text 22">
            <a:extLst>
              <a:ext uri="{FF2B5EF4-FFF2-40B4-BE49-F238E27FC236}">
                <a16:creationId xmlns:a16="http://schemas.microsoft.com/office/drawing/2014/main" id="{57BF6817-29FF-7606-6D4C-1EA649C657D9}"/>
              </a:ext>
            </a:extLst>
          </p:cNvPr>
          <p:cNvSpPr/>
          <p:nvPr/>
        </p:nvSpPr>
        <p:spPr>
          <a:xfrm>
            <a:off x="6351273" y="4398493"/>
            <a:ext cx="4866128" cy="762081"/>
          </a:xfrm>
          <a:prstGeom prst="rect">
            <a:avLst/>
          </a:prstGeom>
          <a:noFill/>
          <a:ln/>
        </p:spPr>
        <p:txBody>
          <a:bodyPr wrap="square" lIns="0" tIns="0" rIns="0" bIns="0" rtlCol="0" anchor="ctr"/>
          <a:lstStyle/>
          <a:p>
            <a:pPr marL="0" indent="0">
              <a:lnSpc>
                <a:spcPct val="115000"/>
              </a:lnSpc>
              <a:buNone/>
            </a:pPr>
            <a:r>
              <a:rPr lang="pt-BR" sz="1600" b="1" noProof="0" dirty="0">
                <a:solidFill>
                  <a:srgbClr val="1B2A4A"/>
                </a:solidFill>
                <a:latin typeface="Calibri" pitchFamily="34" charset="0"/>
                <a:ea typeface="Calibri" pitchFamily="34" charset="-122"/>
                <a:cs typeface="Calibri" pitchFamily="34" charset="-120"/>
              </a:rPr>
              <a:t>Observação: </a:t>
            </a:r>
          </a:p>
          <a:p>
            <a:pPr marL="0" indent="0">
              <a:lnSpc>
                <a:spcPct val="115000"/>
              </a:lnSpc>
              <a:buNone/>
            </a:pPr>
            <a:r>
              <a:rPr lang="pt-BR" sz="1600" noProof="0" dirty="0">
                <a:solidFill>
                  <a:srgbClr val="2B2B2E"/>
                </a:solidFill>
                <a:latin typeface="Calibri" pitchFamily="34" charset="0"/>
                <a:ea typeface="Calibri" pitchFamily="34" charset="-122"/>
                <a:cs typeface="Calibri" pitchFamily="34" charset="-120"/>
              </a:rPr>
              <a:t>Se uma regra mudar, quantos lugares precisarão ser alterados?</a:t>
            </a:r>
            <a:endParaRPr lang="pt-BR" sz="1200" noProof="0" dirty="0"/>
          </a:p>
        </p:txBody>
      </p:sp>
      <p:sp>
        <p:nvSpPr>
          <p:cNvPr id="68" name="Shape 4">
            <a:extLst>
              <a:ext uri="{FF2B5EF4-FFF2-40B4-BE49-F238E27FC236}">
                <a16:creationId xmlns:a16="http://schemas.microsoft.com/office/drawing/2014/main" id="{C08C08EE-A273-7CF0-B28C-8856C7F7D649}"/>
              </a:ext>
            </a:extLst>
          </p:cNvPr>
          <p:cNvSpPr/>
          <p:nvPr/>
        </p:nvSpPr>
        <p:spPr>
          <a:xfrm>
            <a:off x="6236208" y="1869948"/>
            <a:ext cx="118872" cy="118872"/>
          </a:xfrm>
          <a:prstGeom prst="rect">
            <a:avLst/>
          </a:prstGeom>
          <a:solidFill>
            <a:srgbClr val="C9A227"/>
          </a:solidFill>
          <a:ln/>
        </p:spPr>
        <p:txBody>
          <a:bodyPr/>
          <a:lstStyle/>
          <a:p>
            <a:endParaRPr lang="pt-BR" noProof="0" dirty="0"/>
          </a:p>
        </p:txBody>
      </p:sp>
      <p:sp>
        <p:nvSpPr>
          <p:cNvPr id="69" name="Text 5">
            <a:extLst>
              <a:ext uri="{FF2B5EF4-FFF2-40B4-BE49-F238E27FC236}">
                <a16:creationId xmlns:a16="http://schemas.microsoft.com/office/drawing/2014/main" id="{96B38332-FAE6-C8B0-457D-B61A45B759B7}"/>
              </a:ext>
            </a:extLst>
          </p:cNvPr>
          <p:cNvSpPr/>
          <p:nvPr/>
        </p:nvSpPr>
        <p:spPr>
          <a:xfrm>
            <a:off x="6455664" y="1801368"/>
            <a:ext cx="5084064" cy="256032"/>
          </a:xfrm>
          <a:prstGeom prst="rect">
            <a:avLst/>
          </a:prstGeom>
          <a:noFill/>
          <a:ln/>
        </p:spPr>
        <p:txBody>
          <a:bodyPr wrap="square" lIns="0" tIns="0" rIns="0" bIns="0" rtlCol="0" anchor="ctr"/>
          <a:lstStyle/>
          <a:p>
            <a:pPr marL="0" indent="0">
              <a:buNone/>
            </a:pPr>
            <a:r>
              <a:rPr lang="pt-BR" sz="1300" b="1" kern="0" spc="50" noProof="0" dirty="0">
                <a:solidFill>
                  <a:srgbClr val="1B2A4A"/>
                </a:solidFill>
                <a:latin typeface="Calibri" pitchFamily="34" charset="0"/>
                <a:ea typeface="Calibri" pitchFamily="34" charset="-122"/>
                <a:cs typeface="Calibri" pitchFamily="34" charset="-120"/>
              </a:rPr>
              <a:t>DRY não significa</a:t>
            </a:r>
          </a:p>
        </p:txBody>
      </p:sp>
      <p:sp>
        <p:nvSpPr>
          <p:cNvPr id="71" name="CaixaDeTexto 70">
            <a:extLst>
              <a:ext uri="{FF2B5EF4-FFF2-40B4-BE49-F238E27FC236}">
                <a16:creationId xmlns:a16="http://schemas.microsoft.com/office/drawing/2014/main" id="{F15EA54D-2E5C-4F6D-3A68-E5120F9C4FCE}"/>
              </a:ext>
            </a:extLst>
          </p:cNvPr>
          <p:cNvSpPr txBox="1"/>
          <p:nvPr/>
        </p:nvSpPr>
        <p:spPr>
          <a:xfrm>
            <a:off x="736092" y="5751590"/>
            <a:ext cx="10922508" cy="369332"/>
          </a:xfrm>
          <a:prstGeom prst="rect">
            <a:avLst/>
          </a:prstGeom>
          <a:noFill/>
        </p:spPr>
        <p:txBody>
          <a:bodyPr wrap="square">
            <a:spAutoFit/>
          </a:bodyPr>
          <a:lstStyle/>
          <a:p>
            <a:pPr algn="ctr">
              <a:buNone/>
            </a:pPr>
            <a:r>
              <a:rPr lang="pt-BR" dirty="0">
                <a:solidFill>
                  <a:schemeClr val="bg2">
                    <a:lumMod val="50000"/>
                  </a:schemeClr>
                </a:solidFill>
              </a:rPr>
              <a:t>O objetivo do DRY é evitar diferentes versões do mesmo conhecimento.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70" name="Shape 21">
            <a:extLst>
              <a:ext uri="{FF2B5EF4-FFF2-40B4-BE49-F238E27FC236}">
                <a16:creationId xmlns:a16="http://schemas.microsoft.com/office/drawing/2014/main" id="{7FBA222E-18BA-5A4F-D099-E2E3AAE7F3B3}"/>
              </a:ext>
            </a:extLst>
          </p:cNvPr>
          <p:cNvSpPr/>
          <p:nvPr/>
        </p:nvSpPr>
        <p:spPr>
          <a:xfrm>
            <a:off x="6003035" y="859536"/>
            <a:ext cx="5113780" cy="1348740"/>
          </a:xfrm>
          <a:prstGeom prst="roundRect">
            <a:avLst>
              <a:gd name="adj" fmla="val 3633"/>
            </a:avLst>
          </a:prstGeom>
          <a:solidFill>
            <a:srgbClr val="F6F5EF"/>
          </a:solidFill>
          <a:ln w="12700">
            <a:solidFill>
              <a:srgbClr val="C9CDD6"/>
            </a:solidFill>
            <a:prstDash val="solid"/>
          </a:ln>
        </p:spPr>
        <p:txBody>
          <a:bodyPr/>
          <a:lstStyle/>
          <a:p>
            <a:endParaRPr lang="pt-BR" noProof="0" dirty="0"/>
          </a:p>
        </p:txBody>
      </p:sp>
      <p:sp>
        <p:nvSpPr>
          <p:cNvPr id="2" name="Text 0"/>
          <p:cNvSpPr/>
          <p:nvPr/>
        </p:nvSpPr>
        <p:spPr>
          <a:xfrm>
            <a:off x="807721" y="292608"/>
            <a:ext cx="11155680" cy="566928"/>
          </a:xfrm>
          <a:prstGeom prst="rect">
            <a:avLst/>
          </a:prstGeom>
          <a:noFill/>
          <a:ln/>
        </p:spPr>
        <p:txBody>
          <a:bodyPr wrap="square" lIns="0" tIns="0" rIns="0" bIns="0" rtlCol="0" anchor="t"/>
          <a:lstStyle/>
          <a:p>
            <a:pPr marL="0" indent="0">
              <a:buNone/>
            </a:pPr>
            <a:r>
              <a:rPr lang="pt-BR" sz="2700" b="1" noProof="0" dirty="0">
                <a:solidFill>
                  <a:srgbClr val="1B2A4A"/>
                </a:solidFill>
                <a:latin typeface="Cambria" pitchFamily="34" charset="0"/>
                <a:ea typeface="Cambria" pitchFamily="34" charset="-122"/>
                <a:cs typeface="Cambria" pitchFamily="34" charset="-120"/>
              </a:rPr>
              <a:t> DRY na prática: evitando regras conflitantes         </a:t>
            </a:r>
            <a:endParaRPr lang="pt-BR" sz="2700" noProof="0" dirty="0"/>
          </a:p>
        </p:txBody>
      </p:sp>
      <p:sp>
        <p:nvSpPr>
          <p:cNvPr id="3" name="Shape 1"/>
          <p:cNvSpPr/>
          <p:nvPr/>
        </p:nvSpPr>
        <p:spPr>
          <a:xfrm>
            <a:off x="502920" y="955548"/>
            <a:ext cx="118872" cy="118872"/>
          </a:xfrm>
          <a:prstGeom prst="rect">
            <a:avLst/>
          </a:prstGeom>
          <a:solidFill>
            <a:srgbClr val="C9A227"/>
          </a:solidFill>
          <a:ln/>
        </p:spPr>
        <p:txBody>
          <a:bodyPr/>
          <a:lstStyle/>
          <a:p>
            <a:endParaRPr lang="pt-BR" noProof="0" dirty="0"/>
          </a:p>
        </p:txBody>
      </p:sp>
      <p:sp>
        <p:nvSpPr>
          <p:cNvPr id="4" name="Text 2"/>
          <p:cNvSpPr/>
          <p:nvPr/>
        </p:nvSpPr>
        <p:spPr>
          <a:xfrm>
            <a:off x="722375" y="886968"/>
            <a:ext cx="2403350"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Etapa 1 – Código Legado</a:t>
            </a:r>
            <a:endParaRPr lang="pt-BR" sz="1250" noProof="0" dirty="0"/>
          </a:p>
        </p:txBody>
      </p:sp>
      <p:sp>
        <p:nvSpPr>
          <p:cNvPr id="5" name="Text 3"/>
          <p:cNvSpPr/>
          <p:nvPr/>
        </p:nvSpPr>
        <p:spPr>
          <a:xfrm>
            <a:off x="502920" y="1216152"/>
            <a:ext cx="3520440"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Antes</a:t>
            </a:r>
            <a:endParaRPr lang="pt-BR" sz="1100" noProof="0" dirty="0"/>
          </a:p>
        </p:txBody>
      </p:sp>
      <p:sp>
        <p:nvSpPr>
          <p:cNvPr id="6" name="Shape 4"/>
          <p:cNvSpPr/>
          <p:nvPr/>
        </p:nvSpPr>
        <p:spPr>
          <a:xfrm>
            <a:off x="502920" y="1508760"/>
            <a:ext cx="3520440" cy="530352"/>
          </a:xfrm>
          <a:prstGeom prst="roundRect">
            <a:avLst>
              <a:gd name="adj" fmla="val 7759"/>
            </a:avLst>
          </a:prstGeom>
          <a:solidFill>
            <a:srgbClr val="F2F2F3"/>
          </a:solidFill>
          <a:ln w="12700">
            <a:solidFill>
              <a:srgbClr val="D7DAE0"/>
            </a:solidFill>
            <a:prstDash val="solid"/>
          </a:ln>
        </p:spPr>
        <p:txBody>
          <a:bodyPr/>
          <a:lstStyle/>
          <a:p>
            <a:endParaRPr lang="pt-BR" noProof="0" dirty="0"/>
          </a:p>
        </p:txBody>
      </p:sp>
      <p:sp>
        <p:nvSpPr>
          <p:cNvPr id="7" name="Text 5"/>
          <p:cNvSpPr/>
          <p:nvPr/>
        </p:nvSpPr>
        <p:spPr>
          <a:xfrm>
            <a:off x="685800" y="1581912"/>
            <a:ext cx="3154680" cy="384048"/>
          </a:xfrm>
          <a:prstGeom prst="rect">
            <a:avLst/>
          </a:prstGeom>
          <a:noFill/>
          <a:ln/>
        </p:spPr>
        <p:txBody>
          <a:bodyPr wrap="square" lIns="0" tIns="0" rIns="0" bIns="0" rtlCol="0" anchor="ctr"/>
          <a:lstStyle/>
          <a:p>
            <a:pPr marL="0" indent="0">
              <a:lnSpc>
                <a:spcPct val="118000"/>
              </a:lnSpc>
              <a:buNone/>
            </a:pPr>
            <a:r>
              <a:rPr lang="pt-BR" sz="1100" noProof="0" dirty="0">
                <a:solidFill>
                  <a:srgbClr val="1B2A4A"/>
                </a:solidFill>
                <a:latin typeface="Courier New" pitchFamily="34" charset="0"/>
                <a:ea typeface="Courier New" pitchFamily="34" charset="-122"/>
                <a:cs typeface="Courier New" pitchFamily="34" charset="-120"/>
              </a:rPr>
              <a:t>PREVISÃO: valor × 1,10</a:t>
            </a:r>
            <a:endParaRPr lang="pt-BR" sz="1100" noProof="0" dirty="0"/>
          </a:p>
          <a:p>
            <a:pPr marL="0" indent="0">
              <a:lnSpc>
                <a:spcPct val="118000"/>
              </a:lnSpc>
              <a:buNone/>
            </a:pPr>
            <a:r>
              <a:rPr lang="pt-BR" sz="1100" noProof="0" dirty="0">
                <a:solidFill>
                  <a:srgbClr val="1B2A4A"/>
                </a:solidFill>
                <a:latin typeface="Courier New" pitchFamily="34" charset="0"/>
                <a:ea typeface="Courier New" pitchFamily="34" charset="-122"/>
                <a:cs typeface="Courier New" pitchFamily="34" charset="-120"/>
              </a:rPr>
              <a:t>COBRANÇA: valor × 1,10</a:t>
            </a:r>
            <a:endParaRPr lang="pt-BR" sz="1100" noProof="0" dirty="0"/>
          </a:p>
        </p:txBody>
      </p:sp>
      <p:sp>
        <p:nvSpPr>
          <p:cNvPr id="8" name="Text 6"/>
          <p:cNvSpPr/>
          <p:nvPr/>
        </p:nvSpPr>
        <p:spPr>
          <a:xfrm>
            <a:off x="502920" y="2889644"/>
            <a:ext cx="4006216" cy="256032"/>
          </a:xfrm>
          <a:prstGeom prst="rect">
            <a:avLst/>
          </a:prstGeom>
          <a:noFill/>
          <a:ln/>
        </p:spPr>
        <p:txBody>
          <a:bodyPr wrap="square" lIns="0" tIns="0" rIns="0" bIns="0" rtlCol="0" anchor="ctr"/>
          <a:lstStyle/>
          <a:p>
            <a:pPr marL="0" indent="0">
              <a:buNone/>
            </a:pPr>
            <a:r>
              <a:rPr lang="pt-BR" sz="1100" b="1" noProof="0" dirty="0">
                <a:solidFill>
                  <a:srgbClr val="1B2A4A"/>
                </a:solidFill>
                <a:latin typeface="Calibri" pitchFamily="34" charset="0"/>
                <a:ea typeface="Calibri" pitchFamily="34" charset="-122"/>
                <a:cs typeface="Calibri" pitchFamily="34" charset="-120"/>
              </a:rPr>
              <a:t>A taxa é atualizada para 12%, mas apenas um trecho é modificado:</a:t>
            </a:r>
            <a:endParaRPr lang="pt-BR" sz="1100" noProof="0" dirty="0"/>
          </a:p>
        </p:txBody>
      </p:sp>
      <p:sp>
        <p:nvSpPr>
          <p:cNvPr id="9" name="Shape 7"/>
          <p:cNvSpPr/>
          <p:nvPr/>
        </p:nvSpPr>
        <p:spPr>
          <a:xfrm>
            <a:off x="502920" y="3182252"/>
            <a:ext cx="3520440" cy="530352"/>
          </a:xfrm>
          <a:prstGeom prst="roundRect">
            <a:avLst>
              <a:gd name="adj" fmla="val 7759"/>
            </a:avLst>
          </a:prstGeom>
          <a:solidFill>
            <a:srgbClr val="F2F2F3"/>
          </a:solidFill>
          <a:ln w="12700">
            <a:solidFill>
              <a:srgbClr val="D7DAE0"/>
            </a:solidFill>
            <a:prstDash val="solid"/>
          </a:ln>
        </p:spPr>
        <p:txBody>
          <a:bodyPr/>
          <a:lstStyle/>
          <a:p>
            <a:endParaRPr lang="pt-BR" noProof="0" dirty="0"/>
          </a:p>
        </p:txBody>
      </p:sp>
      <p:sp>
        <p:nvSpPr>
          <p:cNvPr id="10" name="Text 8"/>
          <p:cNvSpPr/>
          <p:nvPr/>
        </p:nvSpPr>
        <p:spPr>
          <a:xfrm>
            <a:off x="685800" y="3255404"/>
            <a:ext cx="3154680" cy="384048"/>
          </a:xfrm>
          <a:prstGeom prst="rect">
            <a:avLst/>
          </a:prstGeom>
          <a:noFill/>
          <a:ln/>
        </p:spPr>
        <p:txBody>
          <a:bodyPr wrap="square" lIns="0" tIns="0" rIns="0" bIns="0" rtlCol="0" anchor="ctr"/>
          <a:lstStyle/>
          <a:p>
            <a:pPr marL="0" indent="0">
              <a:lnSpc>
                <a:spcPct val="118000"/>
              </a:lnSpc>
              <a:buNone/>
            </a:pPr>
            <a:r>
              <a:rPr lang="pt-BR" sz="1100" noProof="0" dirty="0">
                <a:solidFill>
                  <a:srgbClr val="1B2A4A"/>
                </a:solidFill>
                <a:latin typeface="Courier New" pitchFamily="34" charset="0"/>
                <a:ea typeface="Courier New" pitchFamily="34" charset="-122"/>
                <a:cs typeface="Courier New" pitchFamily="34" charset="-120"/>
              </a:rPr>
              <a:t>PREVISÃO: valor × </a:t>
            </a:r>
            <a:r>
              <a:rPr lang="pt-BR" sz="1100" b="1" noProof="0" dirty="0">
                <a:solidFill>
                  <a:srgbClr val="1B2A4A"/>
                </a:solidFill>
                <a:latin typeface="Courier New" pitchFamily="34" charset="0"/>
                <a:ea typeface="Courier New" pitchFamily="34" charset="-122"/>
                <a:cs typeface="Courier New" pitchFamily="34" charset="-120"/>
              </a:rPr>
              <a:t>1,12</a:t>
            </a:r>
            <a:endParaRPr lang="pt-BR" sz="1100" b="1" noProof="0" dirty="0"/>
          </a:p>
          <a:p>
            <a:pPr marL="0" indent="0">
              <a:lnSpc>
                <a:spcPct val="118000"/>
              </a:lnSpc>
              <a:buNone/>
            </a:pPr>
            <a:r>
              <a:rPr lang="pt-BR" sz="1100" noProof="0" dirty="0">
                <a:solidFill>
                  <a:srgbClr val="1B2A4A"/>
                </a:solidFill>
                <a:latin typeface="Courier New" pitchFamily="34" charset="0"/>
                <a:ea typeface="Courier New" pitchFamily="34" charset="-122"/>
                <a:cs typeface="Courier New" pitchFamily="34" charset="-120"/>
              </a:rPr>
              <a:t>COBRANÇA: valor × 1,10</a:t>
            </a:r>
            <a:endParaRPr lang="pt-BR" sz="1100" noProof="0" dirty="0"/>
          </a:p>
        </p:txBody>
      </p:sp>
      <p:sp>
        <p:nvSpPr>
          <p:cNvPr id="33" name="Shape 31"/>
          <p:cNvSpPr/>
          <p:nvPr/>
        </p:nvSpPr>
        <p:spPr>
          <a:xfrm>
            <a:off x="6003035" y="2424822"/>
            <a:ext cx="118872" cy="118872"/>
          </a:xfrm>
          <a:prstGeom prst="rect">
            <a:avLst/>
          </a:prstGeom>
          <a:solidFill>
            <a:srgbClr val="C9A227"/>
          </a:solidFill>
          <a:ln/>
        </p:spPr>
        <p:txBody>
          <a:bodyPr/>
          <a:lstStyle/>
          <a:p>
            <a:endParaRPr lang="pt-BR" noProof="0" dirty="0"/>
          </a:p>
        </p:txBody>
      </p:sp>
      <p:sp>
        <p:nvSpPr>
          <p:cNvPr id="34" name="Text 32"/>
          <p:cNvSpPr/>
          <p:nvPr/>
        </p:nvSpPr>
        <p:spPr>
          <a:xfrm>
            <a:off x="6222491" y="2356242"/>
            <a:ext cx="5113780"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Atenção: código parecido pode representar conhecimentos diferentes </a:t>
            </a:r>
            <a:endParaRPr lang="pt-BR" sz="1250" noProof="0" dirty="0"/>
          </a:p>
        </p:txBody>
      </p:sp>
      <p:sp>
        <p:nvSpPr>
          <p:cNvPr id="35" name="Shape 33"/>
          <p:cNvSpPr/>
          <p:nvPr/>
        </p:nvSpPr>
        <p:spPr>
          <a:xfrm>
            <a:off x="6003034" y="2712858"/>
            <a:ext cx="5113779" cy="788658"/>
          </a:xfrm>
          <a:prstGeom prst="roundRect">
            <a:avLst>
              <a:gd name="adj" fmla="val 6618"/>
            </a:avLst>
          </a:prstGeom>
          <a:solidFill>
            <a:srgbClr val="F2F2F3"/>
          </a:solidFill>
          <a:ln w="12700">
            <a:solidFill>
              <a:srgbClr val="D7DAE0"/>
            </a:solidFill>
            <a:prstDash val="solid"/>
          </a:ln>
        </p:spPr>
        <p:txBody>
          <a:bodyPr/>
          <a:lstStyle/>
          <a:p>
            <a:endParaRPr lang="pt-BR" noProof="0" dirty="0"/>
          </a:p>
        </p:txBody>
      </p:sp>
      <p:sp>
        <p:nvSpPr>
          <p:cNvPr id="36" name="Text 34"/>
          <p:cNvSpPr/>
          <p:nvPr/>
        </p:nvSpPr>
        <p:spPr>
          <a:xfrm>
            <a:off x="6185915" y="2786010"/>
            <a:ext cx="4389120" cy="475488"/>
          </a:xfrm>
          <a:prstGeom prst="rect">
            <a:avLst/>
          </a:prstGeom>
          <a:noFill/>
          <a:ln/>
        </p:spPr>
        <p:txBody>
          <a:bodyPr wrap="square" lIns="0" tIns="0" rIns="0" bIns="0" rtlCol="0" anchor="ctr"/>
          <a:lstStyle/>
          <a:p>
            <a:pPr marL="0" indent="0">
              <a:lnSpc>
                <a:spcPct val="200000"/>
              </a:lnSpc>
              <a:buNone/>
            </a:pPr>
            <a:r>
              <a:rPr lang="pt-BR" sz="1100" noProof="0" dirty="0" err="1">
                <a:solidFill>
                  <a:srgbClr val="1B2A4A"/>
                </a:solidFill>
                <a:latin typeface="Courier New" pitchFamily="34" charset="0"/>
                <a:ea typeface="Courier New" pitchFamily="34" charset="-122"/>
                <a:cs typeface="Courier New" pitchFamily="34" charset="-120"/>
              </a:rPr>
              <a:t>validarQuantidadeMinima</a:t>
            </a:r>
            <a:r>
              <a:rPr lang="pt-BR" sz="1100" noProof="0" dirty="0">
                <a:solidFill>
                  <a:srgbClr val="1B2A4A"/>
                </a:solidFill>
                <a:latin typeface="Courier New" pitchFamily="34" charset="0"/>
                <a:ea typeface="Courier New" pitchFamily="34" charset="-122"/>
                <a:cs typeface="Courier New" pitchFamily="34" charset="-120"/>
              </a:rPr>
              <a:t>(quantidade);</a:t>
            </a:r>
            <a:endParaRPr lang="pt-BR" sz="1100" noProof="0" dirty="0"/>
          </a:p>
          <a:p>
            <a:pPr marL="0" indent="0">
              <a:lnSpc>
                <a:spcPct val="200000"/>
              </a:lnSpc>
              <a:buNone/>
            </a:pPr>
            <a:r>
              <a:rPr lang="pt-BR" sz="1100" noProof="0" dirty="0" err="1">
                <a:solidFill>
                  <a:srgbClr val="1B2A4A"/>
                </a:solidFill>
                <a:latin typeface="Courier New" pitchFamily="34" charset="0"/>
                <a:ea typeface="Courier New" pitchFamily="34" charset="-122"/>
                <a:cs typeface="Courier New" pitchFamily="34" charset="-120"/>
              </a:rPr>
              <a:t>validarIdadeMinima</a:t>
            </a:r>
            <a:r>
              <a:rPr lang="pt-BR" sz="1100" noProof="0" dirty="0">
                <a:solidFill>
                  <a:srgbClr val="1B2A4A"/>
                </a:solidFill>
                <a:latin typeface="Courier New" pitchFamily="34" charset="0"/>
                <a:ea typeface="Courier New" pitchFamily="34" charset="-122"/>
                <a:cs typeface="Courier New" pitchFamily="34" charset="-120"/>
              </a:rPr>
              <a:t>(idade);</a:t>
            </a:r>
            <a:endParaRPr lang="pt-BR" sz="1100" noProof="0" dirty="0"/>
          </a:p>
        </p:txBody>
      </p:sp>
      <p:sp>
        <p:nvSpPr>
          <p:cNvPr id="38" name="Shape 36"/>
          <p:cNvSpPr/>
          <p:nvPr/>
        </p:nvSpPr>
        <p:spPr>
          <a:xfrm>
            <a:off x="5791200" y="4967419"/>
            <a:ext cx="5325615" cy="1407871"/>
          </a:xfrm>
          <a:prstGeom prst="roundRect">
            <a:avLst>
              <a:gd name="adj" fmla="val 3664"/>
            </a:avLst>
          </a:prstGeom>
          <a:solidFill>
            <a:srgbClr val="FFFFFF"/>
          </a:solidFill>
          <a:ln w="13970">
            <a:solidFill>
              <a:srgbClr val="1B2A4A"/>
            </a:solidFill>
            <a:prstDash val="solid"/>
          </a:ln>
        </p:spPr>
        <p:txBody>
          <a:bodyPr/>
          <a:lstStyle/>
          <a:p>
            <a:endParaRPr lang="pt-BR" noProof="0" dirty="0"/>
          </a:p>
        </p:txBody>
      </p:sp>
      <p:sp>
        <p:nvSpPr>
          <p:cNvPr id="39" name="Shape 37"/>
          <p:cNvSpPr/>
          <p:nvPr/>
        </p:nvSpPr>
        <p:spPr>
          <a:xfrm>
            <a:off x="5998464" y="5135058"/>
            <a:ext cx="118872" cy="118872"/>
          </a:xfrm>
          <a:prstGeom prst="rect">
            <a:avLst/>
          </a:prstGeom>
          <a:solidFill>
            <a:srgbClr val="C9A227"/>
          </a:solidFill>
          <a:ln/>
        </p:spPr>
        <p:txBody>
          <a:bodyPr/>
          <a:lstStyle/>
          <a:p>
            <a:endParaRPr lang="pt-BR" noProof="0" dirty="0"/>
          </a:p>
        </p:txBody>
      </p:sp>
      <p:sp>
        <p:nvSpPr>
          <p:cNvPr id="40" name="Text 38"/>
          <p:cNvSpPr/>
          <p:nvPr/>
        </p:nvSpPr>
        <p:spPr>
          <a:xfrm>
            <a:off x="6217920" y="5066478"/>
            <a:ext cx="6309360"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PERGUNTAS ANTES DE EXTRAIR</a:t>
            </a:r>
            <a:endParaRPr lang="pt-BR" sz="1250" noProof="0" dirty="0"/>
          </a:p>
        </p:txBody>
      </p:sp>
      <p:sp>
        <p:nvSpPr>
          <p:cNvPr id="41" name="Text 39"/>
          <p:cNvSpPr/>
          <p:nvPr/>
        </p:nvSpPr>
        <p:spPr>
          <a:xfrm>
            <a:off x="5998464" y="5363150"/>
            <a:ext cx="6528816" cy="699211"/>
          </a:xfrm>
          <a:prstGeom prst="rect">
            <a:avLst/>
          </a:prstGeom>
          <a:noFill/>
          <a:ln/>
        </p:spPr>
        <p:txBody>
          <a:bodyPr wrap="square" lIns="0" tIns="0" rIns="0" bIns="0" rtlCol="0" anchor="t"/>
          <a:lstStyle/>
          <a:p>
            <a:pPr marL="177800" indent="-177800">
              <a:lnSpc>
                <a:spcPct val="106000"/>
              </a:lnSpc>
              <a:spcAft>
                <a:spcPts val="200"/>
              </a:spcAft>
              <a:buSzPct val="100000"/>
              <a:buChar char="▪"/>
            </a:pPr>
            <a:r>
              <a:rPr lang="pt-BR" sz="1200" i="1" noProof="0" dirty="0">
                <a:solidFill>
                  <a:srgbClr val="1B2A4A"/>
                </a:solidFill>
                <a:latin typeface="Calibri" pitchFamily="34" charset="0"/>
                <a:ea typeface="Calibri" pitchFamily="34" charset="-122"/>
                <a:cs typeface="Calibri" pitchFamily="34" charset="-120"/>
              </a:rPr>
              <a:t>Os trechos representam o mesmo conhecimento?</a:t>
            </a:r>
            <a:endParaRPr lang="pt-BR" sz="1200" noProof="0" dirty="0"/>
          </a:p>
          <a:p>
            <a:pPr marL="177800" indent="-177800">
              <a:lnSpc>
                <a:spcPct val="106000"/>
              </a:lnSpc>
              <a:spcAft>
                <a:spcPts val="200"/>
              </a:spcAft>
              <a:buSzPct val="100000"/>
              <a:buChar char="▪"/>
            </a:pPr>
            <a:r>
              <a:rPr lang="pt-BR" sz="1200" i="1" noProof="0" dirty="0">
                <a:solidFill>
                  <a:srgbClr val="1B2A4A"/>
                </a:solidFill>
                <a:latin typeface="Calibri" pitchFamily="34" charset="0"/>
                <a:ea typeface="Calibri" pitchFamily="34" charset="-122"/>
                <a:cs typeface="Calibri" pitchFamily="34" charset="-120"/>
              </a:rPr>
              <a:t>Sempre devem mudar juntos?</a:t>
            </a:r>
            <a:endParaRPr lang="pt-BR" sz="1200" noProof="0" dirty="0"/>
          </a:p>
          <a:p>
            <a:pPr marL="177800" indent="-177800">
              <a:lnSpc>
                <a:spcPct val="106000"/>
              </a:lnSpc>
              <a:spcAft>
                <a:spcPts val="200"/>
              </a:spcAft>
              <a:buSzPct val="100000"/>
              <a:buChar char="▪"/>
            </a:pPr>
            <a:r>
              <a:rPr lang="pt-BR" sz="1200" i="1" noProof="0" dirty="0">
                <a:solidFill>
                  <a:srgbClr val="1B2A4A"/>
                </a:solidFill>
                <a:latin typeface="Calibri" pitchFamily="34" charset="0"/>
                <a:ea typeface="Calibri" pitchFamily="34" charset="-122"/>
                <a:cs typeface="Calibri" pitchFamily="34" charset="-120"/>
              </a:rPr>
              <a:t>Existe um nome único e natural?</a:t>
            </a:r>
            <a:endParaRPr lang="pt-BR" sz="1200" noProof="0" dirty="0"/>
          </a:p>
          <a:p>
            <a:pPr marL="177800" indent="-177800">
              <a:lnSpc>
                <a:spcPct val="106000"/>
              </a:lnSpc>
              <a:spcAft>
                <a:spcPts val="200"/>
              </a:spcAft>
              <a:buSzPct val="100000"/>
              <a:buChar char="▪"/>
            </a:pPr>
            <a:r>
              <a:rPr lang="pt-BR" sz="1200" i="1" noProof="0" dirty="0">
                <a:solidFill>
                  <a:srgbClr val="1B2A4A"/>
                </a:solidFill>
                <a:latin typeface="Calibri" pitchFamily="34" charset="0"/>
                <a:ea typeface="Calibri" pitchFamily="34" charset="-122"/>
                <a:cs typeface="Calibri" pitchFamily="34" charset="-120"/>
              </a:rPr>
              <a:t>A abstração compartilhada será mais clara?</a:t>
            </a:r>
            <a:endParaRPr lang="pt-BR" sz="1200" noProof="0" dirty="0"/>
          </a:p>
        </p:txBody>
      </p:sp>
      <p:sp>
        <p:nvSpPr>
          <p:cNvPr id="44" name="Shape 42"/>
          <p:cNvSpPr/>
          <p:nvPr/>
        </p:nvSpPr>
        <p:spPr>
          <a:xfrm>
            <a:off x="0" y="6528816"/>
            <a:ext cx="12188952" cy="329184"/>
          </a:xfrm>
          <a:prstGeom prst="rect">
            <a:avLst/>
          </a:prstGeom>
          <a:solidFill>
            <a:srgbClr val="1B2A4A"/>
          </a:solidFill>
          <a:ln/>
        </p:spPr>
        <p:txBody>
          <a:bodyPr/>
          <a:lstStyle/>
          <a:p>
            <a:endParaRPr lang="pt-BR" noProof="0" dirty="0"/>
          </a:p>
        </p:txBody>
      </p:sp>
      <p:sp>
        <p:nvSpPr>
          <p:cNvPr id="45" name="Text 43"/>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46" name="Text 44"/>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09 / 13</a:t>
            </a:r>
            <a:endParaRPr lang="pt-BR" sz="950" noProof="0" dirty="0"/>
          </a:p>
        </p:txBody>
      </p:sp>
      <p:grpSp>
        <p:nvGrpSpPr>
          <p:cNvPr id="47" name="Agrupar 46">
            <a:extLst>
              <a:ext uri="{FF2B5EF4-FFF2-40B4-BE49-F238E27FC236}">
                <a16:creationId xmlns:a16="http://schemas.microsoft.com/office/drawing/2014/main" id="{16CD0902-CD0B-7243-57A5-421C36B7C781}"/>
              </a:ext>
            </a:extLst>
          </p:cNvPr>
          <p:cNvGrpSpPr/>
          <p:nvPr/>
        </p:nvGrpSpPr>
        <p:grpSpPr>
          <a:xfrm>
            <a:off x="278892" y="205740"/>
            <a:ext cx="566928" cy="566928"/>
            <a:chOff x="384048" y="290322"/>
            <a:chExt cx="566928" cy="566928"/>
          </a:xfrm>
        </p:grpSpPr>
        <p:sp>
          <p:nvSpPr>
            <p:cNvPr id="48" name="Shape 0">
              <a:extLst>
                <a:ext uri="{FF2B5EF4-FFF2-40B4-BE49-F238E27FC236}">
                  <a16:creationId xmlns:a16="http://schemas.microsoft.com/office/drawing/2014/main" id="{A5F1EF3E-05A5-29AD-58BB-CFCB090E61DC}"/>
                </a:ext>
              </a:extLst>
            </p:cNvPr>
            <p:cNvSpPr/>
            <p:nvPr/>
          </p:nvSpPr>
          <p:spPr>
            <a:xfrm>
              <a:off x="457200" y="384048"/>
              <a:ext cx="429768" cy="388620"/>
            </a:xfrm>
            <a:prstGeom prst="ellipse">
              <a:avLst/>
            </a:prstGeom>
            <a:solidFill>
              <a:srgbClr val="C9A227"/>
            </a:solidFill>
            <a:ln w="12700">
              <a:noFill/>
              <a:prstDash val="solid"/>
            </a:ln>
          </p:spPr>
          <p:txBody>
            <a:bodyPr/>
            <a:lstStyle/>
            <a:p>
              <a:endParaRPr lang="pt-BR" noProof="0" dirty="0"/>
            </a:p>
          </p:txBody>
        </p:sp>
        <p:sp>
          <p:nvSpPr>
            <p:cNvPr id="49" name="Text 1">
              <a:extLst>
                <a:ext uri="{FF2B5EF4-FFF2-40B4-BE49-F238E27FC236}">
                  <a16:creationId xmlns:a16="http://schemas.microsoft.com/office/drawing/2014/main" id="{3700478A-9CB5-420A-975C-A4AF7C542C85}"/>
                </a:ext>
              </a:extLst>
            </p:cNvPr>
            <p:cNvSpPr/>
            <p:nvPr/>
          </p:nvSpPr>
          <p:spPr>
            <a:xfrm>
              <a:off x="384048" y="290322"/>
              <a:ext cx="566928" cy="566928"/>
            </a:xfrm>
            <a:prstGeom prst="rect">
              <a:avLst/>
            </a:prstGeom>
            <a:noFill/>
            <a:ln/>
          </p:spPr>
          <p:txBody>
            <a:bodyPr wrap="square" rtlCol="0" anchor="ctr"/>
            <a:lstStyle/>
            <a:p>
              <a:pPr marL="0" indent="0" algn="ctr">
                <a:buNone/>
              </a:pPr>
              <a:r>
                <a:rPr lang="pt-BR" sz="2000" b="1" noProof="0" dirty="0">
                  <a:solidFill>
                    <a:schemeClr val="bg1"/>
                  </a:solidFill>
                  <a:latin typeface="Tahoma" pitchFamily="34" charset="0"/>
                  <a:ea typeface="Tahoma" pitchFamily="34" charset="-122"/>
                  <a:cs typeface="Tahoma" pitchFamily="34" charset="-120"/>
                </a:rPr>
                <a:t>2</a:t>
              </a:r>
              <a:endParaRPr lang="pt-BR" sz="2000" noProof="0" dirty="0">
                <a:solidFill>
                  <a:schemeClr val="bg1"/>
                </a:solidFill>
              </a:endParaRPr>
            </a:p>
          </p:txBody>
        </p:sp>
      </p:grpSp>
      <p:sp>
        <p:nvSpPr>
          <p:cNvPr id="57" name="CaixaDeTexto 56">
            <a:extLst>
              <a:ext uri="{FF2B5EF4-FFF2-40B4-BE49-F238E27FC236}">
                <a16:creationId xmlns:a16="http://schemas.microsoft.com/office/drawing/2014/main" id="{8FB61BF5-7918-4F61-905E-DCB7DFC02446}"/>
              </a:ext>
            </a:extLst>
          </p:cNvPr>
          <p:cNvSpPr txBox="1"/>
          <p:nvPr/>
        </p:nvSpPr>
        <p:spPr>
          <a:xfrm>
            <a:off x="526160" y="2045717"/>
            <a:ext cx="3573400" cy="276999"/>
          </a:xfrm>
          <a:prstGeom prst="rect">
            <a:avLst/>
          </a:prstGeom>
          <a:noFill/>
        </p:spPr>
        <p:txBody>
          <a:bodyPr wrap="square">
            <a:spAutoFit/>
          </a:bodyPr>
          <a:lstStyle/>
          <a:p>
            <a:r>
              <a:rPr lang="pt-BR" sz="1200" dirty="0">
                <a:solidFill>
                  <a:schemeClr val="bg2">
                    <a:lumMod val="50000"/>
                  </a:schemeClr>
                </a:solidFill>
              </a:rPr>
              <a:t>A taxa de 10% está registrada em dois lugares.</a:t>
            </a:r>
          </a:p>
        </p:txBody>
      </p:sp>
      <p:sp>
        <p:nvSpPr>
          <p:cNvPr id="58" name="Shape 1">
            <a:extLst>
              <a:ext uri="{FF2B5EF4-FFF2-40B4-BE49-F238E27FC236}">
                <a16:creationId xmlns:a16="http://schemas.microsoft.com/office/drawing/2014/main" id="{541EA152-BBC6-D493-A655-9C9011EB1532}"/>
              </a:ext>
            </a:extLst>
          </p:cNvPr>
          <p:cNvSpPr/>
          <p:nvPr/>
        </p:nvSpPr>
        <p:spPr>
          <a:xfrm>
            <a:off x="502920" y="2598305"/>
            <a:ext cx="118872" cy="118872"/>
          </a:xfrm>
          <a:prstGeom prst="rect">
            <a:avLst/>
          </a:prstGeom>
          <a:solidFill>
            <a:srgbClr val="C9A227"/>
          </a:solidFill>
          <a:ln/>
        </p:spPr>
        <p:txBody>
          <a:bodyPr/>
          <a:lstStyle/>
          <a:p>
            <a:endParaRPr lang="pt-BR" noProof="0" dirty="0"/>
          </a:p>
        </p:txBody>
      </p:sp>
      <p:sp>
        <p:nvSpPr>
          <p:cNvPr id="59" name="Text 2">
            <a:extLst>
              <a:ext uri="{FF2B5EF4-FFF2-40B4-BE49-F238E27FC236}">
                <a16:creationId xmlns:a16="http://schemas.microsoft.com/office/drawing/2014/main" id="{5973666E-E38F-9F30-9D67-8095433A5191}"/>
              </a:ext>
            </a:extLst>
          </p:cNvPr>
          <p:cNvSpPr/>
          <p:nvPr/>
        </p:nvSpPr>
        <p:spPr>
          <a:xfrm>
            <a:off x="722375" y="2529725"/>
            <a:ext cx="2119885"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Etapa 2 – Atualização Legado</a:t>
            </a:r>
            <a:endParaRPr lang="pt-BR" sz="1250" noProof="0" dirty="0"/>
          </a:p>
        </p:txBody>
      </p:sp>
      <p:sp>
        <p:nvSpPr>
          <p:cNvPr id="61" name="CaixaDeTexto 60">
            <a:extLst>
              <a:ext uri="{FF2B5EF4-FFF2-40B4-BE49-F238E27FC236}">
                <a16:creationId xmlns:a16="http://schemas.microsoft.com/office/drawing/2014/main" id="{AF58A113-6900-5689-38C9-84274575E3DB}"/>
              </a:ext>
            </a:extLst>
          </p:cNvPr>
          <p:cNvSpPr txBox="1"/>
          <p:nvPr/>
        </p:nvSpPr>
        <p:spPr>
          <a:xfrm>
            <a:off x="514731" y="3720285"/>
            <a:ext cx="3933825" cy="276999"/>
          </a:xfrm>
          <a:prstGeom prst="rect">
            <a:avLst/>
          </a:prstGeom>
          <a:noFill/>
        </p:spPr>
        <p:txBody>
          <a:bodyPr wrap="square">
            <a:spAutoFit/>
          </a:bodyPr>
          <a:lstStyle/>
          <a:p>
            <a:r>
              <a:rPr lang="pt-BR" sz="1200" dirty="0">
                <a:solidFill>
                  <a:schemeClr val="bg2">
                    <a:lumMod val="50000"/>
                  </a:schemeClr>
                </a:solidFill>
              </a:rPr>
              <a:t>Agora o sistema possui duas respostas para a mesma regra.</a:t>
            </a:r>
          </a:p>
        </p:txBody>
      </p:sp>
      <p:sp>
        <p:nvSpPr>
          <p:cNvPr id="62" name="Shape 1">
            <a:extLst>
              <a:ext uri="{FF2B5EF4-FFF2-40B4-BE49-F238E27FC236}">
                <a16:creationId xmlns:a16="http://schemas.microsoft.com/office/drawing/2014/main" id="{11182F7D-270A-FCAD-4956-9E4717CDC198}"/>
              </a:ext>
            </a:extLst>
          </p:cNvPr>
          <p:cNvSpPr/>
          <p:nvPr/>
        </p:nvSpPr>
        <p:spPr>
          <a:xfrm>
            <a:off x="502920" y="4199522"/>
            <a:ext cx="118872" cy="118872"/>
          </a:xfrm>
          <a:prstGeom prst="rect">
            <a:avLst/>
          </a:prstGeom>
          <a:solidFill>
            <a:srgbClr val="C9A227"/>
          </a:solidFill>
          <a:ln/>
        </p:spPr>
        <p:txBody>
          <a:bodyPr/>
          <a:lstStyle/>
          <a:p>
            <a:endParaRPr lang="pt-BR" noProof="0" dirty="0"/>
          </a:p>
        </p:txBody>
      </p:sp>
      <p:sp>
        <p:nvSpPr>
          <p:cNvPr id="63" name="Text 2">
            <a:extLst>
              <a:ext uri="{FF2B5EF4-FFF2-40B4-BE49-F238E27FC236}">
                <a16:creationId xmlns:a16="http://schemas.microsoft.com/office/drawing/2014/main" id="{614C0F81-3B76-D4E8-73F6-8BB0C41DBE41}"/>
              </a:ext>
            </a:extLst>
          </p:cNvPr>
          <p:cNvSpPr/>
          <p:nvPr/>
        </p:nvSpPr>
        <p:spPr>
          <a:xfrm>
            <a:off x="722376" y="4130942"/>
            <a:ext cx="198272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Etapa 3 – Aplicando DRY</a:t>
            </a:r>
            <a:endParaRPr lang="pt-BR" sz="1250" noProof="0" dirty="0"/>
          </a:p>
        </p:txBody>
      </p:sp>
      <p:pic>
        <p:nvPicPr>
          <p:cNvPr id="65" name="Imagem 64">
            <a:extLst>
              <a:ext uri="{FF2B5EF4-FFF2-40B4-BE49-F238E27FC236}">
                <a16:creationId xmlns:a16="http://schemas.microsoft.com/office/drawing/2014/main" id="{605593BC-3BB2-FFEF-71D7-5DAA8ECD41DB}"/>
              </a:ext>
            </a:extLst>
          </p:cNvPr>
          <p:cNvPicPr>
            <a:picLocks noChangeAspect="1"/>
          </p:cNvPicPr>
          <p:nvPr/>
        </p:nvPicPr>
        <p:blipFill>
          <a:blip r:embed="rId3"/>
          <a:stretch>
            <a:fillRect/>
          </a:stretch>
        </p:blipFill>
        <p:spPr>
          <a:xfrm>
            <a:off x="722376" y="4444111"/>
            <a:ext cx="3293970" cy="1617945"/>
          </a:xfrm>
          <a:prstGeom prst="rect">
            <a:avLst/>
          </a:prstGeom>
        </p:spPr>
      </p:pic>
      <p:sp>
        <p:nvSpPr>
          <p:cNvPr id="67" name="CaixaDeTexto 66">
            <a:extLst>
              <a:ext uri="{FF2B5EF4-FFF2-40B4-BE49-F238E27FC236}">
                <a16:creationId xmlns:a16="http://schemas.microsoft.com/office/drawing/2014/main" id="{D8064085-CF02-A8D6-7A30-DDC4E68ED488}"/>
              </a:ext>
            </a:extLst>
          </p:cNvPr>
          <p:cNvSpPr txBox="1"/>
          <p:nvPr/>
        </p:nvSpPr>
        <p:spPr>
          <a:xfrm>
            <a:off x="526160" y="6042153"/>
            <a:ext cx="4798315" cy="461665"/>
          </a:xfrm>
          <a:prstGeom prst="rect">
            <a:avLst/>
          </a:prstGeom>
          <a:noFill/>
        </p:spPr>
        <p:txBody>
          <a:bodyPr wrap="square">
            <a:spAutoFit/>
          </a:bodyPr>
          <a:lstStyle/>
          <a:p>
            <a:pPr>
              <a:buNone/>
            </a:pPr>
            <a:r>
              <a:rPr lang="pt-BR" sz="1200" dirty="0">
                <a:solidFill>
                  <a:schemeClr val="bg2">
                    <a:lumMod val="50000"/>
                  </a:schemeClr>
                </a:solidFill>
              </a:rPr>
              <a:t>Previsão e cobrança deixam de definir a taxa e passam a consultar a mesma política.</a:t>
            </a:r>
          </a:p>
        </p:txBody>
      </p:sp>
      <p:sp>
        <p:nvSpPr>
          <p:cNvPr id="69" name="CaixaDeTexto 68">
            <a:extLst>
              <a:ext uri="{FF2B5EF4-FFF2-40B4-BE49-F238E27FC236}">
                <a16:creationId xmlns:a16="http://schemas.microsoft.com/office/drawing/2014/main" id="{15E6FBF4-C089-FA41-1CA2-475722AFBEE9}"/>
              </a:ext>
            </a:extLst>
          </p:cNvPr>
          <p:cNvSpPr txBox="1"/>
          <p:nvPr/>
        </p:nvSpPr>
        <p:spPr>
          <a:xfrm>
            <a:off x="6015991" y="958850"/>
            <a:ext cx="5113780" cy="1077218"/>
          </a:xfrm>
          <a:prstGeom prst="rect">
            <a:avLst/>
          </a:prstGeom>
          <a:noFill/>
        </p:spPr>
        <p:txBody>
          <a:bodyPr wrap="square">
            <a:spAutoFit/>
          </a:bodyPr>
          <a:lstStyle/>
          <a:p>
            <a:pPr>
              <a:buNone/>
            </a:pPr>
            <a:r>
              <a:rPr lang="pt-BR" sz="1600" b="1" dirty="0">
                <a:solidFill>
                  <a:srgbClr val="1B2A4A"/>
                </a:solidFill>
                <a:latin typeface="Calibri" pitchFamily="34" charset="0"/>
                <a:ea typeface="Calibri" pitchFamily="34" charset="-122"/>
                <a:cs typeface="Calibri" pitchFamily="34" charset="-120"/>
              </a:rPr>
              <a:t>Diagnóstico:</a:t>
            </a:r>
          </a:p>
          <a:p>
            <a:pPr>
              <a:buNone/>
            </a:pPr>
            <a:r>
              <a:rPr lang="pt-BR" sz="1600" dirty="0">
                <a:solidFill>
                  <a:srgbClr val="2B2B2E"/>
                </a:solidFill>
                <a:latin typeface="Calibri" pitchFamily="34" charset="0"/>
                <a:ea typeface="Calibri" pitchFamily="34" charset="-122"/>
                <a:cs typeface="Calibri" pitchFamily="34" charset="-120"/>
              </a:rPr>
              <a:t>O problema não é apenas a repetição de 1,10. O problema é que a mesma decisão de negócio foi registrada em dois lugares que precisam mudar juntos.</a:t>
            </a:r>
          </a:p>
        </p:txBody>
      </p:sp>
      <p:sp>
        <p:nvSpPr>
          <p:cNvPr id="73" name="CaixaDeTexto 72">
            <a:extLst>
              <a:ext uri="{FF2B5EF4-FFF2-40B4-BE49-F238E27FC236}">
                <a16:creationId xmlns:a16="http://schemas.microsoft.com/office/drawing/2014/main" id="{A958272D-0643-B4D5-717B-3DA79CF4532A}"/>
              </a:ext>
            </a:extLst>
          </p:cNvPr>
          <p:cNvSpPr txBox="1"/>
          <p:nvPr/>
        </p:nvSpPr>
        <p:spPr>
          <a:xfrm>
            <a:off x="6094476" y="3664255"/>
            <a:ext cx="4549616" cy="646331"/>
          </a:xfrm>
          <a:prstGeom prst="rect">
            <a:avLst/>
          </a:prstGeom>
          <a:noFill/>
        </p:spPr>
        <p:txBody>
          <a:bodyPr wrap="square">
            <a:spAutoFit/>
          </a:bodyPr>
          <a:lstStyle/>
          <a:p>
            <a:r>
              <a:rPr lang="pt-BR" sz="1200" dirty="0">
                <a:solidFill>
                  <a:schemeClr val="bg2">
                    <a:lumMod val="50000"/>
                  </a:schemeClr>
                </a:solidFill>
              </a:rPr>
              <a:t>Os dois métodos podem ter implementações parecidas, mas representam regras diferentes. A idade mínima pode mudar sem que a quantidade mínima também precise mudar.</a:t>
            </a:r>
          </a:p>
        </p:txBody>
      </p:sp>
      <p:sp>
        <p:nvSpPr>
          <p:cNvPr id="75" name="CaixaDeTexto 74">
            <a:extLst>
              <a:ext uri="{FF2B5EF4-FFF2-40B4-BE49-F238E27FC236}">
                <a16:creationId xmlns:a16="http://schemas.microsoft.com/office/drawing/2014/main" id="{9613D116-FF57-FCED-4A13-CEC1257BD686}"/>
              </a:ext>
            </a:extLst>
          </p:cNvPr>
          <p:cNvSpPr txBox="1"/>
          <p:nvPr/>
        </p:nvSpPr>
        <p:spPr>
          <a:xfrm>
            <a:off x="6185915" y="4388452"/>
            <a:ext cx="4943856" cy="477054"/>
          </a:xfrm>
          <a:prstGeom prst="rect">
            <a:avLst/>
          </a:prstGeom>
          <a:noFill/>
        </p:spPr>
        <p:txBody>
          <a:bodyPr wrap="square">
            <a:spAutoFit/>
          </a:bodyPr>
          <a:lstStyle/>
          <a:p>
            <a:pPr>
              <a:buNone/>
            </a:pPr>
            <a:r>
              <a:rPr lang="pt-BR" sz="1250" b="1" kern="0" spc="50" dirty="0">
                <a:solidFill>
                  <a:srgbClr val="1B2A4A"/>
                </a:solidFill>
                <a:latin typeface="Calibri" pitchFamily="34" charset="0"/>
                <a:ea typeface="Calibri" pitchFamily="34" charset="-122"/>
                <a:cs typeface="Calibri" pitchFamily="34" charset="-120"/>
              </a:rPr>
              <a:t>DRY combate múltiplas fontes do mesmo conhecimento, não toda semelhança entre trechos de código.</a:t>
            </a:r>
          </a:p>
        </p:txBody>
      </p:sp>
      <p:sp>
        <p:nvSpPr>
          <p:cNvPr id="76" name="Shape 31">
            <a:extLst>
              <a:ext uri="{FF2B5EF4-FFF2-40B4-BE49-F238E27FC236}">
                <a16:creationId xmlns:a16="http://schemas.microsoft.com/office/drawing/2014/main" id="{E03BBAE8-D5A3-2E92-C0C9-0762DFB868AC}"/>
              </a:ext>
            </a:extLst>
          </p:cNvPr>
          <p:cNvSpPr/>
          <p:nvPr/>
        </p:nvSpPr>
        <p:spPr>
          <a:xfrm>
            <a:off x="6022085" y="4472245"/>
            <a:ext cx="118872" cy="118872"/>
          </a:xfrm>
          <a:prstGeom prst="rect">
            <a:avLst/>
          </a:prstGeom>
          <a:solidFill>
            <a:srgbClr val="C9A227"/>
          </a:solidFill>
          <a:ln/>
        </p:spPr>
        <p:txBody>
          <a:bodyPr/>
          <a:lstStyle/>
          <a:p>
            <a:endParaRPr lang="pt-BR"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9257" y="292608"/>
            <a:ext cx="11155680" cy="566928"/>
          </a:xfrm>
          <a:prstGeom prst="rect">
            <a:avLst/>
          </a:prstGeom>
          <a:noFill/>
          <a:ln/>
        </p:spPr>
        <p:txBody>
          <a:bodyPr wrap="square" lIns="0" tIns="0" rIns="0" bIns="0" rtlCol="0" anchor="t"/>
          <a:lstStyle/>
          <a:p>
            <a:pPr marL="0" indent="0">
              <a:buNone/>
            </a:pPr>
            <a:r>
              <a:rPr lang="pt-BR" sz="2700" b="1" noProof="0" dirty="0">
                <a:solidFill>
                  <a:srgbClr val="1B2A4A"/>
                </a:solidFill>
                <a:latin typeface="Cambria" pitchFamily="34" charset="0"/>
                <a:ea typeface="Cambria" pitchFamily="34" charset="-122"/>
                <a:cs typeface="Cambria" pitchFamily="34" charset="-120"/>
              </a:rPr>
              <a:t>KISS: Simplicidade Adequada ao Problema</a:t>
            </a:r>
            <a:endParaRPr lang="pt-BR" sz="2700" noProof="0" dirty="0"/>
          </a:p>
        </p:txBody>
      </p:sp>
      <p:sp>
        <p:nvSpPr>
          <p:cNvPr id="3" name="Shape 1"/>
          <p:cNvSpPr/>
          <p:nvPr/>
        </p:nvSpPr>
        <p:spPr>
          <a:xfrm>
            <a:off x="502920" y="914400"/>
            <a:ext cx="11201400" cy="594360"/>
          </a:xfrm>
          <a:prstGeom prst="roundRect">
            <a:avLst>
              <a:gd name="adj" fmla="val 7692"/>
            </a:avLst>
          </a:prstGeom>
          <a:solidFill>
            <a:srgbClr val="1B2A4A"/>
          </a:solidFill>
          <a:ln w="12700">
            <a:solidFill>
              <a:srgbClr val="1B2A4A"/>
            </a:solidFill>
            <a:prstDash val="solid"/>
          </a:ln>
        </p:spPr>
        <p:txBody>
          <a:bodyPr/>
          <a:lstStyle/>
          <a:p>
            <a:endParaRPr lang="pt-BR" noProof="0" dirty="0"/>
          </a:p>
        </p:txBody>
      </p:sp>
      <p:sp>
        <p:nvSpPr>
          <p:cNvPr id="4" name="Shape 2"/>
          <p:cNvSpPr/>
          <p:nvPr/>
        </p:nvSpPr>
        <p:spPr>
          <a:xfrm>
            <a:off x="490220" y="905256"/>
            <a:ext cx="64008" cy="612648"/>
          </a:xfrm>
          <a:prstGeom prst="rect">
            <a:avLst/>
          </a:prstGeom>
          <a:solidFill>
            <a:srgbClr val="C9A227"/>
          </a:solidFill>
          <a:ln/>
        </p:spPr>
        <p:txBody>
          <a:bodyPr/>
          <a:lstStyle/>
          <a:p>
            <a:endParaRPr lang="pt-BR" noProof="0" dirty="0"/>
          </a:p>
        </p:txBody>
      </p:sp>
      <p:sp>
        <p:nvSpPr>
          <p:cNvPr id="5" name="Text 3"/>
          <p:cNvSpPr/>
          <p:nvPr/>
        </p:nvSpPr>
        <p:spPr>
          <a:xfrm>
            <a:off x="868680" y="914400"/>
            <a:ext cx="10652760" cy="594360"/>
          </a:xfrm>
          <a:prstGeom prst="rect">
            <a:avLst/>
          </a:prstGeom>
          <a:noFill/>
          <a:ln/>
        </p:spPr>
        <p:txBody>
          <a:bodyPr wrap="square" lIns="0" tIns="0" rIns="0" bIns="0" rtlCol="0" anchor="ctr"/>
          <a:lstStyle/>
          <a:p>
            <a:pPr marL="0" indent="0">
              <a:lnSpc>
                <a:spcPct val="110000"/>
              </a:lnSpc>
              <a:buNone/>
            </a:pPr>
            <a:r>
              <a:rPr lang="pt-BR" sz="1400" dirty="0">
                <a:solidFill>
                  <a:schemeClr val="bg1"/>
                </a:solidFill>
                <a:latin typeface="Calibri" pitchFamily="34" charset="0"/>
                <a:ea typeface="Calibri" pitchFamily="34" charset="-122"/>
                <a:cs typeface="Calibri" pitchFamily="34" charset="-120"/>
              </a:rPr>
              <a:t>KISS — Keep It Simple: é uma heurística que orienta a escolher a solução mais simples capaz de atender corretamente aos requisitos conhecidos e permanecer compreensível para a equipe.</a:t>
            </a:r>
          </a:p>
        </p:txBody>
      </p:sp>
      <p:sp>
        <p:nvSpPr>
          <p:cNvPr id="6" name="Shape 4"/>
          <p:cNvSpPr/>
          <p:nvPr/>
        </p:nvSpPr>
        <p:spPr>
          <a:xfrm>
            <a:off x="502920" y="1668780"/>
            <a:ext cx="118872" cy="118872"/>
          </a:xfrm>
          <a:prstGeom prst="rect">
            <a:avLst/>
          </a:prstGeom>
          <a:solidFill>
            <a:srgbClr val="C9A227"/>
          </a:solidFill>
          <a:ln/>
        </p:spPr>
        <p:txBody>
          <a:bodyPr/>
          <a:lstStyle/>
          <a:p>
            <a:endParaRPr lang="pt-BR" noProof="0" dirty="0"/>
          </a:p>
        </p:txBody>
      </p:sp>
      <p:sp>
        <p:nvSpPr>
          <p:cNvPr id="7" name="Text 5"/>
          <p:cNvSpPr/>
          <p:nvPr/>
        </p:nvSpPr>
        <p:spPr>
          <a:xfrm>
            <a:off x="722376" y="1600200"/>
            <a:ext cx="1093622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O QUE KISS NÃO SIGNIFICA</a:t>
            </a:r>
            <a:endParaRPr lang="pt-BR" sz="1250" noProof="0" dirty="0"/>
          </a:p>
        </p:txBody>
      </p:sp>
      <p:sp>
        <p:nvSpPr>
          <p:cNvPr id="8" name="Text 6"/>
          <p:cNvSpPr/>
          <p:nvPr/>
        </p:nvSpPr>
        <p:spPr>
          <a:xfrm>
            <a:off x="502920" y="1938528"/>
            <a:ext cx="5440680" cy="731520"/>
          </a:xfrm>
          <a:prstGeom prst="rect">
            <a:avLst/>
          </a:prstGeom>
          <a:noFill/>
          <a:ln/>
        </p:spPr>
        <p:txBody>
          <a:bodyPr wrap="square" lIns="0" tIns="0" rIns="0" bIns="0" rtlCol="0" anchor="t"/>
          <a:lstStyle/>
          <a:p>
            <a:pPr marL="177800" indent="-177800">
              <a:lnSpc>
                <a:spcPct val="106000"/>
              </a:lnSpc>
              <a:spcAft>
                <a:spcPts val="400"/>
              </a:spcAft>
              <a:buSzPct val="100000"/>
              <a:buChar char="▪"/>
            </a:pPr>
            <a:r>
              <a:rPr lang="pt-BR" sz="1300" noProof="0" dirty="0">
                <a:solidFill>
                  <a:srgbClr val="2B2B2E"/>
                </a:solidFill>
                <a:latin typeface="Calibri" pitchFamily="34" charset="0"/>
                <a:ea typeface="Calibri" pitchFamily="34" charset="-122"/>
                <a:cs typeface="Calibri" pitchFamily="34" charset="-120"/>
              </a:rPr>
              <a:t>Escrever o menor número possível de linhas</a:t>
            </a:r>
            <a:endParaRPr lang="pt-BR" sz="1300" noProof="0" dirty="0"/>
          </a:p>
          <a:p>
            <a:pPr marL="177800" indent="-177800">
              <a:lnSpc>
                <a:spcPct val="106000"/>
              </a:lnSpc>
              <a:spcAft>
                <a:spcPts val="400"/>
              </a:spcAft>
              <a:buSzPct val="100000"/>
              <a:buChar char="▪"/>
            </a:pPr>
            <a:r>
              <a:rPr lang="pt-BR" sz="1300" noProof="0" dirty="0">
                <a:solidFill>
                  <a:srgbClr val="2B2B2E"/>
                </a:solidFill>
                <a:latin typeface="Calibri" pitchFamily="34" charset="0"/>
                <a:ea typeface="Calibri" pitchFamily="34" charset="-122"/>
                <a:cs typeface="Calibri" pitchFamily="34" charset="-120"/>
              </a:rPr>
              <a:t>Ignorar testes, validações ou tratamento de erros</a:t>
            </a:r>
            <a:endParaRPr lang="pt-BR" sz="1300" noProof="0" dirty="0"/>
          </a:p>
          <a:p>
            <a:pPr marL="177800" indent="-177800">
              <a:lnSpc>
                <a:spcPct val="106000"/>
              </a:lnSpc>
              <a:spcAft>
                <a:spcPts val="400"/>
              </a:spcAft>
              <a:buSzPct val="100000"/>
              <a:buChar char="▪"/>
            </a:pPr>
            <a:r>
              <a:rPr lang="pt-BR" sz="1300" noProof="0" dirty="0">
                <a:solidFill>
                  <a:srgbClr val="2B2B2E"/>
                </a:solidFill>
                <a:latin typeface="Calibri" pitchFamily="34" charset="0"/>
                <a:ea typeface="Calibri" pitchFamily="34" charset="-122"/>
                <a:cs typeface="Calibri" pitchFamily="34" charset="-120"/>
              </a:rPr>
              <a:t>Eliminar toda abstração</a:t>
            </a:r>
            <a:endParaRPr lang="pt-BR" sz="1300" noProof="0" dirty="0"/>
          </a:p>
        </p:txBody>
      </p:sp>
      <p:sp>
        <p:nvSpPr>
          <p:cNvPr id="9" name="Text 7"/>
          <p:cNvSpPr/>
          <p:nvPr/>
        </p:nvSpPr>
        <p:spPr>
          <a:xfrm>
            <a:off x="6522720" y="1929384"/>
            <a:ext cx="5669280" cy="731520"/>
          </a:xfrm>
          <a:prstGeom prst="rect">
            <a:avLst/>
          </a:prstGeom>
          <a:noFill/>
          <a:ln/>
        </p:spPr>
        <p:txBody>
          <a:bodyPr wrap="square" lIns="0" tIns="0" rIns="0" bIns="0" rtlCol="0" anchor="t"/>
          <a:lstStyle/>
          <a:p>
            <a:pPr marL="177800" indent="-177800">
              <a:lnSpc>
                <a:spcPct val="106000"/>
              </a:lnSpc>
              <a:spcAft>
                <a:spcPts val="400"/>
              </a:spcAft>
              <a:buSzPct val="100000"/>
              <a:buChar char="▪"/>
            </a:pPr>
            <a:r>
              <a:rPr lang="pt-BR" sz="1300" dirty="0">
                <a:solidFill>
                  <a:srgbClr val="2B2B2E"/>
                </a:solidFill>
                <a:latin typeface="Calibri" pitchFamily="34" charset="0"/>
                <a:ea typeface="Calibri" pitchFamily="34" charset="-122"/>
                <a:cs typeface="Calibri" pitchFamily="34" charset="-120"/>
              </a:rPr>
              <a:t>Improvisar uma solução sem estrutura</a:t>
            </a:r>
          </a:p>
          <a:p>
            <a:pPr marL="177800" indent="-177800">
              <a:lnSpc>
                <a:spcPct val="106000"/>
              </a:lnSpc>
              <a:spcAft>
                <a:spcPts val="400"/>
              </a:spcAft>
              <a:buSzPct val="100000"/>
              <a:buChar char="▪"/>
            </a:pPr>
            <a:r>
              <a:rPr lang="pt-BR" sz="1300" dirty="0">
                <a:solidFill>
                  <a:srgbClr val="2B2B2E"/>
                </a:solidFill>
                <a:latin typeface="Calibri" pitchFamily="34" charset="0"/>
                <a:ea typeface="Calibri" pitchFamily="34" charset="-122"/>
                <a:cs typeface="Calibri" pitchFamily="34" charset="-120"/>
              </a:rPr>
              <a:t>Remover regras necessárias do domínio</a:t>
            </a:r>
          </a:p>
          <a:p>
            <a:pPr marL="177800" indent="-177800">
              <a:lnSpc>
                <a:spcPct val="106000"/>
              </a:lnSpc>
              <a:spcAft>
                <a:spcPts val="400"/>
              </a:spcAft>
              <a:buSzPct val="100000"/>
              <a:buChar char="▪"/>
            </a:pPr>
            <a:r>
              <a:rPr lang="pt-BR" sz="1300" dirty="0">
                <a:solidFill>
                  <a:srgbClr val="2B2B2E"/>
                </a:solidFill>
                <a:latin typeface="Calibri" pitchFamily="34" charset="0"/>
                <a:ea typeface="Calibri" pitchFamily="34" charset="-122"/>
                <a:cs typeface="Calibri" pitchFamily="34" charset="-120"/>
              </a:rPr>
              <a:t>Impedir que o software evolua</a:t>
            </a:r>
          </a:p>
        </p:txBody>
      </p:sp>
      <p:sp>
        <p:nvSpPr>
          <p:cNvPr id="10" name="Shape 8"/>
          <p:cNvSpPr/>
          <p:nvPr/>
        </p:nvSpPr>
        <p:spPr>
          <a:xfrm>
            <a:off x="502920" y="2802636"/>
            <a:ext cx="118872" cy="118872"/>
          </a:xfrm>
          <a:prstGeom prst="rect">
            <a:avLst/>
          </a:prstGeom>
          <a:solidFill>
            <a:srgbClr val="C9A227"/>
          </a:solidFill>
          <a:ln/>
        </p:spPr>
        <p:txBody>
          <a:bodyPr/>
          <a:lstStyle/>
          <a:p>
            <a:endParaRPr lang="pt-BR" noProof="0" dirty="0"/>
          </a:p>
        </p:txBody>
      </p:sp>
      <p:sp>
        <p:nvSpPr>
          <p:cNvPr id="11" name="Text 9"/>
          <p:cNvSpPr/>
          <p:nvPr/>
        </p:nvSpPr>
        <p:spPr>
          <a:xfrm>
            <a:off x="722376" y="2734056"/>
            <a:ext cx="654710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COMPLEXIDADE ESSENCIAL × ACIDENTAL</a:t>
            </a:r>
            <a:endParaRPr lang="pt-BR" sz="1250" noProof="0" dirty="0"/>
          </a:p>
        </p:txBody>
      </p:sp>
      <p:sp>
        <p:nvSpPr>
          <p:cNvPr id="17" name="Text 15"/>
          <p:cNvSpPr/>
          <p:nvPr/>
        </p:nvSpPr>
        <p:spPr>
          <a:xfrm>
            <a:off x="2403083" y="2918841"/>
            <a:ext cx="3835030" cy="420624"/>
          </a:xfrm>
          <a:prstGeom prst="rect">
            <a:avLst/>
          </a:prstGeom>
          <a:noFill/>
          <a:ln/>
        </p:spPr>
        <p:txBody>
          <a:bodyPr wrap="square" lIns="0" tIns="0" rIns="0" bIns="0" rtlCol="0" anchor="ctr"/>
          <a:lstStyle/>
          <a:p>
            <a:pPr marL="0" indent="0">
              <a:lnSpc>
                <a:spcPct val="110000"/>
              </a:lnSpc>
              <a:buNone/>
            </a:pPr>
            <a:r>
              <a:rPr lang="pt-BR" sz="1000" i="1" noProof="0" dirty="0">
                <a:solidFill>
                  <a:srgbClr val="6B7280"/>
                </a:solidFill>
                <a:latin typeface="Calibri" pitchFamily="34" charset="0"/>
                <a:ea typeface="Calibri" pitchFamily="34" charset="-122"/>
                <a:cs typeface="Calibri" pitchFamily="34" charset="-120"/>
              </a:rPr>
              <a:t>cálculo de impostos, estados válidos do pedido, regras de pagamento, restrições de estoque e permissões</a:t>
            </a:r>
            <a:endParaRPr lang="pt-BR" sz="1000" noProof="0" dirty="0"/>
          </a:p>
        </p:txBody>
      </p:sp>
      <p:sp>
        <p:nvSpPr>
          <p:cNvPr id="23" name="Text 21"/>
          <p:cNvSpPr/>
          <p:nvPr/>
        </p:nvSpPr>
        <p:spPr>
          <a:xfrm>
            <a:off x="2403083" y="4407408"/>
            <a:ext cx="3835030" cy="420624"/>
          </a:xfrm>
          <a:prstGeom prst="rect">
            <a:avLst/>
          </a:prstGeom>
          <a:noFill/>
          <a:ln/>
        </p:spPr>
        <p:txBody>
          <a:bodyPr wrap="square" lIns="0" tIns="0" rIns="0" bIns="0" rtlCol="0" anchor="ctr"/>
          <a:lstStyle/>
          <a:p>
            <a:pPr marL="0" indent="0">
              <a:lnSpc>
                <a:spcPct val="110000"/>
              </a:lnSpc>
              <a:buNone/>
            </a:pPr>
            <a:r>
              <a:rPr lang="pt-BR" sz="1000" i="1" noProof="0" dirty="0">
                <a:solidFill>
                  <a:srgbClr val="6B7280"/>
                </a:solidFill>
                <a:latin typeface="Calibri" pitchFamily="34" charset="0"/>
                <a:ea typeface="Calibri" pitchFamily="34" charset="-122"/>
                <a:cs typeface="Calibri" pitchFamily="34" charset="-120"/>
              </a:rPr>
              <a:t>camadas sem propósito, hierarquias prematuras, configuração excessiva, parâmetros genéricos, extensibilidade imaginária</a:t>
            </a:r>
            <a:endParaRPr lang="pt-BR" sz="1000" noProof="0" dirty="0"/>
          </a:p>
        </p:txBody>
      </p:sp>
      <p:sp>
        <p:nvSpPr>
          <p:cNvPr id="28" name="Text 26"/>
          <p:cNvSpPr/>
          <p:nvPr/>
        </p:nvSpPr>
        <p:spPr>
          <a:xfrm>
            <a:off x="4227046" y="4069080"/>
            <a:ext cx="2286000" cy="365760"/>
          </a:xfrm>
          <a:prstGeom prst="rect">
            <a:avLst/>
          </a:prstGeom>
          <a:noFill/>
          <a:ln/>
        </p:spPr>
        <p:txBody>
          <a:bodyPr wrap="square" lIns="0" tIns="0" rIns="0" bIns="0" rtlCol="0" anchor="ctr"/>
          <a:lstStyle/>
          <a:p>
            <a:pPr marL="0" indent="0">
              <a:lnSpc>
                <a:spcPct val="105000"/>
              </a:lnSpc>
              <a:buNone/>
            </a:pPr>
            <a:r>
              <a:rPr lang="pt-BR" sz="740" i="1" noProof="0" dirty="0">
                <a:solidFill>
                  <a:srgbClr val="6B7280"/>
                </a:solidFill>
                <a:latin typeface="Calibri" pitchFamily="34" charset="0"/>
                <a:ea typeface="Calibri" pitchFamily="34" charset="-122"/>
                <a:cs typeface="Calibri" pitchFamily="34" charset="-120"/>
              </a:rPr>
              <a:t>reduzir quando não agrega valor</a:t>
            </a:r>
            <a:endParaRPr lang="pt-BR" sz="740" noProof="0" dirty="0"/>
          </a:p>
        </p:txBody>
      </p:sp>
      <p:sp>
        <p:nvSpPr>
          <p:cNvPr id="29" name="Shape 27"/>
          <p:cNvSpPr/>
          <p:nvPr/>
        </p:nvSpPr>
        <p:spPr>
          <a:xfrm>
            <a:off x="6513046" y="2800350"/>
            <a:ext cx="118872" cy="118872"/>
          </a:xfrm>
          <a:prstGeom prst="rect">
            <a:avLst/>
          </a:prstGeom>
          <a:solidFill>
            <a:srgbClr val="C9A227"/>
          </a:solidFill>
          <a:ln/>
        </p:spPr>
        <p:txBody>
          <a:bodyPr/>
          <a:lstStyle/>
          <a:p>
            <a:endParaRPr lang="pt-BR" noProof="0" dirty="0"/>
          </a:p>
        </p:txBody>
      </p:sp>
      <p:sp>
        <p:nvSpPr>
          <p:cNvPr id="30" name="Text 28"/>
          <p:cNvSpPr/>
          <p:nvPr/>
        </p:nvSpPr>
        <p:spPr>
          <a:xfrm>
            <a:off x="6732502" y="2731770"/>
            <a:ext cx="403250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CRITÉRIOS PRÁTICOS DE UMA SOLUÇÃO SIMPLES</a:t>
            </a:r>
            <a:endParaRPr lang="pt-BR" sz="1250" noProof="0" dirty="0"/>
          </a:p>
        </p:txBody>
      </p:sp>
      <p:sp>
        <p:nvSpPr>
          <p:cNvPr id="31" name="Text 29"/>
          <p:cNvSpPr/>
          <p:nvPr/>
        </p:nvSpPr>
        <p:spPr>
          <a:xfrm>
            <a:off x="6513046" y="3088386"/>
            <a:ext cx="4251960" cy="1691640"/>
          </a:xfrm>
          <a:prstGeom prst="rect">
            <a:avLst/>
          </a:prstGeom>
          <a:noFill/>
          <a:ln/>
        </p:spPr>
        <p:txBody>
          <a:bodyPr wrap="square" lIns="0" tIns="0" rIns="0" bIns="0" rtlCol="0" anchor="t"/>
          <a:lstStyle/>
          <a:p>
            <a:pPr marL="177800" indent="-177800">
              <a:lnSpc>
                <a:spcPct val="106000"/>
              </a:lnSpc>
              <a:spcAft>
                <a:spcPts val="400"/>
              </a:spcAft>
              <a:buSzPct val="100000"/>
              <a:buChar char="▪"/>
            </a:pPr>
            <a:r>
              <a:rPr lang="pt-BR" sz="1300" noProof="0" dirty="0">
                <a:solidFill>
                  <a:srgbClr val="2B2B2E"/>
                </a:solidFill>
                <a:latin typeface="Calibri" pitchFamily="34" charset="0"/>
                <a:ea typeface="Calibri" pitchFamily="34" charset="-122"/>
                <a:cs typeface="Calibri" pitchFamily="34" charset="-120"/>
              </a:rPr>
              <a:t>Utiliza poucos conceitos, todos necessários</a:t>
            </a:r>
            <a:endParaRPr lang="pt-BR" sz="1300" noProof="0" dirty="0"/>
          </a:p>
          <a:p>
            <a:pPr marL="177800" indent="-177800">
              <a:lnSpc>
                <a:spcPct val="106000"/>
              </a:lnSpc>
              <a:spcAft>
                <a:spcPts val="400"/>
              </a:spcAft>
              <a:buSzPct val="100000"/>
              <a:buChar char="▪"/>
            </a:pPr>
            <a:r>
              <a:rPr lang="pt-BR" sz="1300" noProof="0" dirty="0">
                <a:solidFill>
                  <a:srgbClr val="2B2B2E"/>
                </a:solidFill>
                <a:latin typeface="Calibri" pitchFamily="34" charset="0"/>
                <a:ea typeface="Calibri" pitchFamily="34" charset="-122"/>
                <a:cs typeface="Calibri" pitchFamily="34" charset="-120"/>
              </a:rPr>
              <a:t>Possui fluxo de controle evidente</a:t>
            </a:r>
            <a:endParaRPr lang="pt-BR" sz="1300" noProof="0" dirty="0"/>
          </a:p>
          <a:p>
            <a:pPr marL="177800" indent="-177800">
              <a:lnSpc>
                <a:spcPct val="106000"/>
              </a:lnSpc>
              <a:spcAft>
                <a:spcPts val="400"/>
              </a:spcAft>
              <a:buSzPct val="100000"/>
              <a:buChar char="▪"/>
            </a:pPr>
            <a:r>
              <a:rPr lang="pt-BR" sz="1300" noProof="0" dirty="0">
                <a:solidFill>
                  <a:srgbClr val="2B2B2E"/>
                </a:solidFill>
                <a:latin typeface="Calibri" pitchFamily="34" charset="0"/>
                <a:ea typeface="Calibri" pitchFamily="34" charset="-122"/>
                <a:cs typeface="Calibri" pitchFamily="34" charset="-120"/>
              </a:rPr>
              <a:t>Reduz dependências e pontos de configuração</a:t>
            </a:r>
            <a:endParaRPr lang="pt-BR" sz="1300" noProof="0" dirty="0"/>
          </a:p>
          <a:p>
            <a:pPr marL="177800" indent="-177800">
              <a:lnSpc>
                <a:spcPct val="106000"/>
              </a:lnSpc>
              <a:spcAft>
                <a:spcPts val="400"/>
              </a:spcAft>
              <a:buSzPct val="100000"/>
              <a:buChar char="▪"/>
            </a:pPr>
            <a:r>
              <a:rPr lang="pt-BR" sz="1300" noProof="0" dirty="0">
                <a:solidFill>
                  <a:srgbClr val="2B2B2E"/>
                </a:solidFill>
                <a:latin typeface="Calibri" pitchFamily="34" charset="0"/>
                <a:ea typeface="Calibri" pitchFamily="34" charset="-122"/>
                <a:cs typeface="Calibri" pitchFamily="34" charset="-120"/>
              </a:rPr>
              <a:t>Resolve os requisitos atuais conhecidos</a:t>
            </a:r>
            <a:endParaRPr lang="pt-BR" sz="1300" noProof="0" dirty="0"/>
          </a:p>
          <a:p>
            <a:pPr marL="177800" indent="-177800">
              <a:lnSpc>
                <a:spcPct val="106000"/>
              </a:lnSpc>
              <a:spcAft>
                <a:spcPts val="400"/>
              </a:spcAft>
              <a:buSzPct val="100000"/>
              <a:buChar char="▪"/>
            </a:pPr>
            <a:r>
              <a:rPr lang="pt-BR" sz="1300" noProof="0" dirty="0">
                <a:solidFill>
                  <a:srgbClr val="2B2B2E"/>
                </a:solidFill>
                <a:latin typeface="Calibri" pitchFamily="34" charset="0"/>
                <a:ea typeface="Calibri" pitchFamily="34" charset="-122"/>
                <a:cs typeface="Calibri" pitchFamily="34" charset="-120"/>
              </a:rPr>
              <a:t>Não antecipa variações sem evidência</a:t>
            </a:r>
            <a:endParaRPr lang="pt-BR" sz="1300" noProof="0" dirty="0"/>
          </a:p>
          <a:p>
            <a:pPr marL="177800" indent="-177800">
              <a:lnSpc>
                <a:spcPct val="106000"/>
              </a:lnSpc>
              <a:spcAft>
                <a:spcPts val="400"/>
              </a:spcAft>
              <a:buSzPct val="100000"/>
              <a:buChar char="▪"/>
            </a:pPr>
            <a:r>
              <a:rPr lang="pt-BR" sz="1300" noProof="0" dirty="0">
                <a:solidFill>
                  <a:srgbClr val="2B2B2E"/>
                </a:solidFill>
                <a:latin typeface="Calibri" pitchFamily="34" charset="0"/>
                <a:ea typeface="Calibri" pitchFamily="34" charset="-122"/>
                <a:cs typeface="Calibri" pitchFamily="34" charset="-120"/>
              </a:rPr>
              <a:t>Mantém explícitas as regras essenciais do domínio</a:t>
            </a:r>
            <a:endParaRPr lang="pt-BR" sz="1300" noProof="0" dirty="0"/>
          </a:p>
        </p:txBody>
      </p:sp>
      <p:sp>
        <p:nvSpPr>
          <p:cNvPr id="32" name="Shape 30"/>
          <p:cNvSpPr/>
          <p:nvPr/>
        </p:nvSpPr>
        <p:spPr>
          <a:xfrm>
            <a:off x="502920" y="4937760"/>
            <a:ext cx="11201400" cy="457200"/>
          </a:xfrm>
          <a:prstGeom prst="roundRect">
            <a:avLst>
              <a:gd name="adj" fmla="val 10000"/>
            </a:avLst>
          </a:prstGeom>
          <a:solidFill>
            <a:srgbClr val="F6F5EF"/>
          </a:solidFill>
          <a:ln w="12700">
            <a:solidFill>
              <a:srgbClr val="C9CDD6"/>
            </a:solidFill>
            <a:prstDash val="solid"/>
          </a:ln>
        </p:spPr>
        <p:txBody>
          <a:bodyPr/>
          <a:lstStyle/>
          <a:p>
            <a:endParaRPr lang="pt-BR" noProof="0" dirty="0"/>
          </a:p>
        </p:txBody>
      </p:sp>
      <p:sp>
        <p:nvSpPr>
          <p:cNvPr id="33" name="Text 31"/>
          <p:cNvSpPr/>
          <p:nvPr/>
        </p:nvSpPr>
        <p:spPr>
          <a:xfrm>
            <a:off x="685800" y="4937760"/>
            <a:ext cx="10835640" cy="457200"/>
          </a:xfrm>
          <a:prstGeom prst="rect">
            <a:avLst/>
          </a:prstGeom>
          <a:noFill/>
          <a:ln/>
        </p:spPr>
        <p:txBody>
          <a:bodyPr wrap="square" lIns="0" tIns="0" rIns="0" bIns="0" rtlCol="0" anchor="ctr"/>
          <a:lstStyle/>
          <a:p>
            <a:pPr marL="0" indent="0" algn="ctr">
              <a:lnSpc>
                <a:spcPct val="108000"/>
              </a:lnSpc>
              <a:buNone/>
            </a:pPr>
            <a:r>
              <a:rPr lang="pt-BR" sz="1400" b="1" noProof="0" dirty="0">
                <a:solidFill>
                  <a:srgbClr val="1B2A4A"/>
                </a:solidFill>
                <a:latin typeface="Calibri" pitchFamily="34" charset="0"/>
                <a:ea typeface="Calibri" pitchFamily="34" charset="-122"/>
                <a:cs typeface="Calibri" pitchFamily="34" charset="-120"/>
              </a:rPr>
              <a:t>Simples: </a:t>
            </a:r>
            <a:r>
              <a:rPr lang="pt-BR" sz="1400" noProof="0" dirty="0">
                <a:solidFill>
                  <a:srgbClr val="2B2B2E"/>
                </a:solidFill>
                <a:latin typeface="Calibri" pitchFamily="34" charset="0"/>
                <a:ea typeface="Calibri" pitchFamily="34" charset="-122"/>
                <a:cs typeface="Calibri" pitchFamily="34" charset="-120"/>
              </a:rPr>
              <a:t>preserva a correção e remove complexidade desnecessária. </a:t>
            </a:r>
            <a:r>
              <a:rPr lang="pt-BR" sz="1400" noProof="0" dirty="0">
                <a:solidFill>
                  <a:srgbClr val="2B2B2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X</a:t>
            </a:r>
            <a:r>
              <a:rPr lang="pt-BR" sz="1400" noProof="0" dirty="0">
                <a:solidFill>
                  <a:srgbClr val="2B2B2E"/>
                </a:solidFill>
                <a:latin typeface="Calibri" pitchFamily="34" charset="0"/>
                <a:ea typeface="Calibri" pitchFamily="34" charset="-122"/>
                <a:cs typeface="Calibri" pitchFamily="34" charset="-120"/>
              </a:rPr>
              <a:t>   </a:t>
            </a:r>
            <a:r>
              <a:rPr lang="pt-BR" sz="1400" b="1" noProof="0" dirty="0">
                <a:solidFill>
                  <a:srgbClr val="1B2A4A"/>
                </a:solidFill>
                <a:latin typeface="Calibri" pitchFamily="34" charset="0"/>
                <a:ea typeface="Calibri" pitchFamily="34" charset="-122"/>
                <a:cs typeface="Calibri" pitchFamily="34" charset="-120"/>
              </a:rPr>
              <a:t>Simplista: </a:t>
            </a:r>
            <a:r>
              <a:rPr lang="pt-BR" sz="1400" noProof="0" dirty="0">
                <a:solidFill>
                  <a:srgbClr val="2B2B2E"/>
                </a:solidFill>
                <a:latin typeface="Calibri" pitchFamily="34" charset="0"/>
                <a:ea typeface="Calibri" pitchFamily="34" charset="-122"/>
                <a:cs typeface="Calibri" pitchFamily="34" charset="-120"/>
              </a:rPr>
              <a:t>esconde ou elimina partes necessárias do problema.</a:t>
            </a:r>
            <a:endParaRPr lang="pt-BR" sz="1400" noProof="0" dirty="0"/>
          </a:p>
        </p:txBody>
      </p:sp>
      <p:sp>
        <p:nvSpPr>
          <p:cNvPr id="34" name="Shape 32"/>
          <p:cNvSpPr/>
          <p:nvPr/>
        </p:nvSpPr>
        <p:spPr>
          <a:xfrm>
            <a:off x="502920" y="5486400"/>
            <a:ext cx="11201400" cy="937260"/>
          </a:xfrm>
          <a:prstGeom prst="roundRect">
            <a:avLst>
              <a:gd name="adj" fmla="val 4458"/>
            </a:avLst>
          </a:prstGeom>
          <a:solidFill>
            <a:srgbClr val="FFFFFF"/>
          </a:solidFill>
          <a:ln w="13970">
            <a:solidFill>
              <a:srgbClr val="1B2A4A"/>
            </a:solidFill>
            <a:prstDash val="solid"/>
          </a:ln>
        </p:spPr>
        <p:txBody>
          <a:bodyPr/>
          <a:lstStyle/>
          <a:p>
            <a:endParaRPr lang="pt-BR" noProof="0" dirty="0"/>
          </a:p>
        </p:txBody>
      </p:sp>
      <p:sp>
        <p:nvSpPr>
          <p:cNvPr id="35" name="Shape 33"/>
          <p:cNvSpPr/>
          <p:nvPr/>
        </p:nvSpPr>
        <p:spPr>
          <a:xfrm>
            <a:off x="667512" y="5646420"/>
            <a:ext cx="118872" cy="118872"/>
          </a:xfrm>
          <a:prstGeom prst="rect">
            <a:avLst/>
          </a:prstGeom>
          <a:solidFill>
            <a:srgbClr val="C9A227"/>
          </a:solidFill>
          <a:ln/>
        </p:spPr>
        <p:txBody>
          <a:bodyPr/>
          <a:lstStyle/>
          <a:p>
            <a:endParaRPr lang="pt-BR" noProof="0" dirty="0"/>
          </a:p>
        </p:txBody>
      </p:sp>
      <p:sp>
        <p:nvSpPr>
          <p:cNvPr id="36" name="Text 34"/>
          <p:cNvSpPr/>
          <p:nvPr/>
        </p:nvSpPr>
        <p:spPr>
          <a:xfrm>
            <a:off x="886968" y="5577840"/>
            <a:ext cx="10652760"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PERGUNTAS PARA ANÁLISE</a:t>
            </a:r>
            <a:endParaRPr lang="pt-BR" sz="1250" noProof="0" dirty="0"/>
          </a:p>
        </p:txBody>
      </p:sp>
      <p:sp>
        <p:nvSpPr>
          <p:cNvPr id="37" name="Text 35"/>
          <p:cNvSpPr/>
          <p:nvPr/>
        </p:nvSpPr>
        <p:spPr>
          <a:xfrm>
            <a:off x="667512" y="5925312"/>
            <a:ext cx="10872216" cy="476860"/>
          </a:xfrm>
          <a:prstGeom prst="rect">
            <a:avLst/>
          </a:prstGeom>
          <a:noFill/>
          <a:ln/>
        </p:spPr>
        <p:txBody>
          <a:bodyPr wrap="square" lIns="0" tIns="0" rIns="0" bIns="0" numCol="2" rtlCol="0" anchor="t"/>
          <a:lstStyle/>
          <a:p>
            <a:pPr marL="177800" indent="-177800">
              <a:lnSpc>
                <a:spcPct val="106000"/>
              </a:lnSpc>
              <a:spcAft>
                <a:spcPts val="100"/>
              </a:spcAft>
              <a:buSzPct val="100000"/>
              <a:buChar char="▪"/>
            </a:pPr>
            <a:r>
              <a:rPr lang="pt-BR" sz="1200" i="1" noProof="0" dirty="0">
                <a:solidFill>
                  <a:srgbClr val="1B2A4A"/>
                </a:solidFill>
                <a:latin typeface="Calibri" pitchFamily="34" charset="0"/>
                <a:ea typeface="Calibri" pitchFamily="34" charset="-122"/>
                <a:cs typeface="Calibri" pitchFamily="34" charset="-120"/>
              </a:rPr>
              <a:t>Todos os elementos desta solução são necessários agora?</a:t>
            </a:r>
            <a:endParaRPr lang="pt-BR" sz="1200" noProof="0" dirty="0"/>
          </a:p>
          <a:p>
            <a:pPr marL="177800" indent="-177800">
              <a:lnSpc>
                <a:spcPct val="106000"/>
              </a:lnSpc>
              <a:spcAft>
                <a:spcPts val="100"/>
              </a:spcAft>
              <a:buSzPct val="100000"/>
              <a:buChar char="▪"/>
            </a:pPr>
            <a:r>
              <a:rPr lang="pt-BR" sz="1200" i="1" noProof="0" dirty="0">
                <a:solidFill>
                  <a:srgbClr val="1B2A4A"/>
                </a:solidFill>
                <a:latin typeface="Calibri" pitchFamily="34" charset="0"/>
                <a:ea typeface="Calibri" pitchFamily="34" charset="-122"/>
                <a:cs typeface="Calibri" pitchFamily="34" charset="-120"/>
              </a:rPr>
              <a:t>A complexidade vem do problema ou foi introduzida pela implementação?</a:t>
            </a:r>
            <a:endParaRPr lang="pt-BR" sz="1200" noProof="0" dirty="0"/>
          </a:p>
          <a:p>
            <a:pPr marL="177800" indent="-177800">
              <a:lnSpc>
                <a:spcPct val="106000"/>
              </a:lnSpc>
              <a:spcAft>
                <a:spcPts val="100"/>
              </a:spcAft>
              <a:buSzPct val="100000"/>
              <a:buChar char="▪"/>
            </a:pPr>
            <a:r>
              <a:rPr lang="pt-BR" sz="1200" i="1" noProof="0" dirty="0">
                <a:solidFill>
                  <a:srgbClr val="1B2A4A"/>
                </a:solidFill>
                <a:latin typeface="Calibri" pitchFamily="34" charset="0"/>
                <a:ea typeface="Calibri" pitchFamily="34" charset="-122"/>
                <a:cs typeface="Calibri" pitchFamily="34" charset="-120"/>
              </a:rPr>
              <a:t>A abstração resolve uma variação real ou apenas imaginada?</a:t>
            </a:r>
            <a:endParaRPr lang="pt-BR" sz="1200" noProof="0" dirty="0"/>
          </a:p>
        </p:txBody>
      </p:sp>
      <p:sp>
        <p:nvSpPr>
          <p:cNvPr id="38" name="Shape 36"/>
          <p:cNvSpPr/>
          <p:nvPr/>
        </p:nvSpPr>
        <p:spPr>
          <a:xfrm>
            <a:off x="0" y="6528816"/>
            <a:ext cx="12188952" cy="329184"/>
          </a:xfrm>
          <a:prstGeom prst="rect">
            <a:avLst/>
          </a:prstGeom>
          <a:solidFill>
            <a:srgbClr val="1B2A4A"/>
          </a:solidFill>
          <a:ln/>
        </p:spPr>
        <p:txBody>
          <a:bodyPr/>
          <a:lstStyle/>
          <a:p>
            <a:endParaRPr lang="pt-BR" noProof="0" dirty="0"/>
          </a:p>
        </p:txBody>
      </p:sp>
      <p:sp>
        <p:nvSpPr>
          <p:cNvPr id="39" name="Text 37"/>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40" name="Text 38"/>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10 / 15</a:t>
            </a:r>
            <a:endParaRPr lang="pt-BR" sz="950" noProof="0" dirty="0"/>
          </a:p>
        </p:txBody>
      </p:sp>
      <p:grpSp>
        <p:nvGrpSpPr>
          <p:cNvPr id="41" name="Agrupar 40">
            <a:extLst>
              <a:ext uri="{FF2B5EF4-FFF2-40B4-BE49-F238E27FC236}">
                <a16:creationId xmlns:a16="http://schemas.microsoft.com/office/drawing/2014/main" id="{4E282B17-F7B0-A5FE-A674-270A428E7B09}"/>
              </a:ext>
            </a:extLst>
          </p:cNvPr>
          <p:cNvGrpSpPr/>
          <p:nvPr/>
        </p:nvGrpSpPr>
        <p:grpSpPr>
          <a:xfrm>
            <a:off x="278892" y="205740"/>
            <a:ext cx="566928" cy="566928"/>
            <a:chOff x="384048" y="290322"/>
            <a:chExt cx="566928" cy="566928"/>
          </a:xfrm>
        </p:grpSpPr>
        <p:sp>
          <p:nvSpPr>
            <p:cNvPr id="42" name="Shape 0">
              <a:extLst>
                <a:ext uri="{FF2B5EF4-FFF2-40B4-BE49-F238E27FC236}">
                  <a16:creationId xmlns:a16="http://schemas.microsoft.com/office/drawing/2014/main" id="{A97459CC-B05A-3C57-C52F-3A9F418ABA34}"/>
                </a:ext>
              </a:extLst>
            </p:cNvPr>
            <p:cNvSpPr/>
            <p:nvPr/>
          </p:nvSpPr>
          <p:spPr>
            <a:xfrm>
              <a:off x="457200" y="384048"/>
              <a:ext cx="429768" cy="388620"/>
            </a:xfrm>
            <a:prstGeom prst="ellipse">
              <a:avLst/>
            </a:prstGeom>
            <a:solidFill>
              <a:srgbClr val="C9A227"/>
            </a:solidFill>
            <a:ln w="12700">
              <a:noFill/>
              <a:prstDash val="solid"/>
            </a:ln>
          </p:spPr>
          <p:txBody>
            <a:bodyPr/>
            <a:lstStyle/>
            <a:p>
              <a:endParaRPr lang="pt-BR" noProof="0" dirty="0"/>
            </a:p>
          </p:txBody>
        </p:sp>
        <p:sp>
          <p:nvSpPr>
            <p:cNvPr id="43" name="Text 1">
              <a:extLst>
                <a:ext uri="{FF2B5EF4-FFF2-40B4-BE49-F238E27FC236}">
                  <a16:creationId xmlns:a16="http://schemas.microsoft.com/office/drawing/2014/main" id="{F6C6ED93-663D-20A6-E7C0-B027E4DC9B4C}"/>
                </a:ext>
              </a:extLst>
            </p:cNvPr>
            <p:cNvSpPr/>
            <p:nvPr/>
          </p:nvSpPr>
          <p:spPr>
            <a:xfrm>
              <a:off x="384048" y="290322"/>
              <a:ext cx="566928" cy="566928"/>
            </a:xfrm>
            <a:prstGeom prst="rect">
              <a:avLst/>
            </a:prstGeom>
            <a:noFill/>
            <a:ln/>
          </p:spPr>
          <p:txBody>
            <a:bodyPr wrap="square" rtlCol="0" anchor="ctr"/>
            <a:lstStyle/>
            <a:p>
              <a:pPr marL="0" indent="0" algn="ctr">
                <a:buNone/>
              </a:pPr>
              <a:r>
                <a:rPr lang="pt-BR" sz="2000" b="1" noProof="0" dirty="0">
                  <a:solidFill>
                    <a:schemeClr val="bg1"/>
                  </a:solidFill>
                  <a:latin typeface="Tahoma" pitchFamily="34" charset="0"/>
                  <a:ea typeface="Tahoma" pitchFamily="34" charset="-122"/>
                  <a:cs typeface="Tahoma" pitchFamily="34" charset="-120"/>
                </a:rPr>
                <a:t>3</a:t>
              </a:r>
              <a:endParaRPr lang="pt-BR" sz="2000" noProof="0" dirty="0">
                <a:solidFill>
                  <a:schemeClr val="bg1"/>
                </a:solidFill>
              </a:endParaRPr>
            </a:p>
          </p:txBody>
        </p:sp>
      </p:grpSp>
      <p:pic>
        <p:nvPicPr>
          <p:cNvPr id="47" name="Imagem 46">
            <a:extLst>
              <a:ext uri="{FF2B5EF4-FFF2-40B4-BE49-F238E27FC236}">
                <a16:creationId xmlns:a16="http://schemas.microsoft.com/office/drawing/2014/main" id="{0E24DCEB-27E6-0EAE-5CC4-72A86693902F}"/>
              </a:ext>
            </a:extLst>
          </p:cNvPr>
          <p:cNvPicPr>
            <a:picLocks noChangeAspect="1"/>
          </p:cNvPicPr>
          <p:nvPr/>
        </p:nvPicPr>
        <p:blipFill>
          <a:blip r:embed="rId3"/>
          <a:stretch>
            <a:fillRect/>
          </a:stretch>
        </p:blipFill>
        <p:spPr>
          <a:xfrm>
            <a:off x="621792" y="3257553"/>
            <a:ext cx="4862064" cy="12070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07720" y="292608"/>
            <a:ext cx="11155680" cy="566928"/>
          </a:xfrm>
          <a:prstGeom prst="rect">
            <a:avLst/>
          </a:prstGeom>
          <a:noFill/>
          <a:ln/>
        </p:spPr>
        <p:txBody>
          <a:bodyPr wrap="square" lIns="0" tIns="0" rIns="0" bIns="0" rtlCol="0" anchor="t"/>
          <a:lstStyle/>
          <a:p>
            <a:pPr marL="0" indent="0">
              <a:buNone/>
            </a:pPr>
            <a:r>
              <a:rPr lang="pt-BR" sz="2500" b="1" noProof="0" dirty="0">
                <a:solidFill>
                  <a:srgbClr val="1B2A4A"/>
                </a:solidFill>
                <a:latin typeface="Cambria" pitchFamily="34" charset="0"/>
                <a:ea typeface="Cambria" pitchFamily="34" charset="-122"/>
                <a:cs typeface="Cambria" pitchFamily="34" charset="-120"/>
              </a:rPr>
              <a:t>KISS na Prática: Menos Mecanismos, Mais Intenção</a:t>
            </a:r>
            <a:endParaRPr lang="pt-BR" sz="2500" noProof="0" dirty="0"/>
          </a:p>
        </p:txBody>
      </p:sp>
      <p:sp>
        <p:nvSpPr>
          <p:cNvPr id="3" name="Shape 1"/>
          <p:cNvSpPr/>
          <p:nvPr/>
        </p:nvSpPr>
        <p:spPr>
          <a:xfrm>
            <a:off x="502920" y="909828"/>
            <a:ext cx="118872" cy="118872"/>
          </a:xfrm>
          <a:prstGeom prst="rect">
            <a:avLst/>
          </a:prstGeom>
          <a:solidFill>
            <a:srgbClr val="C9A227"/>
          </a:solidFill>
          <a:ln/>
        </p:spPr>
        <p:txBody>
          <a:bodyPr/>
          <a:lstStyle/>
          <a:p>
            <a:endParaRPr lang="pt-BR" noProof="0" dirty="0"/>
          </a:p>
        </p:txBody>
      </p:sp>
      <p:sp>
        <p:nvSpPr>
          <p:cNvPr id="4" name="Text 2"/>
          <p:cNvSpPr/>
          <p:nvPr/>
        </p:nvSpPr>
        <p:spPr>
          <a:xfrm>
            <a:off x="722376" y="841248"/>
            <a:ext cx="1093622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EXEMPLO 1 — ABSTRAÇÃO PREMATURA</a:t>
            </a:r>
            <a:endParaRPr lang="pt-BR" sz="1250" noProof="0" dirty="0"/>
          </a:p>
        </p:txBody>
      </p:sp>
      <p:sp>
        <p:nvSpPr>
          <p:cNvPr id="5" name="Text 3"/>
          <p:cNvSpPr/>
          <p:nvPr/>
        </p:nvSpPr>
        <p:spPr>
          <a:xfrm>
            <a:off x="502920" y="1143000"/>
            <a:ext cx="5394960" cy="182880"/>
          </a:xfrm>
          <a:prstGeom prst="rect">
            <a:avLst/>
          </a:prstGeom>
          <a:noFill/>
          <a:ln/>
        </p:spPr>
        <p:txBody>
          <a:bodyPr wrap="square" lIns="0" tIns="0" rIns="0" bIns="0" rtlCol="0" anchor="ctr"/>
          <a:lstStyle/>
          <a:p>
            <a:pPr marL="0" indent="0">
              <a:buNone/>
            </a:pPr>
            <a:r>
              <a:rPr lang="pt-BR" sz="900" b="1" noProof="0" dirty="0">
                <a:solidFill>
                  <a:srgbClr val="1B2A4A"/>
                </a:solidFill>
                <a:latin typeface="Calibri" pitchFamily="34" charset="0"/>
                <a:ea typeface="Calibri" pitchFamily="34" charset="-122"/>
                <a:cs typeface="Calibri" pitchFamily="34" charset="-120"/>
              </a:rPr>
              <a:t>Antes — estrutura para uma variação ainda inexistente</a:t>
            </a:r>
            <a:endParaRPr lang="pt-BR" sz="900" noProof="0" dirty="0"/>
          </a:p>
        </p:txBody>
      </p:sp>
      <p:sp>
        <p:nvSpPr>
          <p:cNvPr id="6" name="Shape 4"/>
          <p:cNvSpPr/>
          <p:nvPr/>
        </p:nvSpPr>
        <p:spPr>
          <a:xfrm>
            <a:off x="502920" y="1344168"/>
            <a:ext cx="5394960" cy="827532"/>
          </a:xfrm>
          <a:prstGeom prst="roundRect">
            <a:avLst>
              <a:gd name="adj" fmla="val 7258"/>
            </a:avLst>
          </a:prstGeom>
          <a:solidFill>
            <a:srgbClr val="F2F2F3"/>
          </a:solidFill>
          <a:ln w="12700">
            <a:solidFill>
              <a:srgbClr val="D7DAE0"/>
            </a:solidFill>
            <a:prstDash val="solid"/>
          </a:ln>
        </p:spPr>
        <p:txBody>
          <a:bodyPr/>
          <a:lstStyle/>
          <a:p>
            <a:endParaRPr lang="pt-BR" noProof="0" dirty="0"/>
          </a:p>
        </p:txBody>
      </p:sp>
      <p:sp>
        <p:nvSpPr>
          <p:cNvPr id="7" name="Text 5"/>
          <p:cNvSpPr/>
          <p:nvPr/>
        </p:nvSpPr>
        <p:spPr>
          <a:xfrm>
            <a:off x="685800" y="1417320"/>
            <a:ext cx="5029200" cy="420624"/>
          </a:xfrm>
          <a:prstGeom prst="rect">
            <a:avLst/>
          </a:prstGeom>
          <a:noFill/>
          <a:ln/>
        </p:spPr>
        <p:txBody>
          <a:bodyPr wrap="square" lIns="0" tIns="0" rIns="0" bIns="0" rtlCol="0" anchor="t"/>
          <a:lstStyle/>
          <a:p>
            <a:pPr marL="0" indent="0">
              <a:lnSpc>
                <a:spcPct val="118000"/>
              </a:lnSpc>
              <a:buNone/>
            </a:pPr>
            <a:r>
              <a:rPr lang="pt-BR" sz="1000" noProof="0" dirty="0" err="1">
                <a:solidFill>
                  <a:srgbClr val="1B2A4A"/>
                </a:solidFill>
                <a:latin typeface="Courier New" pitchFamily="34" charset="0"/>
                <a:ea typeface="Courier New" pitchFamily="34" charset="-122"/>
                <a:cs typeface="Courier New" pitchFamily="34" charset="-120"/>
              </a:rPr>
              <a:t>EntregaStrategyFactoryProviderRegistry</a:t>
            </a:r>
            <a:endParaRPr lang="pt-BR" sz="1000" noProof="0" dirty="0"/>
          </a:p>
          <a:p>
            <a:pPr marL="0" indent="0">
              <a:lnSpc>
                <a:spcPct val="118000"/>
              </a:lnSpc>
              <a:buNone/>
            </a:pPr>
            <a:r>
              <a:rPr lang="pt-BR" sz="1000" noProof="0" dirty="0">
                <a:solidFill>
                  <a:srgbClr val="1B2A4A"/>
                </a:solidFill>
                <a:latin typeface="Courier New" pitchFamily="34" charset="0"/>
                <a:ea typeface="Courier New" pitchFamily="34" charset="-122"/>
                <a:cs typeface="Courier New" pitchFamily="34" charset="-120"/>
              </a:rPr>
              <a:t>  └─ </a:t>
            </a:r>
            <a:r>
              <a:rPr lang="pt-BR" sz="1000" noProof="0" dirty="0" err="1">
                <a:solidFill>
                  <a:srgbClr val="1B2A4A"/>
                </a:solidFill>
                <a:latin typeface="Courier New" pitchFamily="34" charset="0"/>
                <a:ea typeface="Courier New" pitchFamily="34" charset="-122"/>
                <a:cs typeface="Courier New" pitchFamily="34" charset="-120"/>
              </a:rPr>
              <a:t>EntregaStrategyFactory</a:t>
            </a:r>
            <a:endParaRPr lang="pt-BR" sz="1000" noProof="0" dirty="0"/>
          </a:p>
          <a:p>
            <a:pPr marL="0" indent="0">
              <a:lnSpc>
                <a:spcPct val="118000"/>
              </a:lnSpc>
              <a:buNone/>
            </a:pPr>
            <a:r>
              <a:rPr lang="pt-BR" sz="1000" noProof="0" dirty="0">
                <a:solidFill>
                  <a:srgbClr val="1B2A4A"/>
                </a:solidFill>
                <a:latin typeface="Courier New" pitchFamily="34" charset="0"/>
                <a:ea typeface="Courier New" pitchFamily="34" charset="-122"/>
                <a:cs typeface="Courier New" pitchFamily="34" charset="-120"/>
              </a:rPr>
              <a:t>     └─ </a:t>
            </a:r>
            <a:r>
              <a:rPr lang="pt-BR" sz="1000" noProof="0" dirty="0" err="1">
                <a:solidFill>
                  <a:srgbClr val="1B2A4A"/>
                </a:solidFill>
                <a:latin typeface="Courier New" pitchFamily="34" charset="0"/>
                <a:ea typeface="Courier New" pitchFamily="34" charset="-122"/>
                <a:cs typeface="Courier New" pitchFamily="34" charset="-120"/>
              </a:rPr>
              <a:t>EntregaStrategy</a:t>
            </a:r>
            <a:endParaRPr lang="pt-BR" sz="1000" noProof="0" dirty="0"/>
          </a:p>
          <a:p>
            <a:pPr marL="0" indent="0">
              <a:lnSpc>
                <a:spcPct val="118000"/>
              </a:lnSpc>
              <a:buNone/>
            </a:pPr>
            <a:r>
              <a:rPr lang="pt-BR" sz="1000" noProof="0" dirty="0">
                <a:solidFill>
                  <a:srgbClr val="1B2A4A"/>
                </a:solidFill>
                <a:latin typeface="Courier New" pitchFamily="34" charset="0"/>
                <a:ea typeface="Courier New" pitchFamily="34" charset="-122"/>
                <a:cs typeface="Courier New" pitchFamily="34" charset="-120"/>
              </a:rPr>
              <a:t>        └─ </a:t>
            </a:r>
            <a:r>
              <a:rPr lang="pt-BR" sz="1000" noProof="0" dirty="0" err="1">
                <a:solidFill>
                  <a:srgbClr val="1B2A4A"/>
                </a:solidFill>
                <a:latin typeface="Courier New" pitchFamily="34" charset="0"/>
                <a:ea typeface="Courier New" pitchFamily="34" charset="-122"/>
                <a:cs typeface="Courier New" pitchFamily="34" charset="-120"/>
              </a:rPr>
              <a:t>EntregaNormalStrategy</a:t>
            </a:r>
            <a:endParaRPr lang="pt-BR" sz="1000" noProof="0" dirty="0"/>
          </a:p>
        </p:txBody>
      </p:sp>
      <p:sp>
        <p:nvSpPr>
          <p:cNvPr id="8" name="Text 6"/>
          <p:cNvSpPr/>
          <p:nvPr/>
        </p:nvSpPr>
        <p:spPr>
          <a:xfrm>
            <a:off x="6172200" y="1143000"/>
            <a:ext cx="5394960" cy="182880"/>
          </a:xfrm>
          <a:prstGeom prst="rect">
            <a:avLst/>
          </a:prstGeom>
          <a:noFill/>
          <a:ln/>
        </p:spPr>
        <p:txBody>
          <a:bodyPr wrap="square" lIns="0" tIns="0" rIns="0" bIns="0" rtlCol="0" anchor="ctr"/>
          <a:lstStyle/>
          <a:p>
            <a:pPr marL="0" indent="0">
              <a:buNone/>
            </a:pPr>
            <a:r>
              <a:rPr lang="pt-BR" sz="900" b="1" noProof="0" dirty="0">
                <a:solidFill>
                  <a:srgbClr val="1B2A4A"/>
                </a:solidFill>
                <a:latin typeface="Calibri" pitchFamily="34" charset="0"/>
                <a:ea typeface="Calibri" pitchFamily="34" charset="-122"/>
                <a:cs typeface="Calibri" pitchFamily="34" charset="-120"/>
              </a:rPr>
              <a:t>Depois — solução direta para o requisito atual</a:t>
            </a:r>
            <a:endParaRPr lang="pt-BR" sz="900" noProof="0" dirty="0"/>
          </a:p>
        </p:txBody>
      </p:sp>
      <p:sp>
        <p:nvSpPr>
          <p:cNvPr id="9" name="Shape 7"/>
          <p:cNvSpPr/>
          <p:nvPr/>
        </p:nvSpPr>
        <p:spPr>
          <a:xfrm>
            <a:off x="6172200" y="1344168"/>
            <a:ext cx="5394960" cy="827532"/>
          </a:xfrm>
          <a:prstGeom prst="roundRect">
            <a:avLst>
              <a:gd name="adj" fmla="val 7258"/>
            </a:avLst>
          </a:prstGeom>
          <a:solidFill>
            <a:srgbClr val="F2F2F3"/>
          </a:solidFill>
          <a:ln w="12700">
            <a:solidFill>
              <a:srgbClr val="D7DAE0"/>
            </a:solidFill>
            <a:prstDash val="solid"/>
          </a:ln>
        </p:spPr>
        <p:txBody>
          <a:bodyPr/>
          <a:lstStyle/>
          <a:p>
            <a:endParaRPr lang="pt-BR" noProof="0" dirty="0"/>
          </a:p>
        </p:txBody>
      </p:sp>
      <p:sp>
        <p:nvSpPr>
          <p:cNvPr id="10" name="Text 8"/>
          <p:cNvSpPr/>
          <p:nvPr/>
        </p:nvSpPr>
        <p:spPr>
          <a:xfrm>
            <a:off x="6355080" y="1417320"/>
            <a:ext cx="5029200" cy="420624"/>
          </a:xfrm>
          <a:prstGeom prst="rect">
            <a:avLst/>
          </a:prstGeom>
          <a:noFill/>
          <a:ln/>
        </p:spPr>
        <p:txBody>
          <a:bodyPr wrap="square" lIns="0" tIns="0" rIns="0" bIns="0" rtlCol="0" anchor="t"/>
          <a:lstStyle/>
          <a:p>
            <a:pPr>
              <a:lnSpc>
                <a:spcPct val="118000"/>
              </a:lnSpc>
            </a:pPr>
            <a:r>
              <a:rPr lang="pt-BR" sz="1000" dirty="0" err="1">
                <a:solidFill>
                  <a:srgbClr val="1B2A4A"/>
                </a:solidFill>
                <a:latin typeface="Courier New" pitchFamily="34" charset="0"/>
                <a:cs typeface="Courier New" pitchFamily="34" charset="-120"/>
              </a:rPr>
              <a:t>public</a:t>
            </a:r>
            <a:r>
              <a:rPr lang="pt-BR" sz="1000" dirty="0">
                <a:solidFill>
                  <a:srgbClr val="1B2A4A"/>
                </a:solidFill>
                <a:latin typeface="Courier New" pitchFamily="34" charset="0"/>
                <a:cs typeface="Courier New" pitchFamily="34" charset="-120"/>
              </a:rPr>
              <a:t> </a:t>
            </a:r>
            <a:r>
              <a:rPr lang="pt-BR" sz="1000" dirty="0" err="1">
                <a:solidFill>
                  <a:srgbClr val="1B2A4A"/>
                </a:solidFill>
                <a:latin typeface="Courier New" pitchFamily="34" charset="0"/>
                <a:cs typeface="Courier New" pitchFamily="34" charset="-120"/>
              </a:rPr>
              <a:t>BigDecimal</a:t>
            </a:r>
            <a:r>
              <a:rPr lang="pt-BR" sz="1000" dirty="0">
                <a:solidFill>
                  <a:srgbClr val="1B2A4A"/>
                </a:solidFill>
                <a:latin typeface="Courier New" pitchFamily="34" charset="0"/>
                <a:cs typeface="Courier New" pitchFamily="34" charset="-120"/>
              </a:rPr>
              <a:t> </a:t>
            </a:r>
            <a:r>
              <a:rPr lang="pt-BR" sz="1000" dirty="0" err="1">
                <a:solidFill>
                  <a:srgbClr val="1B2A4A"/>
                </a:solidFill>
                <a:latin typeface="Courier New" pitchFamily="34" charset="0"/>
                <a:cs typeface="Courier New" pitchFamily="34" charset="-120"/>
              </a:rPr>
              <a:t>calcularFrete</a:t>
            </a:r>
            <a:r>
              <a:rPr lang="pt-BR" sz="1000" dirty="0">
                <a:solidFill>
                  <a:srgbClr val="1B2A4A"/>
                </a:solidFill>
                <a:latin typeface="Courier New" pitchFamily="34" charset="0"/>
                <a:cs typeface="Courier New" pitchFamily="34" charset="-120"/>
              </a:rPr>
              <a:t>(Pedido p) {</a:t>
            </a:r>
          </a:p>
          <a:p>
            <a:pPr>
              <a:lnSpc>
                <a:spcPct val="118000"/>
              </a:lnSpc>
            </a:pPr>
            <a:r>
              <a:rPr lang="pt-BR" sz="1000" dirty="0">
                <a:solidFill>
                  <a:srgbClr val="1B2A4A"/>
                </a:solidFill>
                <a:latin typeface="Courier New" pitchFamily="34" charset="0"/>
                <a:cs typeface="Courier New" pitchFamily="34" charset="-120"/>
              </a:rPr>
              <a:t>  </a:t>
            </a:r>
            <a:r>
              <a:rPr lang="pt-BR" sz="1000" dirty="0" err="1">
                <a:solidFill>
                  <a:srgbClr val="1B2A4A"/>
                </a:solidFill>
                <a:latin typeface="Courier New" pitchFamily="34" charset="0"/>
                <a:cs typeface="Courier New" pitchFamily="34" charset="-120"/>
              </a:rPr>
              <a:t>return</a:t>
            </a:r>
            <a:r>
              <a:rPr lang="pt-BR" sz="1000" dirty="0">
                <a:solidFill>
                  <a:srgbClr val="1B2A4A"/>
                </a:solidFill>
                <a:latin typeface="Courier New" pitchFamily="34" charset="0"/>
                <a:cs typeface="Courier New" pitchFamily="34" charset="-120"/>
              </a:rPr>
              <a:t> </a:t>
            </a:r>
            <a:r>
              <a:rPr lang="pt-BR" sz="1000" dirty="0" err="1">
                <a:solidFill>
                  <a:srgbClr val="1B2A4A"/>
                </a:solidFill>
                <a:latin typeface="Courier New" pitchFamily="34" charset="0"/>
                <a:cs typeface="Courier New" pitchFamily="34" charset="-120"/>
              </a:rPr>
              <a:t>tabelaDeFrete.consultar</a:t>
            </a:r>
            <a:r>
              <a:rPr lang="pt-BR" sz="1000" dirty="0">
                <a:solidFill>
                  <a:srgbClr val="1B2A4A"/>
                </a:solidFill>
                <a:latin typeface="Courier New" pitchFamily="34" charset="0"/>
                <a:cs typeface="Courier New" pitchFamily="34" charset="-120"/>
              </a:rPr>
              <a:t>(</a:t>
            </a:r>
          </a:p>
          <a:p>
            <a:pPr>
              <a:lnSpc>
                <a:spcPct val="118000"/>
              </a:lnSpc>
            </a:pPr>
            <a:r>
              <a:rPr lang="pt-BR" sz="1000" dirty="0">
                <a:solidFill>
                  <a:srgbClr val="1B2A4A"/>
                </a:solidFill>
                <a:latin typeface="Courier New" pitchFamily="34" charset="0"/>
                <a:cs typeface="Courier New" pitchFamily="34" charset="-120"/>
              </a:rPr>
              <a:t>      </a:t>
            </a:r>
            <a:r>
              <a:rPr lang="pt-BR" sz="1000" dirty="0" err="1">
                <a:solidFill>
                  <a:srgbClr val="1B2A4A"/>
                </a:solidFill>
                <a:latin typeface="Courier New" pitchFamily="34" charset="0"/>
                <a:cs typeface="Courier New" pitchFamily="34" charset="-120"/>
              </a:rPr>
              <a:t>p.getCepEntrega</a:t>
            </a:r>
            <a:r>
              <a:rPr lang="pt-BR" sz="1000" dirty="0">
                <a:solidFill>
                  <a:srgbClr val="1B2A4A"/>
                </a:solidFill>
                <a:latin typeface="Courier New" pitchFamily="34" charset="0"/>
                <a:cs typeface="Courier New" pitchFamily="34" charset="-120"/>
              </a:rPr>
              <a:t>(), </a:t>
            </a:r>
            <a:r>
              <a:rPr lang="pt-BR" sz="1000" dirty="0" err="1">
                <a:solidFill>
                  <a:srgbClr val="1B2A4A"/>
                </a:solidFill>
                <a:latin typeface="Courier New" pitchFamily="34" charset="0"/>
                <a:cs typeface="Courier New" pitchFamily="34" charset="-120"/>
              </a:rPr>
              <a:t>p.getPeso</a:t>
            </a:r>
            <a:r>
              <a:rPr lang="pt-BR" sz="1000" dirty="0">
                <a:solidFill>
                  <a:srgbClr val="1B2A4A"/>
                </a:solidFill>
                <a:latin typeface="Courier New" pitchFamily="34" charset="0"/>
                <a:cs typeface="Courier New" pitchFamily="34" charset="-120"/>
              </a:rPr>
              <a:t>());</a:t>
            </a:r>
          </a:p>
          <a:p>
            <a:pPr>
              <a:lnSpc>
                <a:spcPct val="118000"/>
              </a:lnSpc>
            </a:pPr>
            <a:r>
              <a:rPr lang="pt-BR" sz="1000" dirty="0">
                <a:solidFill>
                  <a:srgbClr val="1B2A4A"/>
                </a:solidFill>
                <a:latin typeface="Courier New" pitchFamily="34" charset="0"/>
                <a:cs typeface="Courier New" pitchFamily="34" charset="-120"/>
              </a:rPr>
              <a:t>}</a:t>
            </a:r>
          </a:p>
        </p:txBody>
      </p:sp>
      <p:sp>
        <p:nvSpPr>
          <p:cNvPr id="11" name="Text 9"/>
          <p:cNvSpPr/>
          <p:nvPr/>
        </p:nvSpPr>
        <p:spPr>
          <a:xfrm>
            <a:off x="502920" y="2203323"/>
            <a:ext cx="11689080" cy="310896"/>
          </a:xfrm>
          <a:prstGeom prst="rect">
            <a:avLst/>
          </a:prstGeom>
          <a:noFill/>
          <a:ln/>
        </p:spPr>
        <p:txBody>
          <a:bodyPr wrap="square" lIns="0" tIns="0" rIns="0" bIns="0" rtlCol="0" anchor="ctr"/>
          <a:lstStyle/>
          <a:p>
            <a:pPr marL="0" indent="0">
              <a:lnSpc>
                <a:spcPct val="105000"/>
              </a:lnSpc>
              <a:buNone/>
            </a:pPr>
            <a:r>
              <a:rPr lang="pt-BR" sz="1000" b="1" noProof="0" dirty="0">
                <a:solidFill>
                  <a:srgbClr val="6B7280"/>
                </a:solidFill>
                <a:latin typeface="Calibri" pitchFamily="34" charset="0"/>
                <a:ea typeface="Calibri" pitchFamily="34" charset="-122"/>
                <a:cs typeface="Calibri" pitchFamily="34" charset="-120"/>
              </a:rPr>
              <a:t>Interpretação</a:t>
            </a:r>
            <a:r>
              <a:rPr lang="pt-BR" sz="1000" i="1" noProof="0" dirty="0">
                <a:solidFill>
                  <a:srgbClr val="6B7280"/>
                </a:solidFill>
                <a:latin typeface="Calibri" pitchFamily="34" charset="0"/>
                <a:ea typeface="Calibri" pitchFamily="34" charset="-122"/>
                <a:cs typeface="Calibri" pitchFamily="34" charset="-120"/>
              </a:rPr>
              <a:t>: a hierarquia não é errada por definição — é prematura quando existe apenas um comportamento e nenhuma variação real. Surgindo novas estratégias, o código poderá ser refatorado com evidências concretas.</a:t>
            </a:r>
            <a:endParaRPr lang="pt-BR" sz="1000" noProof="0" dirty="0"/>
          </a:p>
        </p:txBody>
      </p:sp>
      <p:sp>
        <p:nvSpPr>
          <p:cNvPr id="12" name="Shape 10"/>
          <p:cNvSpPr/>
          <p:nvPr/>
        </p:nvSpPr>
        <p:spPr>
          <a:xfrm>
            <a:off x="502920" y="2637663"/>
            <a:ext cx="118872" cy="118872"/>
          </a:xfrm>
          <a:prstGeom prst="rect">
            <a:avLst/>
          </a:prstGeom>
          <a:solidFill>
            <a:srgbClr val="C9A227"/>
          </a:solidFill>
          <a:ln/>
        </p:spPr>
        <p:txBody>
          <a:bodyPr/>
          <a:lstStyle/>
          <a:p>
            <a:endParaRPr lang="pt-BR" noProof="0" dirty="0"/>
          </a:p>
        </p:txBody>
      </p:sp>
      <p:sp>
        <p:nvSpPr>
          <p:cNvPr id="13" name="Text 11"/>
          <p:cNvSpPr/>
          <p:nvPr/>
        </p:nvSpPr>
        <p:spPr>
          <a:xfrm>
            <a:off x="722376" y="2569083"/>
            <a:ext cx="1093622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EXEMPLO 2 — INTENÇÃO EM VEZ DE COMANDO GENÉRICO</a:t>
            </a:r>
            <a:endParaRPr lang="pt-BR" sz="1250" noProof="0" dirty="0"/>
          </a:p>
        </p:txBody>
      </p:sp>
      <p:sp>
        <p:nvSpPr>
          <p:cNvPr id="14" name="Text 12"/>
          <p:cNvSpPr/>
          <p:nvPr/>
        </p:nvSpPr>
        <p:spPr>
          <a:xfrm>
            <a:off x="502920" y="2842260"/>
            <a:ext cx="5394960" cy="182880"/>
          </a:xfrm>
          <a:prstGeom prst="rect">
            <a:avLst/>
          </a:prstGeom>
          <a:noFill/>
          <a:ln/>
        </p:spPr>
        <p:txBody>
          <a:bodyPr wrap="square" lIns="0" tIns="0" rIns="0" bIns="0" rtlCol="0" anchor="ctr"/>
          <a:lstStyle/>
          <a:p>
            <a:pPr marL="0" indent="0">
              <a:buNone/>
            </a:pPr>
            <a:r>
              <a:rPr lang="pt-BR" sz="900" b="1" noProof="0" dirty="0">
                <a:solidFill>
                  <a:srgbClr val="1B2A4A"/>
                </a:solidFill>
                <a:latin typeface="Calibri" pitchFamily="34" charset="0"/>
                <a:ea typeface="Calibri" pitchFamily="34" charset="-122"/>
                <a:cs typeface="Calibri" pitchFamily="34" charset="-120"/>
              </a:rPr>
              <a:t>Antes</a:t>
            </a:r>
            <a:endParaRPr lang="pt-BR" sz="900" noProof="0" dirty="0"/>
          </a:p>
        </p:txBody>
      </p:sp>
      <p:sp>
        <p:nvSpPr>
          <p:cNvPr id="15" name="Shape 13"/>
          <p:cNvSpPr/>
          <p:nvPr/>
        </p:nvSpPr>
        <p:spPr>
          <a:xfrm>
            <a:off x="502920" y="3043428"/>
            <a:ext cx="5394960" cy="384048"/>
          </a:xfrm>
          <a:prstGeom prst="roundRect">
            <a:avLst>
              <a:gd name="adj" fmla="val 10714"/>
            </a:avLst>
          </a:prstGeom>
          <a:solidFill>
            <a:srgbClr val="F2F2F3"/>
          </a:solidFill>
          <a:ln w="12700">
            <a:solidFill>
              <a:srgbClr val="D7DAE0"/>
            </a:solidFill>
            <a:prstDash val="solid"/>
          </a:ln>
        </p:spPr>
        <p:txBody>
          <a:bodyPr/>
          <a:lstStyle/>
          <a:p>
            <a:endParaRPr lang="pt-BR" noProof="0" dirty="0"/>
          </a:p>
        </p:txBody>
      </p:sp>
      <p:sp>
        <p:nvSpPr>
          <p:cNvPr id="16" name="Text 14"/>
          <p:cNvSpPr/>
          <p:nvPr/>
        </p:nvSpPr>
        <p:spPr>
          <a:xfrm>
            <a:off x="685800" y="3116580"/>
            <a:ext cx="5029200" cy="237744"/>
          </a:xfrm>
          <a:prstGeom prst="rect">
            <a:avLst/>
          </a:prstGeom>
          <a:noFill/>
          <a:ln/>
        </p:spPr>
        <p:txBody>
          <a:bodyPr wrap="square" lIns="0" tIns="0" rIns="0" bIns="0" rtlCol="0" anchor="ctr"/>
          <a:lstStyle/>
          <a:p>
            <a:pPr marL="0" indent="0">
              <a:lnSpc>
                <a:spcPct val="118000"/>
              </a:lnSpc>
              <a:buNone/>
            </a:pPr>
            <a:r>
              <a:rPr lang="pt-BR" sz="960" noProof="0" dirty="0">
                <a:solidFill>
                  <a:srgbClr val="1B2A4A"/>
                </a:solidFill>
                <a:latin typeface="Courier New" pitchFamily="34" charset="0"/>
                <a:ea typeface="Courier New" pitchFamily="34" charset="-122"/>
                <a:cs typeface="Courier New" pitchFamily="34" charset="-120"/>
              </a:rPr>
              <a:t>processar(valor, "DESCONTAR", 10, </a:t>
            </a:r>
            <a:r>
              <a:rPr lang="pt-BR" sz="960" noProof="0" dirty="0" err="1">
                <a:solidFill>
                  <a:srgbClr val="1B2A4A"/>
                </a:solidFill>
                <a:latin typeface="Courier New" pitchFamily="34" charset="0"/>
                <a:ea typeface="Courier New" pitchFamily="34" charset="-122"/>
                <a:cs typeface="Courier New" pitchFamily="34" charset="-120"/>
              </a:rPr>
              <a:t>true</a:t>
            </a:r>
            <a:r>
              <a:rPr lang="pt-BR" sz="960" noProof="0" dirty="0">
                <a:solidFill>
                  <a:srgbClr val="1B2A4A"/>
                </a:solidFill>
                <a:latin typeface="Courier New" pitchFamily="34" charset="0"/>
                <a:ea typeface="Courier New" pitchFamily="34" charset="-122"/>
                <a:cs typeface="Courier New" pitchFamily="34" charset="-120"/>
              </a:rPr>
              <a:t>);</a:t>
            </a:r>
            <a:endParaRPr lang="pt-BR" sz="960" noProof="0" dirty="0"/>
          </a:p>
        </p:txBody>
      </p:sp>
      <p:sp>
        <p:nvSpPr>
          <p:cNvPr id="17" name="Text 15"/>
          <p:cNvSpPr/>
          <p:nvPr/>
        </p:nvSpPr>
        <p:spPr>
          <a:xfrm>
            <a:off x="6172200" y="2842260"/>
            <a:ext cx="5394960" cy="182880"/>
          </a:xfrm>
          <a:prstGeom prst="rect">
            <a:avLst/>
          </a:prstGeom>
          <a:noFill/>
          <a:ln/>
        </p:spPr>
        <p:txBody>
          <a:bodyPr wrap="square" lIns="0" tIns="0" rIns="0" bIns="0" rtlCol="0" anchor="ctr"/>
          <a:lstStyle/>
          <a:p>
            <a:pPr marL="0" indent="0">
              <a:buNone/>
            </a:pPr>
            <a:r>
              <a:rPr lang="pt-BR" sz="900" b="1" noProof="0" dirty="0">
                <a:solidFill>
                  <a:srgbClr val="1B2A4A"/>
                </a:solidFill>
                <a:latin typeface="Calibri" pitchFamily="34" charset="0"/>
                <a:ea typeface="Calibri" pitchFamily="34" charset="-122"/>
                <a:cs typeface="Calibri" pitchFamily="34" charset="-120"/>
              </a:rPr>
              <a:t>Depois</a:t>
            </a:r>
            <a:endParaRPr lang="pt-BR" sz="900" noProof="0" dirty="0"/>
          </a:p>
        </p:txBody>
      </p:sp>
      <p:sp>
        <p:nvSpPr>
          <p:cNvPr id="18" name="Shape 16"/>
          <p:cNvSpPr/>
          <p:nvPr/>
        </p:nvSpPr>
        <p:spPr>
          <a:xfrm>
            <a:off x="6172200" y="3043428"/>
            <a:ext cx="5394960" cy="384048"/>
          </a:xfrm>
          <a:prstGeom prst="roundRect">
            <a:avLst>
              <a:gd name="adj" fmla="val 10714"/>
            </a:avLst>
          </a:prstGeom>
          <a:solidFill>
            <a:srgbClr val="F2F2F3"/>
          </a:solidFill>
          <a:ln w="12700">
            <a:solidFill>
              <a:srgbClr val="D7DAE0"/>
            </a:solidFill>
            <a:prstDash val="solid"/>
          </a:ln>
        </p:spPr>
        <p:txBody>
          <a:bodyPr/>
          <a:lstStyle/>
          <a:p>
            <a:endParaRPr lang="pt-BR" noProof="0" dirty="0"/>
          </a:p>
        </p:txBody>
      </p:sp>
      <p:sp>
        <p:nvSpPr>
          <p:cNvPr id="19" name="Text 17"/>
          <p:cNvSpPr/>
          <p:nvPr/>
        </p:nvSpPr>
        <p:spPr>
          <a:xfrm>
            <a:off x="6355080" y="3116580"/>
            <a:ext cx="5029200" cy="237744"/>
          </a:xfrm>
          <a:prstGeom prst="rect">
            <a:avLst/>
          </a:prstGeom>
          <a:noFill/>
          <a:ln/>
        </p:spPr>
        <p:txBody>
          <a:bodyPr wrap="square" lIns="0" tIns="0" rIns="0" bIns="0" rtlCol="0" anchor="ctr"/>
          <a:lstStyle/>
          <a:p>
            <a:pPr marL="0" indent="0">
              <a:lnSpc>
                <a:spcPct val="118000"/>
              </a:lnSpc>
              <a:buNone/>
            </a:pPr>
            <a:r>
              <a:rPr lang="pt-BR" sz="960" noProof="0" dirty="0" err="1">
                <a:solidFill>
                  <a:srgbClr val="1B2A4A"/>
                </a:solidFill>
                <a:latin typeface="Courier New" pitchFamily="34" charset="0"/>
                <a:ea typeface="Courier New" pitchFamily="34" charset="-122"/>
                <a:cs typeface="Courier New" pitchFamily="34" charset="-120"/>
              </a:rPr>
              <a:t>aplicarDescontoPercentual</a:t>
            </a:r>
            <a:r>
              <a:rPr lang="pt-BR" sz="960" noProof="0" dirty="0">
                <a:solidFill>
                  <a:srgbClr val="1B2A4A"/>
                </a:solidFill>
                <a:latin typeface="Courier New" pitchFamily="34" charset="0"/>
                <a:ea typeface="Courier New" pitchFamily="34" charset="-122"/>
                <a:cs typeface="Courier New" pitchFamily="34" charset="-120"/>
              </a:rPr>
              <a:t>(valor, 10);</a:t>
            </a:r>
            <a:endParaRPr lang="pt-BR" sz="960" noProof="0" dirty="0"/>
          </a:p>
        </p:txBody>
      </p:sp>
      <p:sp>
        <p:nvSpPr>
          <p:cNvPr id="20" name="Text 18"/>
          <p:cNvSpPr/>
          <p:nvPr/>
        </p:nvSpPr>
        <p:spPr>
          <a:xfrm>
            <a:off x="502920" y="3473577"/>
            <a:ext cx="11064240" cy="237744"/>
          </a:xfrm>
          <a:prstGeom prst="rect">
            <a:avLst/>
          </a:prstGeom>
          <a:noFill/>
          <a:ln/>
        </p:spPr>
        <p:txBody>
          <a:bodyPr wrap="square" lIns="0" tIns="0" rIns="0" bIns="0" rtlCol="0" anchor="ctr"/>
          <a:lstStyle/>
          <a:p>
            <a:pPr marL="0" indent="0">
              <a:buNone/>
            </a:pPr>
            <a:r>
              <a:rPr lang="pt-BR" sz="1000" b="1" dirty="0">
                <a:solidFill>
                  <a:srgbClr val="6B7280"/>
                </a:solidFill>
                <a:latin typeface="Calibri" pitchFamily="34" charset="0"/>
                <a:ea typeface="Calibri" pitchFamily="34" charset="-122"/>
                <a:cs typeface="Calibri" pitchFamily="34" charset="-120"/>
              </a:rPr>
              <a:t>Leitura</a:t>
            </a:r>
            <a:r>
              <a:rPr lang="pt-BR" sz="880" b="1" noProof="0" dirty="0">
                <a:solidFill>
                  <a:srgbClr val="6B7280"/>
                </a:solidFill>
                <a:latin typeface="Calibri" pitchFamily="34" charset="0"/>
                <a:ea typeface="Calibri" pitchFamily="34" charset="-122"/>
                <a:cs typeface="Calibri" pitchFamily="34" charset="-120"/>
              </a:rPr>
              <a:t> </a:t>
            </a:r>
            <a:r>
              <a:rPr lang="pt-BR" sz="1000" b="1" dirty="0">
                <a:solidFill>
                  <a:srgbClr val="6B7280"/>
                </a:solidFill>
                <a:latin typeface="Calibri" pitchFamily="34" charset="0"/>
                <a:ea typeface="Calibri" pitchFamily="34" charset="-122"/>
                <a:cs typeface="Calibri" pitchFamily="34" charset="-120"/>
              </a:rPr>
              <a:t>didática: </a:t>
            </a:r>
            <a:r>
              <a:rPr lang="pt-BR" sz="1000" i="1" dirty="0">
                <a:solidFill>
                  <a:srgbClr val="6B7280"/>
                </a:solidFill>
                <a:latin typeface="Calibri" pitchFamily="34" charset="0"/>
                <a:ea typeface="Calibri" pitchFamily="34" charset="-122"/>
                <a:cs typeface="Calibri" pitchFamily="34" charset="-120"/>
              </a:rPr>
              <a:t>o segundo código reduz parâmetros de controle e torna a intenção explícita.</a:t>
            </a:r>
          </a:p>
        </p:txBody>
      </p:sp>
      <p:sp>
        <p:nvSpPr>
          <p:cNvPr id="21" name="Shape 19"/>
          <p:cNvSpPr/>
          <p:nvPr/>
        </p:nvSpPr>
        <p:spPr>
          <a:xfrm>
            <a:off x="502920" y="3874008"/>
            <a:ext cx="118872" cy="118872"/>
          </a:xfrm>
          <a:prstGeom prst="rect">
            <a:avLst/>
          </a:prstGeom>
          <a:solidFill>
            <a:srgbClr val="C9A227"/>
          </a:solidFill>
          <a:ln/>
        </p:spPr>
        <p:txBody>
          <a:bodyPr/>
          <a:lstStyle/>
          <a:p>
            <a:endParaRPr lang="pt-BR" noProof="0" dirty="0"/>
          </a:p>
        </p:txBody>
      </p:sp>
      <p:sp>
        <p:nvSpPr>
          <p:cNvPr id="22" name="Text 20"/>
          <p:cNvSpPr/>
          <p:nvPr/>
        </p:nvSpPr>
        <p:spPr>
          <a:xfrm>
            <a:off x="722376" y="3805428"/>
            <a:ext cx="1093622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EXEMPLO 3 — ENUM PARA UM CONJUNTO FECHADO DE ESTADOS</a:t>
            </a:r>
            <a:endParaRPr lang="pt-BR" sz="1250" noProof="0" dirty="0"/>
          </a:p>
        </p:txBody>
      </p:sp>
      <p:sp>
        <p:nvSpPr>
          <p:cNvPr id="23" name="Text 21"/>
          <p:cNvSpPr/>
          <p:nvPr/>
        </p:nvSpPr>
        <p:spPr>
          <a:xfrm>
            <a:off x="502920" y="4107180"/>
            <a:ext cx="3108960" cy="182880"/>
          </a:xfrm>
          <a:prstGeom prst="rect">
            <a:avLst/>
          </a:prstGeom>
          <a:noFill/>
          <a:ln/>
        </p:spPr>
        <p:txBody>
          <a:bodyPr wrap="square" lIns="0" tIns="0" rIns="0" bIns="0" rtlCol="0" anchor="ctr"/>
          <a:lstStyle/>
          <a:p>
            <a:pPr marL="0" indent="0">
              <a:buNone/>
            </a:pPr>
            <a:r>
              <a:rPr lang="pt-BR" sz="900" b="1" noProof="0" dirty="0">
                <a:solidFill>
                  <a:srgbClr val="1B2A4A"/>
                </a:solidFill>
                <a:latin typeface="Calibri" pitchFamily="34" charset="0"/>
                <a:ea typeface="Calibri" pitchFamily="34" charset="-122"/>
                <a:cs typeface="Calibri" pitchFamily="34" charset="-120"/>
              </a:rPr>
              <a:t>Antes</a:t>
            </a:r>
            <a:endParaRPr lang="pt-BR" sz="900" noProof="0" dirty="0"/>
          </a:p>
        </p:txBody>
      </p:sp>
      <p:sp>
        <p:nvSpPr>
          <p:cNvPr id="24" name="Shape 22"/>
          <p:cNvSpPr/>
          <p:nvPr/>
        </p:nvSpPr>
        <p:spPr>
          <a:xfrm>
            <a:off x="502920" y="4308348"/>
            <a:ext cx="2411730" cy="365760"/>
          </a:xfrm>
          <a:prstGeom prst="roundRect">
            <a:avLst>
              <a:gd name="adj" fmla="val 11250"/>
            </a:avLst>
          </a:prstGeom>
          <a:solidFill>
            <a:srgbClr val="F2F2F3"/>
          </a:solidFill>
          <a:ln w="12700">
            <a:solidFill>
              <a:srgbClr val="D7DAE0"/>
            </a:solidFill>
            <a:prstDash val="solid"/>
          </a:ln>
        </p:spPr>
        <p:txBody>
          <a:bodyPr/>
          <a:lstStyle/>
          <a:p>
            <a:endParaRPr lang="pt-BR" noProof="0" dirty="0"/>
          </a:p>
        </p:txBody>
      </p:sp>
      <p:sp>
        <p:nvSpPr>
          <p:cNvPr id="25" name="Text 23"/>
          <p:cNvSpPr/>
          <p:nvPr/>
        </p:nvSpPr>
        <p:spPr>
          <a:xfrm>
            <a:off x="685800" y="4381500"/>
            <a:ext cx="2743200" cy="219456"/>
          </a:xfrm>
          <a:prstGeom prst="rect">
            <a:avLst/>
          </a:prstGeom>
          <a:noFill/>
          <a:ln/>
        </p:spPr>
        <p:txBody>
          <a:bodyPr wrap="square" lIns="0" tIns="0" rIns="0" bIns="0" rtlCol="0" anchor="ctr"/>
          <a:lstStyle/>
          <a:p>
            <a:pPr marL="0" indent="0">
              <a:lnSpc>
                <a:spcPct val="118000"/>
              </a:lnSpc>
              <a:buNone/>
            </a:pPr>
            <a:r>
              <a:rPr lang="pt-BR" sz="800" noProof="0" dirty="0" err="1">
                <a:solidFill>
                  <a:srgbClr val="1B2A4A"/>
                </a:solidFill>
                <a:latin typeface="Courier New" pitchFamily="34" charset="0"/>
                <a:ea typeface="Courier New" pitchFamily="34" charset="-122"/>
                <a:cs typeface="Courier New" pitchFamily="34" charset="-120"/>
              </a:rPr>
              <a:t>private</a:t>
            </a:r>
            <a:r>
              <a:rPr lang="pt-BR" sz="800" noProof="0" dirty="0">
                <a:solidFill>
                  <a:srgbClr val="1B2A4A"/>
                </a:solidFill>
                <a:latin typeface="Courier New" pitchFamily="34" charset="0"/>
                <a:ea typeface="Courier New" pitchFamily="34" charset="-122"/>
                <a:cs typeface="Courier New" pitchFamily="34" charset="-120"/>
              </a:rPr>
              <a:t> </a:t>
            </a:r>
            <a:r>
              <a:rPr lang="pt-BR" sz="800" noProof="0" dirty="0" err="1">
                <a:solidFill>
                  <a:srgbClr val="1B2A4A"/>
                </a:solidFill>
                <a:latin typeface="Courier New" pitchFamily="34" charset="0"/>
                <a:ea typeface="Courier New" pitchFamily="34" charset="-122"/>
                <a:cs typeface="Courier New" pitchFamily="34" charset="-120"/>
              </a:rPr>
              <a:t>String</a:t>
            </a:r>
            <a:r>
              <a:rPr lang="pt-BR" sz="800" noProof="0" dirty="0">
                <a:solidFill>
                  <a:srgbClr val="1B2A4A"/>
                </a:solidFill>
                <a:latin typeface="Courier New" pitchFamily="34" charset="0"/>
                <a:ea typeface="Courier New" pitchFamily="34" charset="-122"/>
                <a:cs typeface="Courier New" pitchFamily="34" charset="-120"/>
              </a:rPr>
              <a:t> status = "PENDENTE";</a:t>
            </a:r>
            <a:endParaRPr lang="pt-BR" sz="800" noProof="0" dirty="0"/>
          </a:p>
        </p:txBody>
      </p:sp>
      <p:sp>
        <p:nvSpPr>
          <p:cNvPr id="26" name="Text 24"/>
          <p:cNvSpPr/>
          <p:nvPr/>
        </p:nvSpPr>
        <p:spPr>
          <a:xfrm>
            <a:off x="3118485" y="4107180"/>
            <a:ext cx="3566160" cy="182880"/>
          </a:xfrm>
          <a:prstGeom prst="rect">
            <a:avLst/>
          </a:prstGeom>
          <a:noFill/>
          <a:ln/>
        </p:spPr>
        <p:txBody>
          <a:bodyPr wrap="square" lIns="0" tIns="0" rIns="0" bIns="0" rtlCol="0" anchor="ctr"/>
          <a:lstStyle/>
          <a:p>
            <a:pPr marL="0" indent="0">
              <a:buNone/>
            </a:pPr>
            <a:r>
              <a:rPr lang="pt-BR" sz="900" b="1" noProof="0" dirty="0">
                <a:solidFill>
                  <a:srgbClr val="1B2A4A"/>
                </a:solidFill>
                <a:latin typeface="Calibri" pitchFamily="34" charset="0"/>
                <a:ea typeface="Calibri" pitchFamily="34" charset="-122"/>
                <a:cs typeface="Calibri" pitchFamily="34" charset="-120"/>
              </a:rPr>
              <a:t>Depois</a:t>
            </a:r>
            <a:endParaRPr lang="pt-BR" sz="900" noProof="0" dirty="0"/>
          </a:p>
        </p:txBody>
      </p:sp>
      <p:sp>
        <p:nvSpPr>
          <p:cNvPr id="27" name="Shape 25"/>
          <p:cNvSpPr/>
          <p:nvPr/>
        </p:nvSpPr>
        <p:spPr>
          <a:xfrm>
            <a:off x="3118485" y="4308348"/>
            <a:ext cx="2103120" cy="658368"/>
          </a:xfrm>
          <a:prstGeom prst="roundRect">
            <a:avLst>
              <a:gd name="adj" fmla="val 6250"/>
            </a:avLst>
          </a:prstGeom>
          <a:solidFill>
            <a:srgbClr val="F2F2F3"/>
          </a:solidFill>
          <a:ln w="12700">
            <a:solidFill>
              <a:srgbClr val="D7DAE0"/>
            </a:solidFill>
            <a:prstDash val="solid"/>
          </a:ln>
        </p:spPr>
        <p:txBody>
          <a:bodyPr/>
          <a:lstStyle/>
          <a:p>
            <a:endParaRPr lang="pt-BR" noProof="0" dirty="0"/>
          </a:p>
        </p:txBody>
      </p:sp>
      <p:sp>
        <p:nvSpPr>
          <p:cNvPr id="28" name="Text 26"/>
          <p:cNvSpPr/>
          <p:nvPr/>
        </p:nvSpPr>
        <p:spPr>
          <a:xfrm>
            <a:off x="3301365" y="4381500"/>
            <a:ext cx="1737360" cy="512064"/>
          </a:xfrm>
          <a:prstGeom prst="rect">
            <a:avLst/>
          </a:prstGeom>
          <a:noFill/>
          <a:ln/>
        </p:spPr>
        <p:txBody>
          <a:bodyPr wrap="square" lIns="0" tIns="0" rIns="0" bIns="0" rtlCol="0" anchor="ctr"/>
          <a:lstStyle/>
          <a:p>
            <a:pPr marL="0" indent="0">
              <a:lnSpc>
                <a:spcPct val="118000"/>
              </a:lnSpc>
              <a:buNone/>
            </a:pPr>
            <a:r>
              <a:rPr lang="pt-BR" sz="800" noProof="0" dirty="0" err="1">
                <a:solidFill>
                  <a:srgbClr val="1B2A4A"/>
                </a:solidFill>
                <a:latin typeface="Courier New" pitchFamily="34" charset="0"/>
                <a:ea typeface="Courier New" pitchFamily="34" charset="-122"/>
                <a:cs typeface="Courier New" pitchFamily="34" charset="-120"/>
              </a:rPr>
              <a:t>public</a:t>
            </a:r>
            <a:r>
              <a:rPr lang="pt-BR" sz="800" noProof="0" dirty="0">
                <a:solidFill>
                  <a:srgbClr val="1B2A4A"/>
                </a:solidFill>
                <a:latin typeface="Courier New" pitchFamily="34" charset="0"/>
                <a:ea typeface="Courier New" pitchFamily="34" charset="-122"/>
                <a:cs typeface="Courier New" pitchFamily="34" charset="-120"/>
              </a:rPr>
              <a:t> enum </a:t>
            </a:r>
            <a:r>
              <a:rPr lang="pt-BR" sz="800" noProof="0" dirty="0" err="1">
                <a:solidFill>
                  <a:srgbClr val="1B2A4A"/>
                </a:solidFill>
                <a:latin typeface="Courier New" pitchFamily="34" charset="0"/>
                <a:ea typeface="Courier New" pitchFamily="34" charset="-122"/>
                <a:cs typeface="Courier New" pitchFamily="34" charset="-120"/>
              </a:rPr>
              <a:t>StatusPedido</a:t>
            </a:r>
            <a:r>
              <a:rPr lang="pt-BR" sz="800" noProof="0" dirty="0">
                <a:solidFill>
                  <a:srgbClr val="1B2A4A"/>
                </a:solidFill>
                <a:latin typeface="Courier New" pitchFamily="34" charset="0"/>
                <a:ea typeface="Courier New" pitchFamily="34" charset="-122"/>
                <a:cs typeface="Courier New" pitchFamily="34" charset="-120"/>
              </a:rPr>
              <a:t> {</a:t>
            </a:r>
            <a:endParaRPr lang="pt-BR" sz="800" noProof="0" dirty="0"/>
          </a:p>
          <a:p>
            <a:pPr marL="0" indent="0">
              <a:lnSpc>
                <a:spcPct val="118000"/>
              </a:lnSpc>
              <a:buNone/>
            </a:pPr>
            <a:r>
              <a:rPr lang="pt-BR" sz="800" noProof="0" dirty="0">
                <a:solidFill>
                  <a:srgbClr val="1B2A4A"/>
                </a:solidFill>
                <a:latin typeface="Courier New" pitchFamily="34" charset="0"/>
                <a:ea typeface="Courier New" pitchFamily="34" charset="-122"/>
                <a:cs typeface="Courier New" pitchFamily="34" charset="-120"/>
              </a:rPr>
              <a:t>  PENDENTE, EM_PREPARO,</a:t>
            </a:r>
            <a:endParaRPr lang="pt-BR" sz="800" noProof="0" dirty="0"/>
          </a:p>
          <a:p>
            <a:pPr marL="0" indent="0">
              <a:lnSpc>
                <a:spcPct val="118000"/>
              </a:lnSpc>
              <a:buNone/>
            </a:pPr>
            <a:r>
              <a:rPr lang="pt-BR" sz="800" noProof="0" dirty="0">
                <a:solidFill>
                  <a:srgbClr val="1B2A4A"/>
                </a:solidFill>
                <a:latin typeface="Courier New" pitchFamily="34" charset="0"/>
                <a:ea typeface="Courier New" pitchFamily="34" charset="-122"/>
                <a:cs typeface="Courier New" pitchFamily="34" charset="-120"/>
              </a:rPr>
              <a:t>  CONCLUIDO, CANCELADO</a:t>
            </a:r>
            <a:endParaRPr lang="pt-BR" sz="800" noProof="0" dirty="0"/>
          </a:p>
          <a:p>
            <a:pPr marL="0" indent="0">
              <a:lnSpc>
                <a:spcPct val="118000"/>
              </a:lnSpc>
              <a:buNone/>
            </a:pPr>
            <a:r>
              <a:rPr lang="pt-BR" sz="800" noProof="0" dirty="0">
                <a:solidFill>
                  <a:srgbClr val="1B2A4A"/>
                </a:solidFill>
                <a:latin typeface="Courier New" pitchFamily="34" charset="0"/>
                <a:ea typeface="Courier New" pitchFamily="34" charset="-122"/>
                <a:cs typeface="Courier New" pitchFamily="34" charset="-120"/>
              </a:rPr>
              <a:t>}</a:t>
            </a:r>
            <a:endParaRPr lang="pt-BR" sz="800" noProof="0" dirty="0"/>
          </a:p>
        </p:txBody>
      </p:sp>
      <p:sp>
        <p:nvSpPr>
          <p:cNvPr id="29" name="Text 27"/>
          <p:cNvSpPr/>
          <p:nvPr/>
        </p:nvSpPr>
        <p:spPr>
          <a:xfrm>
            <a:off x="562355" y="5042154"/>
            <a:ext cx="5152645" cy="334518"/>
          </a:xfrm>
          <a:prstGeom prst="rect">
            <a:avLst/>
          </a:prstGeom>
          <a:noFill/>
          <a:ln/>
        </p:spPr>
        <p:txBody>
          <a:bodyPr wrap="square" lIns="0" tIns="0" rIns="0" bIns="0" rtlCol="0" anchor="t"/>
          <a:lstStyle/>
          <a:p>
            <a:pPr marL="0" indent="0">
              <a:lnSpc>
                <a:spcPct val="112000"/>
              </a:lnSpc>
              <a:buNone/>
            </a:pPr>
            <a:r>
              <a:rPr lang="pt-BR" sz="900" b="1" noProof="0" dirty="0">
                <a:solidFill>
                  <a:srgbClr val="1B2A4A"/>
                </a:solidFill>
                <a:latin typeface="Calibri" pitchFamily="34" charset="0"/>
                <a:ea typeface="Calibri" pitchFamily="34" charset="-122"/>
                <a:cs typeface="Calibri" pitchFamily="34" charset="-120"/>
              </a:rPr>
              <a:t>Benefícios: </a:t>
            </a:r>
            <a:r>
              <a:rPr lang="pt-BR" sz="900" noProof="0" dirty="0">
                <a:solidFill>
                  <a:srgbClr val="2B2B2E"/>
                </a:solidFill>
                <a:latin typeface="Calibri" pitchFamily="34" charset="0"/>
                <a:ea typeface="Calibri" pitchFamily="34" charset="-122"/>
                <a:cs typeface="Calibri" pitchFamily="34" charset="-120"/>
              </a:rPr>
              <a:t>valores válidos explícitos, segurança de tipo, autocompletar da IDE e eliminação de </a:t>
            </a:r>
            <a:r>
              <a:rPr lang="pt-BR" sz="900" noProof="0" dirty="0" err="1">
                <a:solidFill>
                  <a:srgbClr val="2B2B2E"/>
                </a:solidFill>
                <a:latin typeface="Calibri" pitchFamily="34" charset="0"/>
                <a:ea typeface="Calibri" pitchFamily="34" charset="-122"/>
                <a:cs typeface="Calibri" pitchFamily="34" charset="-120"/>
              </a:rPr>
              <a:t>magic</a:t>
            </a:r>
            <a:r>
              <a:rPr lang="pt-BR" sz="900" noProof="0" dirty="0">
                <a:solidFill>
                  <a:srgbClr val="2B2B2E"/>
                </a:solidFill>
                <a:latin typeface="Calibri" pitchFamily="34" charset="0"/>
                <a:ea typeface="Calibri" pitchFamily="34" charset="-122"/>
                <a:cs typeface="Calibri" pitchFamily="34" charset="-120"/>
              </a:rPr>
              <a:t> </a:t>
            </a:r>
            <a:r>
              <a:rPr lang="pt-BR" sz="900" noProof="0" dirty="0" err="1">
                <a:solidFill>
                  <a:srgbClr val="2B2B2E"/>
                </a:solidFill>
                <a:latin typeface="Calibri" pitchFamily="34" charset="0"/>
                <a:ea typeface="Calibri" pitchFamily="34" charset="-122"/>
                <a:cs typeface="Calibri" pitchFamily="34" charset="-120"/>
              </a:rPr>
              <a:t>strings</a:t>
            </a:r>
            <a:r>
              <a:rPr lang="pt-BR" sz="900" noProof="0" dirty="0">
                <a:solidFill>
                  <a:srgbClr val="2B2B2E"/>
                </a:solidFill>
                <a:latin typeface="Calibri" pitchFamily="34" charset="0"/>
                <a:ea typeface="Calibri" pitchFamily="34" charset="-122"/>
                <a:cs typeface="Calibri" pitchFamily="34" charset="-120"/>
              </a:rPr>
              <a:t>.</a:t>
            </a:r>
            <a:endParaRPr lang="pt-BR" sz="900" noProof="0" dirty="0"/>
          </a:p>
        </p:txBody>
      </p:sp>
      <p:sp>
        <p:nvSpPr>
          <p:cNvPr id="30" name="Shape 28"/>
          <p:cNvSpPr/>
          <p:nvPr/>
        </p:nvSpPr>
        <p:spPr>
          <a:xfrm>
            <a:off x="6172200" y="3884867"/>
            <a:ext cx="118872" cy="118872"/>
          </a:xfrm>
          <a:prstGeom prst="rect">
            <a:avLst/>
          </a:prstGeom>
          <a:solidFill>
            <a:srgbClr val="C9A227"/>
          </a:solidFill>
          <a:ln/>
        </p:spPr>
        <p:txBody>
          <a:bodyPr/>
          <a:lstStyle/>
          <a:p>
            <a:endParaRPr lang="pt-BR" noProof="0" dirty="0"/>
          </a:p>
        </p:txBody>
      </p:sp>
      <p:sp>
        <p:nvSpPr>
          <p:cNvPr id="31" name="Text 29"/>
          <p:cNvSpPr/>
          <p:nvPr/>
        </p:nvSpPr>
        <p:spPr>
          <a:xfrm>
            <a:off x="6391656" y="3816287"/>
            <a:ext cx="645566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LIMITES E RELAÇÕES COM OUTROS PRINCÍPIOS</a:t>
            </a:r>
            <a:endParaRPr lang="pt-BR" sz="1250" noProof="0" dirty="0"/>
          </a:p>
        </p:txBody>
      </p:sp>
      <p:sp>
        <p:nvSpPr>
          <p:cNvPr id="32" name="Text 30"/>
          <p:cNvSpPr/>
          <p:nvPr/>
        </p:nvSpPr>
        <p:spPr>
          <a:xfrm>
            <a:off x="6172200" y="4081463"/>
            <a:ext cx="6583680" cy="457200"/>
          </a:xfrm>
          <a:prstGeom prst="rect">
            <a:avLst/>
          </a:prstGeom>
          <a:noFill/>
          <a:ln/>
        </p:spPr>
        <p:txBody>
          <a:bodyPr wrap="square" lIns="0" tIns="0" rIns="0" bIns="0" rtlCol="0" anchor="t"/>
          <a:lstStyle/>
          <a:p>
            <a:pPr marL="177800" indent="-177800">
              <a:lnSpc>
                <a:spcPct val="106000"/>
              </a:lnSpc>
              <a:buSzPct val="100000"/>
              <a:buChar char="▪"/>
            </a:pPr>
            <a:r>
              <a:rPr lang="pt-BR" sz="1400" noProof="0" dirty="0">
                <a:solidFill>
                  <a:srgbClr val="2B2B2E"/>
                </a:solidFill>
                <a:latin typeface="Calibri" pitchFamily="34" charset="0"/>
                <a:ea typeface="Calibri" pitchFamily="34" charset="-122"/>
                <a:cs typeface="Calibri" pitchFamily="34" charset="-120"/>
              </a:rPr>
              <a:t>Menos linhas não significam necessariamente menor complexidade</a:t>
            </a:r>
            <a:endParaRPr lang="pt-BR" sz="1400" noProof="0" dirty="0"/>
          </a:p>
          <a:p>
            <a:pPr marL="177800" indent="-177800">
              <a:lnSpc>
                <a:spcPct val="106000"/>
              </a:lnSpc>
              <a:buSzPct val="100000"/>
              <a:buChar char="▪"/>
            </a:pPr>
            <a:r>
              <a:rPr lang="pt-BR" sz="1400" noProof="0" dirty="0">
                <a:solidFill>
                  <a:srgbClr val="2B2B2E"/>
                </a:solidFill>
                <a:latin typeface="Calibri" pitchFamily="34" charset="0"/>
                <a:ea typeface="Calibri" pitchFamily="34" charset="-122"/>
                <a:cs typeface="Calibri" pitchFamily="34" charset="-120"/>
              </a:rPr>
              <a:t>Havendo variação real, uma abstração pode tornar a solução mais simples</a:t>
            </a:r>
            <a:endParaRPr lang="pt-BR" sz="1400" noProof="0" dirty="0"/>
          </a:p>
          <a:p>
            <a:pPr marL="177800" indent="-177800">
              <a:lnSpc>
                <a:spcPct val="106000"/>
              </a:lnSpc>
              <a:buSzPct val="100000"/>
              <a:buChar char="▪"/>
            </a:pPr>
            <a:r>
              <a:rPr lang="pt-BR" sz="1400" noProof="0" dirty="0">
                <a:solidFill>
                  <a:srgbClr val="2B2B2E"/>
                </a:solidFill>
                <a:latin typeface="Calibri" pitchFamily="34" charset="0"/>
                <a:ea typeface="Calibri" pitchFamily="34" charset="-122"/>
                <a:cs typeface="Calibri" pitchFamily="34" charset="-120"/>
              </a:rPr>
              <a:t>Remover validações essenciais produz código simplista, não simples</a:t>
            </a:r>
            <a:endParaRPr lang="pt-BR" sz="1400" noProof="0" dirty="0"/>
          </a:p>
          <a:p>
            <a:pPr marL="177800" indent="-177800">
              <a:lnSpc>
                <a:spcPct val="106000"/>
              </a:lnSpc>
              <a:buSzPct val="100000"/>
              <a:buChar char="▪"/>
            </a:pPr>
            <a:r>
              <a:rPr lang="pt-BR" sz="1400" noProof="0" dirty="0">
                <a:solidFill>
                  <a:srgbClr val="2B2B2E"/>
                </a:solidFill>
                <a:latin typeface="Calibri" pitchFamily="34" charset="0"/>
                <a:ea typeface="Calibri" pitchFamily="34" charset="-122"/>
                <a:cs typeface="Calibri" pitchFamily="34" charset="-120"/>
              </a:rPr>
              <a:t>DRY aplicado de forma agressiva pode criar uma abstração genérica que </a:t>
            </a:r>
          </a:p>
          <a:p>
            <a:pPr>
              <a:lnSpc>
                <a:spcPct val="106000"/>
              </a:lnSpc>
              <a:buSzPct val="100000"/>
            </a:pPr>
            <a:r>
              <a:rPr lang="pt-BR" sz="1400" noProof="0" dirty="0">
                <a:solidFill>
                  <a:srgbClr val="2B2B2E"/>
                </a:solidFill>
                <a:latin typeface="Calibri" pitchFamily="34" charset="0"/>
                <a:ea typeface="Calibri" pitchFamily="34" charset="-122"/>
                <a:cs typeface="Calibri" pitchFamily="34" charset="-120"/>
              </a:rPr>
              <a:t>contraria KISS</a:t>
            </a:r>
            <a:endParaRPr lang="pt-BR" sz="1400" noProof="0" dirty="0"/>
          </a:p>
          <a:p>
            <a:pPr marL="177800" indent="-177800">
              <a:lnSpc>
                <a:spcPct val="106000"/>
              </a:lnSpc>
              <a:buSzPct val="100000"/>
              <a:buChar char="▪"/>
            </a:pPr>
            <a:r>
              <a:rPr lang="pt-BR" sz="1400" noProof="0" dirty="0">
                <a:solidFill>
                  <a:srgbClr val="2B2B2E"/>
                </a:solidFill>
                <a:latin typeface="Calibri" pitchFamily="34" charset="0"/>
                <a:ea typeface="Calibri" pitchFamily="34" charset="-122"/>
                <a:cs typeface="Calibri" pitchFamily="34" charset="-120"/>
              </a:rPr>
              <a:t>Código direto ainda precisa ser testável, legível e corretamente estruturado</a:t>
            </a:r>
            <a:endParaRPr lang="pt-BR" sz="1400" noProof="0" dirty="0"/>
          </a:p>
        </p:txBody>
      </p:sp>
      <p:sp>
        <p:nvSpPr>
          <p:cNvPr id="33" name="Shape 31"/>
          <p:cNvSpPr/>
          <p:nvPr/>
        </p:nvSpPr>
        <p:spPr>
          <a:xfrm>
            <a:off x="502919" y="5482970"/>
            <a:ext cx="5394959" cy="876681"/>
          </a:xfrm>
          <a:prstGeom prst="roundRect">
            <a:avLst>
              <a:gd name="adj" fmla="val 5882"/>
            </a:avLst>
          </a:prstGeom>
          <a:solidFill>
            <a:srgbClr val="1B2A4A"/>
          </a:solidFill>
          <a:ln w="12700">
            <a:solidFill>
              <a:srgbClr val="1B2A4A"/>
            </a:solidFill>
            <a:prstDash val="solid"/>
          </a:ln>
        </p:spPr>
        <p:txBody>
          <a:bodyPr/>
          <a:lstStyle/>
          <a:p>
            <a:endParaRPr lang="pt-BR" noProof="0" dirty="0"/>
          </a:p>
        </p:txBody>
      </p:sp>
      <p:sp>
        <p:nvSpPr>
          <p:cNvPr id="34" name="Text 32"/>
          <p:cNvSpPr/>
          <p:nvPr/>
        </p:nvSpPr>
        <p:spPr>
          <a:xfrm>
            <a:off x="731520" y="5502973"/>
            <a:ext cx="5059680" cy="777240"/>
          </a:xfrm>
          <a:prstGeom prst="rect">
            <a:avLst/>
          </a:prstGeom>
          <a:noFill/>
          <a:ln/>
        </p:spPr>
        <p:txBody>
          <a:bodyPr wrap="square" lIns="0" tIns="0" rIns="0" bIns="0" rtlCol="0" anchor="ctr"/>
          <a:lstStyle/>
          <a:p>
            <a:pPr marL="0" indent="0">
              <a:lnSpc>
                <a:spcPct val="108000"/>
              </a:lnSpc>
              <a:buNone/>
            </a:pPr>
            <a:r>
              <a:rPr lang="pt-BR" sz="1200" b="1" noProof="0" dirty="0">
                <a:solidFill>
                  <a:srgbClr val="C9A227"/>
                </a:solidFill>
                <a:latin typeface="Calibri" pitchFamily="34" charset="0"/>
                <a:ea typeface="Calibri" pitchFamily="34" charset="-122"/>
                <a:cs typeface="Calibri" pitchFamily="34" charset="-120"/>
              </a:rPr>
              <a:t>KISS não é ausência de design.
</a:t>
            </a:r>
            <a:endParaRPr lang="pt-BR" sz="1200" noProof="0" dirty="0"/>
          </a:p>
          <a:p>
            <a:pPr marL="0" indent="0">
              <a:lnSpc>
                <a:spcPct val="108000"/>
              </a:lnSpc>
              <a:buNone/>
            </a:pPr>
            <a:r>
              <a:rPr lang="pt-BR" sz="1200" noProof="0" dirty="0">
                <a:solidFill>
                  <a:srgbClr val="FFFFFF"/>
                </a:solidFill>
                <a:latin typeface="Calibri" pitchFamily="34" charset="0"/>
                <a:ea typeface="Calibri" pitchFamily="34" charset="-122"/>
                <a:cs typeface="Calibri" pitchFamily="34" charset="-120"/>
              </a:rPr>
              <a:t>É a escolha deliberada do menor número de mecanismos que resolve o problema atual com correção e clareza.</a:t>
            </a:r>
            <a:endParaRPr lang="pt-BR" sz="1200" noProof="0" dirty="0"/>
          </a:p>
        </p:txBody>
      </p:sp>
      <p:sp>
        <p:nvSpPr>
          <p:cNvPr id="36" name="Shape 34"/>
          <p:cNvSpPr/>
          <p:nvPr/>
        </p:nvSpPr>
        <p:spPr>
          <a:xfrm>
            <a:off x="6160770" y="5547360"/>
            <a:ext cx="118872" cy="118872"/>
          </a:xfrm>
          <a:prstGeom prst="rect">
            <a:avLst/>
          </a:prstGeom>
          <a:solidFill>
            <a:srgbClr val="C9A227"/>
          </a:solidFill>
          <a:ln/>
        </p:spPr>
        <p:txBody>
          <a:bodyPr/>
          <a:lstStyle/>
          <a:p>
            <a:endParaRPr lang="pt-BR" noProof="0" dirty="0"/>
          </a:p>
        </p:txBody>
      </p:sp>
      <p:sp>
        <p:nvSpPr>
          <p:cNvPr id="37" name="Text 35"/>
          <p:cNvSpPr/>
          <p:nvPr/>
        </p:nvSpPr>
        <p:spPr>
          <a:xfrm>
            <a:off x="6427922" y="5490972"/>
            <a:ext cx="5261159"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PERGUNTAS PARA ANÁLISE</a:t>
            </a:r>
            <a:endParaRPr lang="pt-BR" sz="1250" noProof="0" dirty="0"/>
          </a:p>
        </p:txBody>
      </p:sp>
      <p:sp>
        <p:nvSpPr>
          <p:cNvPr id="38" name="Text 36"/>
          <p:cNvSpPr/>
          <p:nvPr/>
        </p:nvSpPr>
        <p:spPr>
          <a:xfrm>
            <a:off x="6190488" y="5762244"/>
            <a:ext cx="5868162" cy="414528"/>
          </a:xfrm>
          <a:prstGeom prst="rect">
            <a:avLst/>
          </a:prstGeom>
          <a:noFill/>
          <a:ln/>
        </p:spPr>
        <p:txBody>
          <a:bodyPr wrap="square" lIns="0" tIns="0" rIns="0" bIns="0" rtlCol="0" anchor="t"/>
          <a:lstStyle/>
          <a:p>
            <a:pPr marL="177800" indent="-177800">
              <a:lnSpc>
                <a:spcPct val="106000"/>
              </a:lnSpc>
              <a:buSzPct val="100000"/>
              <a:buChar char="▪"/>
            </a:pPr>
            <a:r>
              <a:rPr lang="pt-BR" sz="1200" dirty="0">
                <a:solidFill>
                  <a:schemeClr val="bg2">
                    <a:lumMod val="50000"/>
                  </a:schemeClr>
                </a:solidFill>
                <a:latin typeface="Calibri" pitchFamily="34" charset="0"/>
                <a:ea typeface="Calibri" pitchFamily="34" charset="-122"/>
                <a:cs typeface="Calibri" pitchFamily="34" charset="-120"/>
              </a:rPr>
              <a:t>Qual mecanismo do primeiro exemplo ainda não possui justificativa concreta?</a:t>
            </a:r>
          </a:p>
          <a:p>
            <a:pPr marL="177800" indent="-177800">
              <a:lnSpc>
                <a:spcPct val="106000"/>
              </a:lnSpc>
              <a:buSzPct val="100000"/>
              <a:buChar char="▪"/>
            </a:pPr>
            <a:r>
              <a:rPr lang="pt-BR" sz="1200" dirty="0">
                <a:solidFill>
                  <a:schemeClr val="bg2">
                    <a:lumMod val="50000"/>
                  </a:schemeClr>
                </a:solidFill>
                <a:latin typeface="Calibri" pitchFamily="34" charset="0"/>
                <a:ea typeface="Calibri" pitchFamily="34" charset="-122"/>
                <a:cs typeface="Calibri" pitchFamily="34" charset="-120"/>
              </a:rPr>
              <a:t>Em que situação a estratégia passaria a ser uma abstração útil?</a:t>
            </a:r>
          </a:p>
          <a:p>
            <a:pPr marL="177800" indent="-177800">
              <a:lnSpc>
                <a:spcPct val="106000"/>
              </a:lnSpc>
              <a:buSzPct val="100000"/>
              <a:buChar char="▪"/>
            </a:pPr>
            <a:r>
              <a:rPr lang="pt-BR" sz="1200" dirty="0">
                <a:solidFill>
                  <a:schemeClr val="bg2">
                    <a:lumMod val="50000"/>
                  </a:schemeClr>
                </a:solidFill>
                <a:latin typeface="Calibri" pitchFamily="34" charset="0"/>
                <a:ea typeface="Calibri" pitchFamily="34" charset="-122"/>
                <a:cs typeface="Calibri" pitchFamily="34" charset="-120"/>
              </a:rPr>
              <a:t>Por que o enum é mais simples para o leitor, embora adicione um novo tipo ao programa?</a:t>
            </a:r>
          </a:p>
        </p:txBody>
      </p:sp>
      <p:sp>
        <p:nvSpPr>
          <p:cNvPr id="39" name="Shape 37"/>
          <p:cNvSpPr/>
          <p:nvPr/>
        </p:nvSpPr>
        <p:spPr>
          <a:xfrm>
            <a:off x="0" y="6528816"/>
            <a:ext cx="12188952" cy="329184"/>
          </a:xfrm>
          <a:prstGeom prst="rect">
            <a:avLst/>
          </a:prstGeom>
          <a:solidFill>
            <a:srgbClr val="1B2A4A"/>
          </a:solidFill>
          <a:ln/>
        </p:spPr>
        <p:txBody>
          <a:bodyPr/>
          <a:lstStyle/>
          <a:p>
            <a:endParaRPr lang="pt-BR" noProof="0" dirty="0"/>
          </a:p>
        </p:txBody>
      </p:sp>
      <p:sp>
        <p:nvSpPr>
          <p:cNvPr id="40" name="Text 38"/>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41" name="Text 39"/>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11 / 15</a:t>
            </a:r>
            <a:endParaRPr lang="pt-BR" sz="950" noProof="0" dirty="0"/>
          </a:p>
        </p:txBody>
      </p:sp>
      <p:grpSp>
        <p:nvGrpSpPr>
          <p:cNvPr id="43" name="Agrupar 42">
            <a:extLst>
              <a:ext uri="{FF2B5EF4-FFF2-40B4-BE49-F238E27FC236}">
                <a16:creationId xmlns:a16="http://schemas.microsoft.com/office/drawing/2014/main" id="{B1646FA7-F7DA-9FCB-D9A2-D82E1EBE441E}"/>
              </a:ext>
            </a:extLst>
          </p:cNvPr>
          <p:cNvGrpSpPr/>
          <p:nvPr/>
        </p:nvGrpSpPr>
        <p:grpSpPr>
          <a:xfrm>
            <a:off x="278892" y="205740"/>
            <a:ext cx="566928" cy="566928"/>
            <a:chOff x="384048" y="290322"/>
            <a:chExt cx="566928" cy="566928"/>
          </a:xfrm>
        </p:grpSpPr>
        <p:sp>
          <p:nvSpPr>
            <p:cNvPr id="44" name="Shape 0">
              <a:extLst>
                <a:ext uri="{FF2B5EF4-FFF2-40B4-BE49-F238E27FC236}">
                  <a16:creationId xmlns:a16="http://schemas.microsoft.com/office/drawing/2014/main" id="{1961B059-80D5-63A7-9C64-CB8310FC9480}"/>
                </a:ext>
              </a:extLst>
            </p:cNvPr>
            <p:cNvSpPr/>
            <p:nvPr/>
          </p:nvSpPr>
          <p:spPr>
            <a:xfrm>
              <a:off x="457200" y="384048"/>
              <a:ext cx="429768" cy="388620"/>
            </a:xfrm>
            <a:prstGeom prst="ellipse">
              <a:avLst/>
            </a:prstGeom>
            <a:solidFill>
              <a:srgbClr val="C9A227"/>
            </a:solidFill>
            <a:ln w="12700">
              <a:noFill/>
              <a:prstDash val="solid"/>
            </a:ln>
          </p:spPr>
          <p:txBody>
            <a:bodyPr/>
            <a:lstStyle/>
            <a:p>
              <a:endParaRPr lang="pt-BR" noProof="0" dirty="0"/>
            </a:p>
          </p:txBody>
        </p:sp>
        <p:sp>
          <p:nvSpPr>
            <p:cNvPr id="45" name="Text 1">
              <a:extLst>
                <a:ext uri="{FF2B5EF4-FFF2-40B4-BE49-F238E27FC236}">
                  <a16:creationId xmlns:a16="http://schemas.microsoft.com/office/drawing/2014/main" id="{8E5150A0-1DFD-D12B-54EE-70C25E708D9C}"/>
                </a:ext>
              </a:extLst>
            </p:cNvPr>
            <p:cNvSpPr/>
            <p:nvPr/>
          </p:nvSpPr>
          <p:spPr>
            <a:xfrm>
              <a:off x="384048" y="290322"/>
              <a:ext cx="566928" cy="566928"/>
            </a:xfrm>
            <a:prstGeom prst="rect">
              <a:avLst/>
            </a:prstGeom>
            <a:noFill/>
            <a:ln/>
          </p:spPr>
          <p:txBody>
            <a:bodyPr wrap="square" rtlCol="0" anchor="ctr"/>
            <a:lstStyle/>
            <a:p>
              <a:pPr marL="0" indent="0" algn="ctr">
                <a:buNone/>
              </a:pPr>
              <a:r>
                <a:rPr lang="pt-BR" sz="2000" b="1" noProof="0" dirty="0">
                  <a:solidFill>
                    <a:schemeClr val="bg1"/>
                  </a:solidFill>
                  <a:latin typeface="Tahoma" pitchFamily="34" charset="0"/>
                  <a:ea typeface="Tahoma" pitchFamily="34" charset="-122"/>
                  <a:cs typeface="Tahoma" pitchFamily="34" charset="-120"/>
                </a:rPr>
                <a:t>3</a:t>
              </a:r>
              <a:endParaRPr lang="pt-BR" sz="2000" noProof="0" dirty="0">
                <a:solidFill>
                  <a:schemeClr val="bg1"/>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7245" y="292608"/>
            <a:ext cx="11155680" cy="566928"/>
          </a:xfrm>
          <a:prstGeom prst="rect">
            <a:avLst/>
          </a:prstGeom>
          <a:noFill/>
          <a:ln/>
        </p:spPr>
        <p:txBody>
          <a:bodyPr wrap="square" lIns="0" tIns="0" rIns="0" bIns="0" rtlCol="0" anchor="t"/>
          <a:lstStyle/>
          <a:p>
            <a:pPr marL="0" indent="0">
              <a:buNone/>
            </a:pPr>
            <a:r>
              <a:rPr lang="pt-BR" sz="2700" b="1" noProof="0" dirty="0">
                <a:solidFill>
                  <a:srgbClr val="1B2A4A"/>
                </a:solidFill>
                <a:latin typeface="Cambria" pitchFamily="34" charset="0"/>
                <a:ea typeface="Cambria" pitchFamily="34" charset="-122"/>
                <a:cs typeface="Cambria" pitchFamily="34" charset="-120"/>
              </a:rPr>
              <a:t>Lei de Demeter: Princípio do Mínimo Conhecimento</a:t>
            </a:r>
            <a:endParaRPr lang="pt-BR" sz="2700" noProof="0" dirty="0"/>
          </a:p>
        </p:txBody>
      </p:sp>
      <p:sp>
        <p:nvSpPr>
          <p:cNvPr id="4" name="Shape 2"/>
          <p:cNvSpPr/>
          <p:nvPr/>
        </p:nvSpPr>
        <p:spPr>
          <a:xfrm>
            <a:off x="531495" y="1769002"/>
            <a:ext cx="118872" cy="118872"/>
          </a:xfrm>
          <a:prstGeom prst="rect">
            <a:avLst/>
          </a:prstGeom>
          <a:solidFill>
            <a:srgbClr val="C9A227"/>
          </a:solidFill>
          <a:ln/>
        </p:spPr>
        <p:txBody>
          <a:bodyPr/>
          <a:lstStyle/>
          <a:p>
            <a:endParaRPr lang="pt-BR" noProof="0" dirty="0"/>
          </a:p>
        </p:txBody>
      </p:sp>
      <p:sp>
        <p:nvSpPr>
          <p:cNvPr id="5" name="Text 3"/>
          <p:cNvSpPr/>
          <p:nvPr/>
        </p:nvSpPr>
        <p:spPr>
          <a:xfrm>
            <a:off x="750951" y="1700422"/>
            <a:ext cx="5129784" cy="256032"/>
          </a:xfrm>
          <a:prstGeom prst="rect">
            <a:avLst/>
          </a:prstGeom>
          <a:noFill/>
          <a:ln/>
        </p:spPr>
        <p:txBody>
          <a:bodyPr wrap="square" lIns="0" tIns="0" rIns="0" bIns="0" rtlCol="0" anchor="ctr"/>
          <a:lstStyle/>
          <a:p>
            <a:pPr marL="0" indent="0">
              <a:buNone/>
            </a:pPr>
            <a:r>
              <a:rPr lang="pt-BR" sz="1250" b="1" kern="0" spc="50" dirty="0">
                <a:solidFill>
                  <a:srgbClr val="1B2A4A"/>
                </a:solidFill>
                <a:latin typeface="Calibri" pitchFamily="34" charset="0"/>
                <a:ea typeface="Calibri" pitchFamily="34" charset="-122"/>
                <a:cs typeface="Calibri" pitchFamily="34" charset="-120"/>
              </a:rPr>
              <a:t>Um método pode, em geral, enviar mensagens para:</a:t>
            </a:r>
          </a:p>
        </p:txBody>
      </p:sp>
      <p:sp>
        <p:nvSpPr>
          <p:cNvPr id="6" name="Text 4"/>
          <p:cNvSpPr/>
          <p:nvPr/>
        </p:nvSpPr>
        <p:spPr>
          <a:xfrm>
            <a:off x="822960" y="2188464"/>
            <a:ext cx="5349240" cy="256032"/>
          </a:xfrm>
          <a:prstGeom prst="rect">
            <a:avLst/>
          </a:prstGeom>
          <a:noFill/>
          <a:ln/>
        </p:spPr>
        <p:txBody>
          <a:bodyPr wrap="square" lIns="0" tIns="0" rIns="0" bIns="0" rtlCol="0" anchor="ctr"/>
          <a:lstStyle/>
          <a:p>
            <a:pPr marL="0" indent="0">
              <a:buNone/>
            </a:pPr>
            <a:endParaRPr lang="pt-BR" sz="1000" noProof="0" dirty="0"/>
          </a:p>
        </p:txBody>
      </p:sp>
      <p:sp>
        <p:nvSpPr>
          <p:cNvPr id="19" name="Shape 17"/>
          <p:cNvSpPr/>
          <p:nvPr/>
        </p:nvSpPr>
        <p:spPr>
          <a:xfrm>
            <a:off x="582803" y="3290485"/>
            <a:ext cx="118872" cy="118872"/>
          </a:xfrm>
          <a:prstGeom prst="rect">
            <a:avLst/>
          </a:prstGeom>
          <a:solidFill>
            <a:srgbClr val="C9A227"/>
          </a:solidFill>
          <a:ln/>
        </p:spPr>
        <p:txBody>
          <a:bodyPr/>
          <a:lstStyle/>
          <a:p>
            <a:endParaRPr lang="pt-BR" noProof="0" dirty="0"/>
          </a:p>
        </p:txBody>
      </p:sp>
      <p:sp>
        <p:nvSpPr>
          <p:cNvPr id="20" name="Text 18"/>
          <p:cNvSpPr/>
          <p:nvPr/>
        </p:nvSpPr>
        <p:spPr>
          <a:xfrm>
            <a:off x="802259" y="3221905"/>
            <a:ext cx="526694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FINALIDADE</a:t>
            </a:r>
            <a:endParaRPr lang="pt-BR" sz="1250" noProof="0" dirty="0"/>
          </a:p>
        </p:txBody>
      </p:sp>
      <p:sp>
        <p:nvSpPr>
          <p:cNvPr id="21" name="Text 19"/>
          <p:cNvSpPr/>
          <p:nvPr/>
        </p:nvSpPr>
        <p:spPr>
          <a:xfrm>
            <a:off x="830834" y="3534156"/>
            <a:ext cx="9591040" cy="411480"/>
          </a:xfrm>
          <a:prstGeom prst="rect">
            <a:avLst/>
          </a:prstGeom>
          <a:noFill/>
          <a:ln/>
        </p:spPr>
        <p:txBody>
          <a:bodyPr wrap="square" lIns="0" tIns="0" rIns="0" bIns="0" rtlCol="0" anchor="ctr"/>
          <a:lstStyle/>
          <a:p>
            <a:pPr marL="0" indent="0">
              <a:lnSpc>
                <a:spcPct val="110000"/>
              </a:lnSpc>
              <a:buNone/>
            </a:pPr>
            <a:r>
              <a:rPr lang="pt-BR" sz="1400" dirty="0">
                <a:solidFill>
                  <a:srgbClr val="2B2B2E"/>
                </a:solidFill>
                <a:latin typeface="Calibri" pitchFamily="34" charset="0"/>
                <a:ea typeface="Calibri" pitchFamily="34" charset="-122"/>
                <a:cs typeface="Calibri" pitchFamily="34" charset="-120"/>
              </a:rPr>
              <a:t>Evitar que um cliente dependa da organização interna de uma </a:t>
            </a:r>
          </a:p>
          <a:p>
            <a:pPr marL="0" indent="0">
              <a:lnSpc>
                <a:spcPct val="110000"/>
              </a:lnSpc>
              <a:buNone/>
            </a:pPr>
            <a:r>
              <a:rPr lang="pt-BR" sz="1400" dirty="0">
                <a:solidFill>
                  <a:srgbClr val="2B2B2E"/>
                </a:solidFill>
                <a:latin typeface="Calibri" pitchFamily="34" charset="0"/>
                <a:ea typeface="Calibri" pitchFamily="34" charset="-122"/>
                <a:cs typeface="Calibri" pitchFamily="34" charset="-120"/>
              </a:rPr>
              <a:t>rede de objetos.</a:t>
            </a:r>
          </a:p>
        </p:txBody>
      </p:sp>
      <p:sp>
        <p:nvSpPr>
          <p:cNvPr id="22" name="Shape 20"/>
          <p:cNvSpPr/>
          <p:nvPr/>
        </p:nvSpPr>
        <p:spPr>
          <a:xfrm>
            <a:off x="6208776" y="1785366"/>
            <a:ext cx="118872" cy="118872"/>
          </a:xfrm>
          <a:prstGeom prst="rect">
            <a:avLst/>
          </a:prstGeom>
          <a:solidFill>
            <a:srgbClr val="C9A227"/>
          </a:solidFill>
          <a:ln/>
        </p:spPr>
        <p:txBody>
          <a:bodyPr/>
          <a:lstStyle/>
          <a:p>
            <a:endParaRPr lang="pt-BR" noProof="0" dirty="0"/>
          </a:p>
        </p:txBody>
      </p:sp>
      <p:sp>
        <p:nvSpPr>
          <p:cNvPr id="23" name="Text 21"/>
          <p:cNvSpPr/>
          <p:nvPr/>
        </p:nvSpPr>
        <p:spPr>
          <a:xfrm>
            <a:off x="6428232" y="1716786"/>
            <a:ext cx="526694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BENEFÍCIOS</a:t>
            </a:r>
            <a:endParaRPr lang="pt-BR" sz="1250" noProof="0" dirty="0"/>
          </a:p>
        </p:txBody>
      </p:sp>
      <p:sp>
        <p:nvSpPr>
          <p:cNvPr id="24" name="Text 22"/>
          <p:cNvSpPr/>
          <p:nvPr/>
        </p:nvSpPr>
        <p:spPr>
          <a:xfrm>
            <a:off x="6208776" y="2073402"/>
            <a:ext cx="5486400" cy="1554480"/>
          </a:xfrm>
          <a:prstGeom prst="rect">
            <a:avLst/>
          </a:prstGeom>
          <a:noFill/>
          <a:ln/>
        </p:spPr>
        <p:txBody>
          <a:bodyPr wrap="square" lIns="0" tIns="0" rIns="0" bIns="0" rtlCol="0" anchor="t"/>
          <a:lstStyle/>
          <a:p>
            <a:pPr marL="177800" indent="-177800">
              <a:lnSpc>
                <a:spcPct val="106000"/>
              </a:lnSpc>
              <a:spcAft>
                <a:spcPts val="350"/>
              </a:spcAft>
              <a:buSzPct val="100000"/>
              <a:buChar char="▪"/>
            </a:pPr>
            <a:r>
              <a:rPr lang="pt-BR" sz="1400" dirty="0">
                <a:solidFill>
                  <a:srgbClr val="2B2B2E"/>
                </a:solidFill>
                <a:latin typeface="Calibri" pitchFamily="34" charset="0"/>
                <a:ea typeface="Calibri" pitchFamily="34" charset="-122"/>
                <a:cs typeface="Calibri" pitchFamily="34" charset="-120"/>
              </a:rPr>
              <a:t>Menor acoplamento estrutural</a:t>
            </a:r>
          </a:p>
          <a:p>
            <a:pPr marL="177800" indent="-177800">
              <a:lnSpc>
                <a:spcPct val="106000"/>
              </a:lnSpc>
              <a:spcAft>
                <a:spcPts val="350"/>
              </a:spcAft>
              <a:buSzPct val="100000"/>
              <a:buChar char="▪"/>
            </a:pPr>
            <a:r>
              <a:rPr lang="pt-BR" sz="1400" dirty="0">
                <a:solidFill>
                  <a:srgbClr val="2B2B2E"/>
                </a:solidFill>
                <a:latin typeface="Calibri" pitchFamily="34" charset="0"/>
                <a:ea typeface="Calibri" pitchFamily="34" charset="-122"/>
                <a:cs typeface="Calibri" pitchFamily="34" charset="-120"/>
              </a:rPr>
              <a:t>Melhor ocultação de informação</a:t>
            </a:r>
          </a:p>
          <a:p>
            <a:pPr marL="177800" indent="-177800">
              <a:lnSpc>
                <a:spcPct val="106000"/>
              </a:lnSpc>
              <a:spcAft>
                <a:spcPts val="350"/>
              </a:spcAft>
              <a:buSzPct val="100000"/>
              <a:buChar char="▪"/>
            </a:pPr>
            <a:r>
              <a:rPr lang="pt-BR" sz="1400" dirty="0">
                <a:solidFill>
                  <a:srgbClr val="2B2B2E"/>
                </a:solidFill>
                <a:latin typeface="Calibri" pitchFamily="34" charset="0"/>
                <a:ea typeface="Calibri" pitchFamily="34" charset="-122"/>
                <a:cs typeface="Calibri" pitchFamily="34" charset="-120"/>
              </a:rPr>
              <a:t>Interfaces mais estreitas</a:t>
            </a:r>
          </a:p>
          <a:p>
            <a:pPr marL="177800" indent="-177800">
              <a:lnSpc>
                <a:spcPct val="106000"/>
              </a:lnSpc>
              <a:spcAft>
                <a:spcPts val="350"/>
              </a:spcAft>
              <a:buSzPct val="100000"/>
              <a:buChar char="▪"/>
            </a:pPr>
            <a:r>
              <a:rPr lang="pt-BR" sz="1400" dirty="0">
                <a:solidFill>
                  <a:srgbClr val="2B2B2E"/>
                </a:solidFill>
                <a:latin typeface="Calibri" pitchFamily="34" charset="0"/>
                <a:ea typeface="Calibri" pitchFamily="34" charset="-122"/>
                <a:cs typeface="Calibri" pitchFamily="34" charset="-120"/>
              </a:rPr>
              <a:t>Mudanças localizadas</a:t>
            </a:r>
          </a:p>
          <a:p>
            <a:pPr marL="177800" indent="-177800">
              <a:lnSpc>
                <a:spcPct val="106000"/>
              </a:lnSpc>
              <a:spcAft>
                <a:spcPts val="350"/>
              </a:spcAft>
              <a:buSzPct val="100000"/>
              <a:buChar char="▪"/>
            </a:pPr>
            <a:r>
              <a:rPr lang="pt-BR" sz="1400" dirty="0">
                <a:solidFill>
                  <a:srgbClr val="2B2B2E"/>
                </a:solidFill>
                <a:latin typeface="Calibri" pitchFamily="34" charset="0"/>
                <a:ea typeface="Calibri" pitchFamily="34" charset="-122"/>
                <a:cs typeface="Calibri" pitchFamily="34" charset="-120"/>
              </a:rPr>
              <a:t>Maior liberdade para alterar representações internas</a:t>
            </a:r>
          </a:p>
        </p:txBody>
      </p:sp>
      <p:sp>
        <p:nvSpPr>
          <p:cNvPr id="43" name="Shape 41"/>
          <p:cNvSpPr/>
          <p:nvPr/>
        </p:nvSpPr>
        <p:spPr>
          <a:xfrm>
            <a:off x="0" y="6528816"/>
            <a:ext cx="12188952" cy="329184"/>
          </a:xfrm>
          <a:prstGeom prst="rect">
            <a:avLst/>
          </a:prstGeom>
          <a:solidFill>
            <a:srgbClr val="1B2A4A"/>
          </a:solidFill>
          <a:ln/>
        </p:spPr>
        <p:txBody>
          <a:bodyPr/>
          <a:lstStyle/>
          <a:p>
            <a:endParaRPr lang="pt-BR" noProof="0" dirty="0"/>
          </a:p>
        </p:txBody>
      </p:sp>
      <p:sp>
        <p:nvSpPr>
          <p:cNvPr id="44" name="Text 42"/>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45" name="Text 43"/>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10 / 13</a:t>
            </a:r>
            <a:endParaRPr lang="pt-BR" sz="950" noProof="0" dirty="0"/>
          </a:p>
        </p:txBody>
      </p:sp>
      <p:grpSp>
        <p:nvGrpSpPr>
          <p:cNvPr id="46" name="Agrupar 45">
            <a:extLst>
              <a:ext uri="{FF2B5EF4-FFF2-40B4-BE49-F238E27FC236}">
                <a16:creationId xmlns:a16="http://schemas.microsoft.com/office/drawing/2014/main" id="{0FCEDB0C-6EC7-CF9B-6E4E-BA78417AD2D7}"/>
              </a:ext>
            </a:extLst>
          </p:cNvPr>
          <p:cNvGrpSpPr/>
          <p:nvPr/>
        </p:nvGrpSpPr>
        <p:grpSpPr>
          <a:xfrm>
            <a:off x="278892" y="205740"/>
            <a:ext cx="566928" cy="566928"/>
            <a:chOff x="384048" y="290322"/>
            <a:chExt cx="566928" cy="566928"/>
          </a:xfrm>
        </p:grpSpPr>
        <p:sp>
          <p:nvSpPr>
            <p:cNvPr id="47" name="Shape 0">
              <a:extLst>
                <a:ext uri="{FF2B5EF4-FFF2-40B4-BE49-F238E27FC236}">
                  <a16:creationId xmlns:a16="http://schemas.microsoft.com/office/drawing/2014/main" id="{397DFFA4-6C3B-5F0A-3032-F608A0BB5E02}"/>
                </a:ext>
              </a:extLst>
            </p:cNvPr>
            <p:cNvSpPr/>
            <p:nvPr/>
          </p:nvSpPr>
          <p:spPr>
            <a:xfrm>
              <a:off x="457200" y="384048"/>
              <a:ext cx="429768" cy="388620"/>
            </a:xfrm>
            <a:prstGeom prst="ellipse">
              <a:avLst/>
            </a:prstGeom>
            <a:solidFill>
              <a:srgbClr val="C9A227"/>
            </a:solidFill>
            <a:ln w="12700">
              <a:noFill/>
              <a:prstDash val="solid"/>
            </a:ln>
          </p:spPr>
          <p:txBody>
            <a:bodyPr/>
            <a:lstStyle/>
            <a:p>
              <a:endParaRPr lang="pt-BR" noProof="0" dirty="0"/>
            </a:p>
          </p:txBody>
        </p:sp>
        <p:sp>
          <p:nvSpPr>
            <p:cNvPr id="48" name="Text 1">
              <a:extLst>
                <a:ext uri="{FF2B5EF4-FFF2-40B4-BE49-F238E27FC236}">
                  <a16:creationId xmlns:a16="http://schemas.microsoft.com/office/drawing/2014/main" id="{606B2B8C-047A-F95B-19D0-C06DEDCA17FB}"/>
                </a:ext>
              </a:extLst>
            </p:cNvPr>
            <p:cNvSpPr/>
            <p:nvPr/>
          </p:nvSpPr>
          <p:spPr>
            <a:xfrm>
              <a:off x="384048" y="290322"/>
              <a:ext cx="566928" cy="566928"/>
            </a:xfrm>
            <a:prstGeom prst="rect">
              <a:avLst/>
            </a:prstGeom>
            <a:noFill/>
            <a:ln/>
          </p:spPr>
          <p:txBody>
            <a:bodyPr wrap="square" rtlCol="0" anchor="ctr"/>
            <a:lstStyle/>
            <a:p>
              <a:pPr marL="0" indent="0" algn="ctr">
                <a:buNone/>
              </a:pPr>
              <a:r>
                <a:rPr lang="pt-BR" sz="2000" b="1" noProof="0" dirty="0">
                  <a:solidFill>
                    <a:schemeClr val="bg1"/>
                  </a:solidFill>
                  <a:latin typeface="Tahoma" pitchFamily="34" charset="0"/>
                  <a:ea typeface="Tahoma" pitchFamily="34" charset="-122"/>
                  <a:cs typeface="Tahoma" pitchFamily="34" charset="-120"/>
                </a:rPr>
                <a:t>4</a:t>
              </a:r>
              <a:endParaRPr lang="pt-BR" sz="2000" noProof="0" dirty="0">
                <a:solidFill>
                  <a:schemeClr val="bg1"/>
                </a:solidFill>
              </a:endParaRPr>
            </a:p>
          </p:txBody>
        </p:sp>
      </p:grpSp>
      <p:sp>
        <p:nvSpPr>
          <p:cNvPr id="52" name="Shape 1">
            <a:extLst>
              <a:ext uri="{FF2B5EF4-FFF2-40B4-BE49-F238E27FC236}">
                <a16:creationId xmlns:a16="http://schemas.microsoft.com/office/drawing/2014/main" id="{D67B3355-F64B-EAC0-D7B1-1E46CE13DD9F}"/>
              </a:ext>
            </a:extLst>
          </p:cNvPr>
          <p:cNvSpPr/>
          <p:nvPr/>
        </p:nvSpPr>
        <p:spPr>
          <a:xfrm>
            <a:off x="531495" y="875919"/>
            <a:ext cx="11201400" cy="594360"/>
          </a:xfrm>
          <a:prstGeom prst="roundRect">
            <a:avLst>
              <a:gd name="adj" fmla="val 7692"/>
            </a:avLst>
          </a:prstGeom>
          <a:solidFill>
            <a:srgbClr val="1B2A4A"/>
          </a:solidFill>
          <a:ln w="12700">
            <a:solidFill>
              <a:srgbClr val="1B2A4A"/>
            </a:solidFill>
            <a:prstDash val="solid"/>
          </a:ln>
        </p:spPr>
        <p:txBody>
          <a:bodyPr/>
          <a:lstStyle/>
          <a:p>
            <a:endParaRPr lang="pt-BR" noProof="0" dirty="0"/>
          </a:p>
        </p:txBody>
      </p:sp>
      <p:sp>
        <p:nvSpPr>
          <p:cNvPr id="53" name="Shape 2">
            <a:extLst>
              <a:ext uri="{FF2B5EF4-FFF2-40B4-BE49-F238E27FC236}">
                <a16:creationId xmlns:a16="http://schemas.microsoft.com/office/drawing/2014/main" id="{00E4CB63-3933-226A-1CAD-7B75C099511F}"/>
              </a:ext>
            </a:extLst>
          </p:cNvPr>
          <p:cNvSpPr/>
          <p:nvPr/>
        </p:nvSpPr>
        <p:spPr>
          <a:xfrm>
            <a:off x="518795" y="866778"/>
            <a:ext cx="64008" cy="612648"/>
          </a:xfrm>
          <a:prstGeom prst="rect">
            <a:avLst/>
          </a:prstGeom>
          <a:solidFill>
            <a:srgbClr val="C9A227"/>
          </a:solidFill>
          <a:ln/>
        </p:spPr>
        <p:txBody>
          <a:bodyPr/>
          <a:lstStyle/>
          <a:p>
            <a:endParaRPr lang="pt-BR" noProof="0" dirty="0"/>
          </a:p>
        </p:txBody>
      </p:sp>
      <p:sp>
        <p:nvSpPr>
          <p:cNvPr id="54" name="Text 3">
            <a:extLst>
              <a:ext uri="{FF2B5EF4-FFF2-40B4-BE49-F238E27FC236}">
                <a16:creationId xmlns:a16="http://schemas.microsoft.com/office/drawing/2014/main" id="{E4AA7F13-0F95-A498-8135-501D853EE01B}"/>
              </a:ext>
            </a:extLst>
          </p:cNvPr>
          <p:cNvSpPr/>
          <p:nvPr/>
        </p:nvSpPr>
        <p:spPr>
          <a:xfrm>
            <a:off x="897255" y="875919"/>
            <a:ext cx="10652760" cy="594360"/>
          </a:xfrm>
          <a:prstGeom prst="rect">
            <a:avLst/>
          </a:prstGeom>
          <a:noFill/>
          <a:ln/>
        </p:spPr>
        <p:txBody>
          <a:bodyPr wrap="square" lIns="0" tIns="0" rIns="0" bIns="0" rtlCol="0" anchor="ctr"/>
          <a:lstStyle/>
          <a:p>
            <a:pPr marL="0" indent="0">
              <a:lnSpc>
                <a:spcPct val="110000"/>
              </a:lnSpc>
              <a:buNone/>
            </a:pPr>
            <a:r>
              <a:rPr lang="pt-BR" sz="1400" dirty="0">
                <a:solidFill>
                  <a:schemeClr val="bg1"/>
                </a:solidFill>
                <a:latin typeface="Calibri" pitchFamily="34" charset="0"/>
                <a:ea typeface="Calibri" pitchFamily="34" charset="-122"/>
                <a:cs typeface="Calibri" pitchFamily="34" charset="-120"/>
              </a:rPr>
              <a:t>A Lei de Demeter também chamada de Princípio do Menor Conhecimento: orienta que um objeto interaja apenas com seus colaboradores diretos, evitando conhecer e percorrer a estrutura interna de outros objetos.</a:t>
            </a:r>
          </a:p>
        </p:txBody>
      </p:sp>
      <p:sp>
        <p:nvSpPr>
          <p:cNvPr id="55" name="CaixaDeTexto 54">
            <a:extLst>
              <a:ext uri="{FF2B5EF4-FFF2-40B4-BE49-F238E27FC236}">
                <a16:creationId xmlns:a16="http://schemas.microsoft.com/office/drawing/2014/main" id="{421D16C5-F02E-EACB-E3F6-A436C5853097}"/>
              </a:ext>
            </a:extLst>
          </p:cNvPr>
          <p:cNvSpPr txBox="1"/>
          <p:nvPr/>
        </p:nvSpPr>
        <p:spPr>
          <a:xfrm>
            <a:off x="705231" y="2068849"/>
            <a:ext cx="5266944" cy="954107"/>
          </a:xfrm>
          <a:prstGeom prst="rect">
            <a:avLst/>
          </a:prstGeom>
          <a:noFill/>
        </p:spPr>
        <p:txBody>
          <a:bodyPr wrap="square" rtlCol="0">
            <a:spAutoFit/>
          </a:bodyPr>
          <a:lstStyle/>
          <a:p>
            <a:pPr marL="342900" indent="-342900">
              <a:buFont typeface="+mj-lt"/>
              <a:buAutoNum type="arabicPeriod"/>
            </a:pPr>
            <a:r>
              <a:rPr lang="pt-BR" sz="1400" dirty="0">
                <a:solidFill>
                  <a:srgbClr val="2B2B2E"/>
                </a:solidFill>
                <a:latin typeface="Calibri" pitchFamily="34" charset="0"/>
                <a:ea typeface="Calibri" pitchFamily="34" charset="-122"/>
                <a:cs typeface="Calibri" pitchFamily="34" charset="-120"/>
              </a:rPr>
              <a:t>O próprio objeto</a:t>
            </a:r>
          </a:p>
          <a:p>
            <a:pPr marL="342900" indent="-342900">
              <a:buFont typeface="+mj-lt"/>
              <a:buAutoNum type="arabicPeriod"/>
            </a:pPr>
            <a:r>
              <a:rPr lang="pt-BR" sz="1400" dirty="0">
                <a:solidFill>
                  <a:srgbClr val="2B2B2E"/>
                </a:solidFill>
                <a:latin typeface="Calibri" pitchFamily="34" charset="0"/>
                <a:ea typeface="Calibri" pitchFamily="34" charset="-122"/>
                <a:cs typeface="Calibri" pitchFamily="34" charset="-120"/>
              </a:rPr>
              <a:t>Objetos recebidos como parâmetros</a:t>
            </a:r>
          </a:p>
          <a:p>
            <a:pPr marL="342900" indent="-342900">
              <a:buFont typeface="+mj-lt"/>
              <a:buAutoNum type="arabicPeriod"/>
            </a:pPr>
            <a:r>
              <a:rPr lang="pt-BR" sz="1400" dirty="0">
                <a:solidFill>
                  <a:srgbClr val="2B2B2E"/>
                </a:solidFill>
                <a:latin typeface="Calibri" pitchFamily="34" charset="0"/>
                <a:ea typeface="Calibri" pitchFamily="34" charset="-122"/>
                <a:cs typeface="Calibri" pitchFamily="34" charset="-120"/>
              </a:rPr>
              <a:t>Objetos criados pelo próprio método</a:t>
            </a:r>
          </a:p>
          <a:p>
            <a:pPr marL="342900" indent="-342900">
              <a:buFont typeface="+mj-lt"/>
              <a:buAutoNum type="arabicPeriod"/>
            </a:pPr>
            <a:r>
              <a:rPr lang="pt-BR" sz="1400" dirty="0">
                <a:solidFill>
                  <a:srgbClr val="2B2B2E"/>
                </a:solidFill>
                <a:latin typeface="Calibri" pitchFamily="34" charset="0"/>
                <a:ea typeface="Calibri" pitchFamily="34" charset="-122"/>
                <a:cs typeface="Calibri" pitchFamily="34" charset="-120"/>
              </a:rPr>
              <a:t>Componentes mantidos diretamente pelo objeto</a:t>
            </a:r>
          </a:p>
        </p:txBody>
      </p:sp>
      <p:sp>
        <p:nvSpPr>
          <p:cNvPr id="69" name="Shape 21">
            <a:extLst>
              <a:ext uri="{FF2B5EF4-FFF2-40B4-BE49-F238E27FC236}">
                <a16:creationId xmlns:a16="http://schemas.microsoft.com/office/drawing/2014/main" id="{395657F5-9F04-D9B4-5D92-514A9E92F5DC}"/>
              </a:ext>
            </a:extLst>
          </p:cNvPr>
          <p:cNvSpPr/>
          <p:nvPr/>
        </p:nvSpPr>
        <p:spPr>
          <a:xfrm>
            <a:off x="6268212" y="4172396"/>
            <a:ext cx="5113780" cy="1402712"/>
          </a:xfrm>
          <a:prstGeom prst="roundRect">
            <a:avLst>
              <a:gd name="adj" fmla="val 3633"/>
            </a:avLst>
          </a:prstGeom>
          <a:solidFill>
            <a:srgbClr val="F6F5EF"/>
          </a:solidFill>
          <a:ln w="12700">
            <a:solidFill>
              <a:srgbClr val="C9CDD6"/>
            </a:solidFill>
            <a:prstDash val="solid"/>
          </a:ln>
        </p:spPr>
        <p:txBody>
          <a:bodyPr/>
          <a:lstStyle/>
          <a:p>
            <a:endParaRPr lang="pt-BR" noProof="0" dirty="0"/>
          </a:p>
        </p:txBody>
      </p:sp>
      <p:sp>
        <p:nvSpPr>
          <p:cNvPr id="70" name="Text 22">
            <a:extLst>
              <a:ext uri="{FF2B5EF4-FFF2-40B4-BE49-F238E27FC236}">
                <a16:creationId xmlns:a16="http://schemas.microsoft.com/office/drawing/2014/main" id="{6C3E5672-23DA-894F-D3BE-E7CF33D7302C}"/>
              </a:ext>
            </a:extLst>
          </p:cNvPr>
          <p:cNvSpPr/>
          <p:nvPr/>
        </p:nvSpPr>
        <p:spPr>
          <a:xfrm>
            <a:off x="6428233" y="4474958"/>
            <a:ext cx="4866128" cy="762081"/>
          </a:xfrm>
          <a:prstGeom prst="rect">
            <a:avLst/>
          </a:prstGeom>
          <a:noFill/>
          <a:ln/>
        </p:spPr>
        <p:txBody>
          <a:bodyPr wrap="square" lIns="0" tIns="0" rIns="0" bIns="0" rtlCol="0" anchor="ctr"/>
          <a:lstStyle/>
          <a:p>
            <a:pPr marL="0" indent="0">
              <a:lnSpc>
                <a:spcPct val="115000"/>
              </a:lnSpc>
              <a:buNone/>
            </a:pPr>
            <a:r>
              <a:rPr lang="pt-BR" sz="1600" b="1" noProof="0" dirty="0">
                <a:solidFill>
                  <a:srgbClr val="1B2A4A"/>
                </a:solidFill>
                <a:latin typeface="Calibri" pitchFamily="34" charset="0"/>
                <a:ea typeface="Calibri" pitchFamily="34" charset="-122"/>
                <a:cs typeface="Calibri" pitchFamily="34" charset="-120"/>
              </a:rPr>
              <a:t>Critério de diagnóstico</a:t>
            </a:r>
          </a:p>
          <a:p>
            <a:pPr marL="0" indent="0">
              <a:lnSpc>
                <a:spcPct val="115000"/>
              </a:lnSpc>
              <a:buNone/>
            </a:pPr>
            <a:endParaRPr lang="pt-BR" sz="1600" b="1" noProof="0" dirty="0">
              <a:solidFill>
                <a:srgbClr val="1B2A4A"/>
              </a:solidFill>
              <a:latin typeface="Calibri" pitchFamily="34" charset="0"/>
              <a:ea typeface="Calibri" pitchFamily="34" charset="-122"/>
              <a:cs typeface="Calibri" pitchFamily="34" charset="-120"/>
            </a:endParaRPr>
          </a:p>
          <a:p>
            <a:pPr marL="0" indent="0">
              <a:lnSpc>
                <a:spcPct val="115000"/>
              </a:lnSpc>
              <a:buNone/>
            </a:pPr>
            <a:r>
              <a:rPr lang="pt-BR" sz="1600" noProof="0" dirty="0">
                <a:solidFill>
                  <a:srgbClr val="2B2B2E"/>
                </a:solidFill>
                <a:latin typeface="Calibri" pitchFamily="34" charset="0"/>
                <a:ea typeface="Calibri" pitchFamily="34" charset="-122"/>
                <a:cs typeface="Calibri" pitchFamily="34" charset="-120"/>
              </a:rPr>
              <a:t>Se a estrutura interna de um objeto mudar, quantos clientes externos também precisarão mudar?</a:t>
            </a:r>
          </a:p>
        </p:txBody>
      </p:sp>
      <p:pic>
        <p:nvPicPr>
          <p:cNvPr id="76" name="Imagem 75">
            <a:extLst>
              <a:ext uri="{FF2B5EF4-FFF2-40B4-BE49-F238E27FC236}">
                <a16:creationId xmlns:a16="http://schemas.microsoft.com/office/drawing/2014/main" id="{B024D14E-91AD-6574-D37A-3FA3FAD87F21}"/>
              </a:ext>
            </a:extLst>
          </p:cNvPr>
          <p:cNvPicPr>
            <a:picLocks noChangeAspect="1"/>
          </p:cNvPicPr>
          <p:nvPr/>
        </p:nvPicPr>
        <p:blipFill>
          <a:blip r:embed="rId3"/>
          <a:stretch>
            <a:fillRect/>
          </a:stretch>
        </p:blipFill>
        <p:spPr>
          <a:xfrm>
            <a:off x="590931" y="4278528"/>
            <a:ext cx="4935474" cy="11113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7721" y="292608"/>
            <a:ext cx="11155680" cy="566928"/>
          </a:xfrm>
          <a:prstGeom prst="rect">
            <a:avLst/>
          </a:prstGeom>
          <a:noFill/>
          <a:ln/>
        </p:spPr>
        <p:txBody>
          <a:bodyPr wrap="square" lIns="0" tIns="0" rIns="0" bIns="0" rtlCol="0" anchor="t"/>
          <a:lstStyle/>
          <a:p>
            <a:pPr marL="0" indent="0">
              <a:buNone/>
            </a:pPr>
            <a:r>
              <a:rPr lang="pt-BR" sz="2500" b="1" noProof="0" dirty="0">
                <a:solidFill>
                  <a:srgbClr val="1B2A4A"/>
                </a:solidFill>
                <a:latin typeface="Cambria" pitchFamily="34" charset="0"/>
                <a:ea typeface="Cambria" pitchFamily="34" charset="-122"/>
                <a:cs typeface="Cambria" pitchFamily="34" charset="-120"/>
              </a:rPr>
              <a:t>Lei de Demeter: Exemplo e Contrapartidas</a:t>
            </a:r>
            <a:endParaRPr lang="pt-BR" sz="2500" noProof="0" dirty="0"/>
          </a:p>
        </p:txBody>
      </p:sp>
      <p:sp>
        <p:nvSpPr>
          <p:cNvPr id="3" name="Shape 1"/>
          <p:cNvSpPr/>
          <p:nvPr/>
        </p:nvSpPr>
        <p:spPr>
          <a:xfrm>
            <a:off x="502920" y="909828"/>
            <a:ext cx="118872" cy="118872"/>
          </a:xfrm>
          <a:prstGeom prst="rect">
            <a:avLst/>
          </a:prstGeom>
          <a:solidFill>
            <a:srgbClr val="C9A227"/>
          </a:solidFill>
          <a:ln/>
        </p:spPr>
        <p:txBody>
          <a:bodyPr/>
          <a:lstStyle/>
          <a:p>
            <a:endParaRPr lang="pt-BR" noProof="0" dirty="0"/>
          </a:p>
        </p:txBody>
      </p:sp>
      <p:sp>
        <p:nvSpPr>
          <p:cNvPr id="4" name="Text 2"/>
          <p:cNvSpPr/>
          <p:nvPr/>
        </p:nvSpPr>
        <p:spPr>
          <a:xfrm>
            <a:off x="722376" y="841248"/>
            <a:ext cx="1093622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EXEMPLO DE CONHECIMENTO ESTRUTURAL</a:t>
            </a:r>
            <a:endParaRPr lang="pt-BR" sz="1250" noProof="0" dirty="0"/>
          </a:p>
        </p:txBody>
      </p:sp>
      <p:sp>
        <p:nvSpPr>
          <p:cNvPr id="5" name="Text 3"/>
          <p:cNvSpPr/>
          <p:nvPr/>
        </p:nvSpPr>
        <p:spPr>
          <a:xfrm>
            <a:off x="502920" y="1143000"/>
            <a:ext cx="3246120" cy="182880"/>
          </a:xfrm>
          <a:prstGeom prst="rect">
            <a:avLst/>
          </a:prstGeom>
          <a:noFill/>
          <a:ln/>
        </p:spPr>
        <p:txBody>
          <a:bodyPr wrap="square" lIns="0" tIns="0" rIns="0" bIns="0" rtlCol="0" anchor="ctr"/>
          <a:lstStyle/>
          <a:p>
            <a:pPr marL="0" indent="0">
              <a:buNone/>
            </a:pPr>
            <a:r>
              <a:rPr lang="pt-BR" sz="900" b="1" noProof="0" dirty="0">
                <a:solidFill>
                  <a:srgbClr val="1B2A4A"/>
                </a:solidFill>
                <a:latin typeface="Calibri" pitchFamily="34" charset="0"/>
                <a:ea typeface="Calibri" pitchFamily="34" charset="-122"/>
                <a:cs typeface="Calibri" pitchFamily="34" charset="-120"/>
              </a:rPr>
              <a:t>Antes</a:t>
            </a:r>
            <a:endParaRPr lang="pt-BR" sz="900" noProof="0" dirty="0"/>
          </a:p>
        </p:txBody>
      </p:sp>
      <p:sp>
        <p:nvSpPr>
          <p:cNvPr id="6" name="Shape 4"/>
          <p:cNvSpPr/>
          <p:nvPr/>
        </p:nvSpPr>
        <p:spPr>
          <a:xfrm>
            <a:off x="502920" y="1344168"/>
            <a:ext cx="3246120" cy="731520"/>
          </a:xfrm>
          <a:prstGeom prst="roundRect">
            <a:avLst>
              <a:gd name="adj" fmla="val 5625"/>
            </a:avLst>
          </a:prstGeom>
          <a:solidFill>
            <a:srgbClr val="F2F2F3"/>
          </a:solidFill>
          <a:ln w="12700">
            <a:solidFill>
              <a:srgbClr val="D7DAE0"/>
            </a:solidFill>
            <a:prstDash val="solid"/>
          </a:ln>
        </p:spPr>
        <p:txBody>
          <a:bodyPr/>
          <a:lstStyle/>
          <a:p>
            <a:endParaRPr lang="pt-BR" noProof="0" dirty="0"/>
          </a:p>
        </p:txBody>
      </p:sp>
      <p:sp>
        <p:nvSpPr>
          <p:cNvPr id="7" name="Text 5"/>
          <p:cNvSpPr/>
          <p:nvPr/>
        </p:nvSpPr>
        <p:spPr>
          <a:xfrm>
            <a:off x="685800" y="1417320"/>
            <a:ext cx="2880360" cy="585216"/>
          </a:xfrm>
          <a:prstGeom prst="rect">
            <a:avLst/>
          </a:prstGeom>
          <a:noFill/>
          <a:ln/>
        </p:spPr>
        <p:txBody>
          <a:bodyPr wrap="square" lIns="0" tIns="0" rIns="0" bIns="0" rtlCol="0" anchor="t"/>
          <a:lstStyle/>
          <a:p>
            <a:pPr marL="0" indent="0">
              <a:lnSpc>
                <a:spcPct val="118000"/>
              </a:lnSpc>
              <a:buNone/>
            </a:pPr>
            <a:r>
              <a:rPr lang="pt-BR" sz="1100" noProof="0" dirty="0" err="1">
                <a:solidFill>
                  <a:srgbClr val="1B2A4A"/>
                </a:solidFill>
                <a:latin typeface="Courier New" pitchFamily="34" charset="0"/>
                <a:ea typeface="Courier New" pitchFamily="34" charset="-122"/>
                <a:cs typeface="Courier New" pitchFamily="34" charset="-120"/>
              </a:rPr>
              <a:t>pedido.getCliente</a:t>
            </a:r>
            <a:r>
              <a:rPr lang="pt-BR" sz="1100" noProof="0" dirty="0">
                <a:solidFill>
                  <a:srgbClr val="1B2A4A"/>
                </a:solidFill>
                <a:latin typeface="Courier New" pitchFamily="34" charset="0"/>
                <a:ea typeface="Courier New" pitchFamily="34" charset="-122"/>
                <a:cs typeface="Courier New" pitchFamily="34" charset="-120"/>
              </a:rPr>
              <a:t>()</a:t>
            </a:r>
            <a:endParaRPr lang="pt-BR" sz="1100" noProof="0" dirty="0"/>
          </a:p>
          <a:p>
            <a:pPr marL="0" indent="0">
              <a:lnSpc>
                <a:spcPct val="118000"/>
              </a:lnSpc>
              <a:buNone/>
            </a:pPr>
            <a:r>
              <a:rPr lang="pt-BR" sz="1100" noProof="0" dirty="0">
                <a:solidFill>
                  <a:srgbClr val="1B2A4A"/>
                </a:solidFill>
                <a:latin typeface="Courier New" pitchFamily="34" charset="0"/>
                <a:ea typeface="Courier New" pitchFamily="34" charset="-122"/>
                <a:cs typeface="Courier New" pitchFamily="34" charset="-120"/>
              </a:rPr>
              <a:t>      .</a:t>
            </a:r>
            <a:r>
              <a:rPr lang="pt-BR" sz="1100" noProof="0" dirty="0" err="1">
                <a:solidFill>
                  <a:srgbClr val="1B2A4A"/>
                </a:solidFill>
                <a:latin typeface="Courier New" pitchFamily="34" charset="0"/>
                <a:ea typeface="Courier New" pitchFamily="34" charset="-122"/>
                <a:cs typeface="Courier New" pitchFamily="34" charset="-120"/>
              </a:rPr>
              <a:t>getEndereco</a:t>
            </a:r>
            <a:r>
              <a:rPr lang="pt-BR" sz="1100" noProof="0" dirty="0">
                <a:solidFill>
                  <a:srgbClr val="1B2A4A"/>
                </a:solidFill>
                <a:latin typeface="Courier New" pitchFamily="34" charset="0"/>
                <a:ea typeface="Courier New" pitchFamily="34" charset="-122"/>
                <a:cs typeface="Courier New" pitchFamily="34" charset="-120"/>
              </a:rPr>
              <a:t>()</a:t>
            </a:r>
            <a:endParaRPr lang="pt-BR" sz="1100" noProof="0" dirty="0"/>
          </a:p>
          <a:p>
            <a:pPr marL="0" indent="0">
              <a:lnSpc>
                <a:spcPct val="118000"/>
              </a:lnSpc>
              <a:buNone/>
            </a:pPr>
            <a:r>
              <a:rPr lang="pt-BR" sz="1100" noProof="0" dirty="0">
                <a:solidFill>
                  <a:srgbClr val="1B2A4A"/>
                </a:solidFill>
                <a:latin typeface="Courier New" pitchFamily="34" charset="0"/>
                <a:ea typeface="Courier New" pitchFamily="34" charset="-122"/>
                <a:cs typeface="Courier New" pitchFamily="34" charset="-120"/>
              </a:rPr>
              <a:t>      .</a:t>
            </a:r>
            <a:r>
              <a:rPr lang="pt-BR" sz="1100" noProof="0" dirty="0" err="1">
                <a:solidFill>
                  <a:srgbClr val="1B2A4A"/>
                </a:solidFill>
                <a:latin typeface="Courier New" pitchFamily="34" charset="0"/>
                <a:ea typeface="Courier New" pitchFamily="34" charset="-122"/>
                <a:cs typeface="Courier New" pitchFamily="34" charset="-120"/>
              </a:rPr>
              <a:t>getCidade</a:t>
            </a:r>
            <a:r>
              <a:rPr lang="pt-BR" sz="1100" noProof="0" dirty="0">
                <a:solidFill>
                  <a:srgbClr val="1B2A4A"/>
                </a:solidFill>
                <a:latin typeface="Courier New" pitchFamily="34" charset="0"/>
                <a:ea typeface="Courier New" pitchFamily="34" charset="-122"/>
                <a:cs typeface="Courier New" pitchFamily="34" charset="-120"/>
              </a:rPr>
              <a:t>();</a:t>
            </a:r>
            <a:endParaRPr lang="pt-BR" sz="1100" noProof="0" dirty="0"/>
          </a:p>
        </p:txBody>
      </p:sp>
      <p:sp>
        <p:nvSpPr>
          <p:cNvPr id="8" name="Text 6"/>
          <p:cNvSpPr/>
          <p:nvPr/>
        </p:nvSpPr>
        <p:spPr>
          <a:xfrm>
            <a:off x="4617720" y="1289304"/>
            <a:ext cx="3383280" cy="886968"/>
          </a:xfrm>
          <a:prstGeom prst="rect">
            <a:avLst/>
          </a:prstGeom>
          <a:noFill/>
          <a:ln/>
        </p:spPr>
        <p:txBody>
          <a:bodyPr wrap="square" lIns="0" tIns="0" rIns="0" bIns="0" rtlCol="0" anchor="t"/>
          <a:lstStyle/>
          <a:p>
            <a:pPr marL="177800" indent="-177800">
              <a:lnSpc>
                <a:spcPct val="106000"/>
              </a:lnSpc>
              <a:spcAft>
                <a:spcPts val="200"/>
              </a:spcAft>
              <a:buSzPct val="100000"/>
              <a:buChar char="▪"/>
            </a:pPr>
            <a:r>
              <a:rPr lang="pt-BR" sz="1100" i="1" dirty="0">
                <a:solidFill>
                  <a:srgbClr val="6B7280"/>
                </a:solidFill>
                <a:latin typeface="Calibri" pitchFamily="34" charset="0"/>
                <a:ea typeface="Calibri" pitchFamily="34" charset="-122"/>
                <a:cs typeface="Calibri" pitchFamily="34" charset="-120"/>
              </a:rPr>
              <a:t>O pedido possui um cliente</a:t>
            </a:r>
          </a:p>
          <a:p>
            <a:pPr marL="177800" indent="-177800">
              <a:lnSpc>
                <a:spcPct val="106000"/>
              </a:lnSpc>
              <a:spcAft>
                <a:spcPts val="200"/>
              </a:spcAft>
              <a:buSzPct val="100000"/>
              <a:buChar char="▪"/>
            </a:pPr>
            <a:r>
              <a:rPr lang="pt-BR" sz="1100" i="1" dirty="0">
                <a:solidFill>
                  <a:srgbClr val="6B7280"/>
                </a:solidFill>
                <a:latin typeface="Calibri" pitchFamily="34" charset="0"/>
                <a:ea typeface="Calibri" pitchFamily="34" charset="-122"/>
                <a:cs typeface="Calibri" pitchFamily="34" charset="-120"/>
              </a:rPr>
              <a:t>O cliente possui um endereço</a:t>
            </a:r>
          </a:p>
          <a:p>
            <a:pPr marL="177800" indent="-177800">
              <a:lnSpc>
                <a:spcPct val="106000"/>
              </a:lnSpc>
              <a:spcAft>
                <a:spcPts val="200"/>
              </a:spcAft>
              <a:buSzPct val="100000"/>
              <a:buChar char="▪"/>
            </a:pPr>
            <a:r>
              <a:rPr lang="pt-BR" sz="1100" i="1" dirty="0">
                <a:solidFill>
                  <a:srgbClr val="6B7280"/>
                </a:solidFill>
                <a:latin typeface="Calibri" pitchFamily="34" charset="0"/>
                <a:ea typeface="Calibri" pitchFamily="34" charset="-122"/>
                <a:cs typeface="Calibri" pitchFamily="34" charset="-120"/>
              </a:rPr>
              <a:t>O endereço possui uma cidade</a:t>
            </a:r>
          </a:p>
          <a:p>
            <a:pPr marL="177800" indent="-177800">
              <a:lnSpc>
                <a:spcPct val="106000"/>
              </a:lnSpc>
              <a:spcAft>
                <a:spcPts val="200"/>
              </a:spcAft>
              <a:buSzPct val="100000"/>
              <a:buChar char="▪"/>
            </a:pPr>
            <a:r>
              <a:rPr lang="pt-BR" sz="1100" i="1" dirty="0">
                <a:solidFill>
                  <a:srgbClr val="6B7280"/>
                </a:solidFill>
                <a:latin typeface="Calibri" pitchFamily="34" charset="0"/>
                <a:ea typeface="Calibri" pitchFamily="34" charset="-122"/>
                <a:cs typeface="Calibri" pitchFamily="34" charset="-120"/>
              </a:rPr>
              <a:t>Todos os intermediários estão disponíveis</a:t>
            </a:r>
          </a:p>
        </p:txBody>
      </p:sp>
      <p:sp>
        <p:nvSpPr>
          <p:cNvPr id="9" name="Text 7"/>
          <p:cNvSpPr/>
          <p:nvPr/>
        </p:nvSpPr>
        <p:spPr>
          <a:xfrm>
            <a:off x="7498080" y="1143000"/>
            <a:ext cx="4160520" cy="182880"/>
          </a:xfrm>
          <a:prstGeom prst="rect">
            <a:avLst/>
          </a:prstGeom>
          <a:noFill/>
          <a:ln/>
        </p:spPr>
        <p:txBody>
          <a:bodyPr wrap="square" lIns="0" tIns="0" rIns="0" bIns="0" rtlCol="0" anchor="ctr"/>
          <a:lstStyle/>
          <a:p>
            <a:pPr marL="0" indent="0">
              <a:buNone/>
            </a:pPr>
            <a:r>
              <a:rPr lang="pt-BR" sz="900" b="1" noProof="0" dirty="0">
                <a:solidFill>
                  <a:srgbClr val="1B2A4A"/>
                </a:solidFill>
                <a:latin typeface="Calibri" pitchFamily="34" charset="0"/>
                <a:ea typeface="Calibri" pitchFamily="34" charset="-122"/>
                <a:cs typeface="Calibri" pitchFamily="34" charset="-120"/>
              </a:rPr>
              <a:t>Depois</a:t>
            </a:r>
            <a:endParaRPr lang="pt-BR" sz="900" noProof="0" dirty="0"/>
          </a:p>
        </p:txBody>
      </p:sp>
      <p:sp>
        <p:nvSpPr>
          <p:cNvPr id="10" name="Shape 8"/>
          <p:cNvSpPr/>
          <p:nvPr/>
        </p:nvSpPr>
        <p:spPr>
          <a:xfrm>
            <a:off x="7498080" y="1344168"/>
            <a:ext cx="4160520" cy="420624"/>
          </a:xfrm>
          <a:prstGeom prst="roundRect">
            <a:avLst>
              <a:gd name="adj" fmla="val 9783"/>
            </a:avLst>
          </a:prstGeom>
          <a:solidFill>
            <a:srgbClr val="F2F2F3"/>
          </a:solidFill>
          <a:ln w="12700">
            <a:solidFill>
              <a:srgbClr val="D7DAE0"/>
            </a:solidFill>
            <a:prstDash val="solid"/>
          </a:ln>
        </p:spPr>
        <p:txBody>
          <a:bodyPr/>
          <a:lstStyle/>
          <a:p>
            <a:endParaRPr lang="pt-BR" noProof="0" dirty="0"/>
          </a:p>
        </p:txBody>
      </p:sp>
      <p:sp>
        <p:nvSpPr>
          <p:cNvPr id="11" name="Text 9"/>
          <p:cNvSpPr/>
          <p:nvPr/>
        </p:nvSpPr>
        <p:spPr>
          <a:xfrm>
            <a:off x="7680960" y="1417320"/>
            <a:ext cx="3794760" cy="274320"/>
          </a:xfrm>
          <a:prstGeom prst="rect">
            <a:avLst/>
          </a:prstGeom>
          <a:noFill/>
          <a:ln/>
        </p:spPr>
        <p:txBody>
          <a:bodyPr wrap="square" lIns="0" tIns="0" rIns="0" bIns="0" rtlCol="0" anchor="t"/>
          <a:lstStyle/>
          <a:p>
            <a:pPr>
              <a:lnSpc>
                <a:spcPct val="118000"/>
              </a:lnSpc>
            </a:pPr>
            <a:r>
              <a:rPr lang="pt-BR" sz="1100" dirty="0" err="1">
                <a:solidFill>
                  <a:srgbClr val="1B2A4A"/>
                </a:solidFill>
                <a:latin typeface="Courier New" pitchFamily="34" charset="0"/>
                <a:cs typeface="Courier New" pitchFamily="34" charset="-120"/>
              </a:rPr>
              <a:t>pedido.consultarCidadeDeEntrega</a:t>
            </a:r>
            <a:r>
              <a:rPr lang="pt-BR" sz="1100" dirty="0">
                <a:solidFill>
                  <a:srgbClr val="1B2A4A"/>
                </a:solidFill>
                <a:latin typeface="Courier New" pitchFamily="34" charset="0"/>
                <a:cs typeface="Courier New" pitchFamily="34" charset="-120"/>
              </a:rPr>
              <a:t>();</a:t>
            </a:r>
          </a:p>
        </p:txBody>
      </p:sp>
      <p:sp>
        <p:nvSpPr>
          <p:cNvPr id="12" name="Text 10"/>
          <p:cNvSpPr/>
          <p:nvPr/>
        </p:nvSpPr>
        <p:spPr>
          <a:xfrm>
            <a:off x="7498080" y="1828800"/>
            <a:ext cx="4160520" cy="402336"/>
          </a:xfrm>
          <a:prstGeom prst="rect">
            <a:avLst/>
          </a:prstGeom>
          <a:noFill/>
          <a:ln/>
        </p:spPr>
        <p:txBody>
          <a:bodyPr wrap="square" lIns="0" tIns="0" rIns="0" bIns="0" rtlCol="0" anchor="ctr"/>
          <a:lstStyle/>
          <a:p>
            <a:pPr marL="0" indent="0">
              <a:lnSpc>
                <a:spcPct val="105000"/>
              </a:lnSpc>
              <a:buNone/>
            </a:pPr>
            <a:r>
              <a:rPr lang="pt-BR" sz="1100" i="1" noProof="0" dirty="0">
                <a:solidFill>
                  <a:srgbClr val="6B7280"/>
                </a:solidFill>
                <a:latin typeface="Calibri" pitchFamily="34" charset="0"/>
                <a:ea typeface="Calibri" pitchFamily="34" charset="-122"/>
                <a:cs typeface="Calibri" pitchFamily="34" charset="-120"/>
              </a:rPr>
              <a:t>O cliente solicita uma informação significativa sem conhecer o caminho interno utilizado para obtê-la.</a:t>
            </a:r>
            <a:endParaRPr lang="pt-BR" sz="1100" noProof="0" dirty="0"/>
          </a:p>
        </p:txBody>
      </p:sp>
      <p:sp>
        <p:nvSpPr>
          <p:cNvPr id="13" name="Shape 11"/>
          <p:cNvSpPr/>
          <p:nvPr/>
        </p:nvSpPr>
        <p:spPr>
          <a:xfrm>
            <a:off x="457200" y="2581402"/>
            <a:ext cx="118872" cy="118872"/>
          </a:xfrm>
          <a:prstGeom prst="rect">
            <a:avLst/>
          </a:prstGeom>
          <a:solidFill>
            <a:srgbClr val="C9A227"/>
          </a:solidFill>
          <a:ln/>
        </p:spPr>
        <p:txBody>
          <a:bodyPr/>
          <a:lstStyle/>
          <a:p>
            <a:endParaRPr lang="pt-BR" noProof="0" dirty="0"/>
          </a:p>
        </p:txBody>
      </p:sp>
      <p:sp>
        <p:nvSpPr>
          <p:cNvPr id="14" name="Text 12"/>
          <p:cNvSpPr/>
          <p:nvPr/>
        </p:nvSpPr>
        <p:spPr>
          <a:xfrm>
            <a:off x="676656" y="2512822"/>
            <a:ext cx="1093622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EXEMPLO DO JORNALEIRO E DA CARTEIRA</a:t>
            </a:r>
            <a:endParaRPr lang="pt-BR" sz="1250" noProof="0" dirty="0"/>
          </a:p>
        </p:txBody>
      </p:sp>
      <p:sp>
        <p:nvSpPr>
          <p:cNvPr id="15" name="Shape 13"/>
          <p:cNvSpPr/>
          <p:nvPr/>
        </p:nvSpPr>
        <p:spPr>
          <a:xfrm>
            <a:off x="457200" y="2944960"/>
            <a:ext cx="5394960" cy="594360"/>
          </a:xfrm>
          <a:prstGeom prst="roundRect">
            <a:avLst>
              <a:gd name="adj" fmla="val 7692"/>
            </a:avLst>
          </a:prstGeom>
          <a:solidFill>
            <a:srgbClr val="F6F5EF"/>
          </a:solidFill>
          <a:ln w="12700">
            <a:solidFill>
              <a:srgbClr val="C9CDD6"/>
            </a:solidFill>
            <a:prstDash val="solid"/>
          </a:ln>
        </p:spPr>
        <p:txBody>
          <a:bodyPr/>
          <a:lstStyle/>
          <a:p>
            <a:endParaRPr lang="pt-BR" noProof="0" dirty="0"/>
          </a:p>
        </p:txBody>
      </p:sp>
      <p:sp>
        <p:nvSpPr>
          <p:cNvPr id="16" name="Text 14"/>
          <p:cNvSpPr/>
          <p:nvPr/>
        </p:nvSpPr>
        <p:spPr>
          <a:xfrm>
            <a:off x="587924" y="2944960"/>
            <a:ext cx="5230368" cy="594360"/>
          </a:xfrm>
          <a:prstGeom prst="rect">
            <a:avLst/>
          </a:prstGeom>
          <a:noFill/>
          <a:ln/>
        </p:spPr>
        <p:txBody>
          <a:bodyPr wrap="square" lIns="0" tIns="0" rIns="0" bIns="0" rtlCol="0" anchor="ctr"/>
          <a:lstStyle/>
          <a:p>
            <a:pPr marL="0" indent="0">
              <a:lnSpc>
                <a:spcPct val="108000"/>
              </a:lnSpc>
              <a:buNone/>
            </a:pPr>
            <a:r>
              <a:rPr lang="pt-BR" sz="1300" b="1" noProof="0" dirty="0">
                <a:solidFill>
                  <a:srgbClr val="1B2A4A"/>
                </a:solidFill>
                <a:latin typeface="Calibri" pitchFamily="34" charset="0"/>
                <a:ea typeface="Calibri" pitchFamily="34" charset="-122"/>
                <a:cs typeface="Calibri" pitchFamily="34" charset="-120"/>
              </a:rPr>
              <a:t>Antes: </a:t>
            </a:r>
            <a:r>
              <a:rPr lang="pt-BR" sz="1300" noProof="0" dirty="0">
                <a:solidFill>
                  <a:srgbClr val="2B2B2E"/>
                </a:solidFill>
                <a:latin typeface="Calibri" pitchFamily="34" charset="0"/>
                <a:ea typeface="Calibri" pitchFamily="34" charset="-122"/>
                <a:cs typeface="Calibri" pitchFamily="34" charset="-120"/>
              </a:rPr>
              <a:t>o jornaleiro pega a carteira do cliente, consulta o saldo e retira o valor.</a:t>
            </a:r>
            <a:endParaRPr lang="pt-BR" sz="1300" noProof="0" dirty="0"/>
          </a:p>
        </p:txBody>
      </p:sp>
      <p:sp>
        <p:nvSpPr>
          <p:cNvPr id="17" name="Text 15"/>
          <p:cNvSpPr/>
          <p:nvPr/>
        </p:nvSpPr>
        <p:spPr>
          <a:xfrm>
            <a:off x="6126480" y="2944960"/>
            <a:ext cx="2743200" cy="182880"/>
          </a:xfrm>
          <a:prstGeom prst="rect">
            <a:avLst/>
          </a:prstGeom>
          <a:noFill/>
          <a:ln/>
        </p:spPr>
        <p:txBody>
          <a:bodyPr wrap="square" lIns="0" tIns="0" rIns="0" bIns="0" rtlCol="0" anchor="ctr"/>
          <a:lstStyle/>
          <a:p>
            <a:pPr marL="0" indent="0">
              <a:buNone/>
            </a:pPr>
            <a:r>
              <a:rPr lang="pt-BR" sz="900" b="1" noProof="0" dirty="0">
                <a:solidFill>
                  <a:srgbClr val="1B2A4A"/>
                </a:solidFill>
                <a:latin typeface="Calibri" pitchFamily="34" charset="0"/>
                <a:ea typeface="Calibri" pitchFamily="34" charset="-122"/>
                <a:cs typeface="Calibri" pitchFamily="34" charset="-120"/>
              </a:rPr>
              <a:t>Depois</a:t>
            </a:r>
            <a:endParaRPr lang="pt-BR" sz="900" noProof="0" dirty="0"/>
          </a:p>
        </p:txBody>
      </p:sp>
      <p:sp>
        <p:nvSpPr>
          <p:cNvPr id="18" name="Shape 16"/>
          <p:cNvSpPr/>
          <p:nvPr/>
        </p:nvSpPr>
        <p:spPr>
          <a:xfrm>
            <a:off x="6126480" y="3146128"/>
            <a:ext cx="2921000" cy="393192"/>
          </a:xfrm>
          <a:prstGeom prst="roundRect">
            <a:avLst>
              <a:gd name="adj" fmla="val 10465"/>
            </a:avLst>
          </a:prstGeom>
          <a:solidFill>
            <a:srgbClr val="F2F2F3"/>
          </a:solidFill>
          <a:ln w="12700">
            <a:solidFill>
              <a:srgbClr val="D7DAE0"/>
            </a:solidFill>
            <a:prstDash val="solid"/>
          </a:ln>
        </p:spPr>
        <p:txBody>
          <a:bodyPr/>
          <a:lstStyle/>
          <a:p>
            <a:endParaRPr lang="pt-BR" noProof="0" dirty="0"/>
          </a:p>
        </p:txBody>
      </p:sp>
      <p:sp>
        <p:nvSpPr>
          <p:cNvPr id="19" name="Text 17"/>
          <p:cNvSpPr/>
          <p:nvPr/>
        </p:nvSpPr>
        <p:spPr>
          <a:xfrm>
            <a:off x="6309360" y="3219280"/>
            <a:ext cx="2377440" cy="246888"/>
          </a:xfrm>
          <a:prstGeom prst="rect">
            <a:avLst/>
          </a:prstGeom>
          <a:noFill/>
          <a:ln/>
        </p:spPr>
        <p:txBody>
          <a:bodyPr wrap="square" lIns="0" tIns="0" rIns="0" bIns="0" rtlCol="0" anchor="ctr"/>
          <a:lstStyle/>
          <a:p>
            <a:pPr marL="0" indent="0">
              <a:lnSpc>
                <a:spcPct val="118000"/>
              </a:lnSpc>
              <a:buNone/>
            </a:pPr>
            <a:r>
              <a:rPr lang="pt-BR" sz="1300" dirty="0" err="1">
                <a:solidFill>
                  <a:srgbClr val="1B2A4A"/>
                </a:solidFill>
                <a:latin typeface="Courier New" pitchFamily="34" charset="0"/>
                <a:cs typeface="Courier New" pitchFamily="34" charset="-120"/>
              </a:rPr>
              <a:t>cliente.pagar</a:t>
            </a:r>
            <a:r>
              <a:rPr lang="pt-BR" sz="1300" dirty="0">
                <a:solidFill>
                  <a:srgbClr val="1B2A4A"/>
                </a:solidFill>
                <a:latin typeface="Courier New" pitchFamily="34" charset="0"/>
                <a:cs typeface="Courier New" pitchFamily="34" charset="-120"/>
              </a:rPr>
              <a:t>(valor);</a:t>
            </a:r>
          </a:p>
        </p:txBody>
      </p:sp>
      <p:sp>
        <p:nvSpPr>
          <p:cNvPr id="20" name="Text 18"/>
          <p:cNvSpPr/>
          <p:nvPr/>
        </p:nvSpPr>
        <p:spPr>
          <a:xfrm>
            <a:off x="9187180" y="3054519"/>
            <a:ext cx="2606040" cy="594360"/>
          </a:xfrm>
          <a:prstGeom prst="rect">
            <a:avLst/>
          </a:prstGeom>
          <a:noFill/>
          <a:ln/>
        </p:spPr>
        <p:txBody>
          <a:bodyPr wrap="square" lIns="0" tIns="0" rIns="0" bIns="0" rtlCol="0" anchor="ctr"/>
          <a:lstStyle/>
          <a:p>
            <a:pPr marL="0" indent="0">
              <a:lnSpc>
                <a:spcPct val="105000"/>
              </a:lnSpc>
              <a:buNone/>
            </a:pPr>
            <a:r>
              <a:rPr lang="pt-BR" sz="1000" i="1" noProof="0" dirty="0">
                <a:solidFill>
                  <a:srgbClr val="6B7280"/>
                </a:solidFill>
                <a:latin typeface="Calibri" pitchFamily="34" charset="0"/>
                <a:ea typeface="Calibri" pitchFamily="34" charset="-122"/>
                <a:cs typeface="Calibri" pitchFamily="34" charset="-120"/>
              </a:rPr>
              <a:t>O cliente decide como realizará o pagamento.</a:t>
            </a:r>
            <a:endParaRPr lang="pt-BR" sz="1000" noProof="0" dirty="0"/>
          </a:p>
        </p:txBody>
      </p:sp>
      <p:sp>
        <p:nvSpPr>
          <p:cNvPr id="30" name="Shape 28"/>
          <p:cNvSpPr/>
          <p:nvPr/>
        </p:nvSpPr>
        <p:spPr>
          <a:xfrm>
            <a:off x="502920" y="4220295"/>
            <a:ext cx="118872" cy="118872"/>
          </a:xfrm>
          <a:prstGeom prst="rect">
            <a:avLst/>
          </a:prstGeom>
          <a:solidFill>
            <a:srgbClr val="C9A227"/>
          </a:solidFill>
          <a:ln/>
        </p:spPr>
        <p:txBody>
          <a:bodyPr/>
          <a:lstStyle/>
          <a:p>
            <a:endParaRPr lang="pt-BR" noProof="0" dirty="0"/>
          </a:p>
        </p:txBody>
      </p:sp>
      <p:sp>
        <p:nvSpPr>
          <p:cNvPr id="31" name="Text 29"/>
          <p:cNvSpPr/>
          <p:nvPr/>
        </p:nvSpPr>
        <p:spPr>
          <a:xfrm>
            <a:off x="722376" y="4151715"/>
            <a:ext cx="563270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CONTRAPARTIDAS</a:t>
            </a:r>
            <a:endParaRPr lang="pt-BR" sz="1250" noProof="0" dirty="0"/>
          </a:p>
        </p:txBody>
      </p:sp>
      <p:sp>
        <p:nvSpPr>
          <p:cNvPr id="32" name="Text 30"/>
          <p:cNvSpPr/>
          <p:nvPr/>
        </p:nvSpPr>
        <p:spPr>
          <a:xfrm>
            <a:off x="502920" y="4490043"/>
            <a:ext cx="5760720" cy="914400"/>
          </a:xfrm>
          <a:prstGeom prst="rect">
            <a:avLst/>
          </a:prstGeom>
          <a:noFill/>
          <a:ln/>
        </p:spPr>
        <p:txBody>
          <a:bodyPr wrap="square" lIns="0" tIns="0" rIns="0" bIns="0" rtlCol="0" anchor="t"/>
          <a:lstStyle/>
          <a:p>
            <a:pPr marL="177800" indent="-177800">
              <a:lnSpc>
                <a:spcPct val="106000"/>
              </a:lnSpc>
              <a:spcAft>
                <a:spcPts val="150"/>
              </a:spcAft>
              <a:buSzPct val="100000"/>
              <a:buChar char="▪"/>
            </a:pPr>
            <a:r>
              <a:rPr lang="pt-BR" sz="1400" noProof="0" dirty="0">
                <a:solidFill>
                  <a:srgbClr val="2B2B2E"/>
                </a:solidFill>
                <a:latin typeface="Calibri" pitchFamily="34" charset="0"/>
                <a:ea typeface="Calibri" pitchFamily="34" charset="-122"/>
                <a:cs typeface="Calibri" pitchFamily="34" charset="-120"/>
              </a:rPr>
              <a:t>Métodos que apenas repassam chamadas</a:t>
            </a:r>
            <a:endParaRPr lang="pt-BR" sz="1400" noProof="0" dirty="0"/>
          </a:p>
          <a:p>
            <a:pPr marL="177800" indent="-177800">
              <a:lnSpc>
                <a:spcPct val="106000"/>
              </a:lnSpc>
              <a:spcAft>
                <a:spcPts val="150"/>
              </a:spcAft>
              <a:buSzPct val="100000"/>
              <a:buChar char="▪"/>
            </a:pPr>
            <a:r>
              <a:rPr lang="pt-BR" sz="1400" noProof="0" dirty="0">
                <a:solidFill>
                  <a:srgbClr val="2B2B2E"/>
                </a:solidFill>
                <a:latin typeface="Calibri" pitchFamily="34" charset="0"/>
                <a:ea typeface="Calibri" pitchFamily="34" charset="-122"/>
                <a:cs typeface="Calibri" pitchFamily="34" charset="-120"/>
              </a:rPr>
              <a:t>Interfaces inchadas</a:t>
            </a:r>
            <a:endParaRPr lang="pt-BR" sz="1400" noProof="0" dirty="0"/>
          </a:p>
          <a:p>
            <a:pPr marL="177800" indent="-177800">
              <a:lnSpc>
                <a:spcPct val="106000"/>
              </a:lnSpc>
              <a:spcAft>
                <a:spcPts val="150"/>
              </a:spcAft>
              <a:buSzPct val="100000"/>
              <a:buChar char="▪"/>
            </a:pPr>
            <a:r>
              <a:rPr lang="pt-BR" sz="1400" noProof="0" dirty="0">
                <a:solidFill>
                  <a:srgbClr val="2B2B2E"/>
                </a:solidFill>
                <a:latin typeface="Calibri" pitchFamily="34" charset="0"/>
                <a:ea typeface="Calibri" pitchFamily="34" charset="-122"/>
                <a:cs typeface="Calibri" pitchFamily="34" charset="-120"/>
              </a:rPr>
              <a:t>Intermediários sem responsabilidade</a:t>
            </a:r>
            <a:endParaRPr lang="pt-BR" sz="1400" noProof="0" dirty="0"/>
          </a:p>
          <a:p>
            <a:pPr marL="177800" indent="-177800">
              <a:lnSpc>
                <a:spcPct val="106000"/>
              </a:lnSpc>
              <a:spcAft>
                <a:spcPts val="150"/>
              </a:spcAft>
              <a:buSzPct val="100000"/>
              <a:buChar char="▪"/>
            </a:pPr>
            <a:r>
              <a:rPr lang="pt-BR" sz="1400" noProof="0" dirty="0">
                <a:solidFill>
                  <a:srgbClr val="2B2B2E"/>
                </a:solidFill>
                <a:latin typeface="Calibri" pitchFamily="34" charset="0"/>
                <a:ea typeface="Calibri" pitchFamily="34" charset="-122"/>
                <a:cs typeface="Calibri" pitchFamily="34" charset="-120"/>
              </a:rPr>
              <a:t>Perda de clareza</a:t>
            </a:r>
            <a:endParaRPr lang="pt-BR" sz="1400" noProof="0" dirty="0"/>
          </a:p>
          <a:p>
            <a:pPr marL="177800" indent="-177800">
              <a:lnSpc>
                <a:spcPct val="106000"/>
              </a:lnSpc>
              <a:spcAft>
                <a:spcPts val="150"/>
              </a:spcAft>
              <a:buSzPct val="100000"/>
              <a:buChar char="▪"/>
            </a:pPr>
            <a:r>
              <a:rPr lang="pt-BR" sz="1400" noProof="0" dirty="0">
                <a:solidFill>
                  <a:srgbClr val="2B2B2E"/>
                </a:solidFill>
                <a:latin typeface="Calibri" pitchFamily="34" charset="0"/>
                <a:ea typeface="Calibri" pitchFamily="34" charset="-122"/>
                <a:cs typeface="Calibri" pitchFamily="34" charset="-120"/>
              </a:rPr>
              <a:t>Delegações artificiais</a:t>
            </a:r>
            <a:endParaRPr lang="pt-BR" sz="1400" noProof="0" dirty="0"/>
          </a:p>
        </p:txBody>
      </p:sp>
      <p:sp>
        <p:nvSpPr>
          <p:cNvPr id="33" name="Shape 31"/>
          <p:cNvSpPr/>
          <p:nvPr/>
        </p:nvSpPr>
        <p:spPr>
          <a:xfrm>
            <a:off x="6492240" y="4120303"/>
            <a:ext cx="5212080" cy="1884511"/>
          </a:xfrm>
          <a:prstGeom prst="roundRect">
            <a:avLst>
              <a:gd name="adj" fmla="val 3479"/>
            </a:avLst>
          </a:prstGeom>
          <a:solidFill>
            <a:srgbClr val="FFFFFF"/>
          </a:solidFill>
          <a:ln w="13970">
            <a:solidFill>
              <a:srgbClr val="1B2A4A"/>
            </a:solidFill>
            <a:prstDash val="solid"/>
          </a:ln>
        </p:spPr>
        <p:txBody>
          <a:bodyPr/>
          <a:lstStyle/>
          <a:p>
            <a:endParaRPr lang="pt-BR" noProof="0" dirty="0"/>
          </a:p>
        </p:txBody>
      </p:sp>
      <p:sp>
        <p:nvSpPr>
          <p:cNvPr id="34" name="Shape 32"/>
          <p:cNvSpPr/>
          <p:nvPr/>
        </p:nvSpPr>
        <p:spPr>
          <a:xfrm>
            <a:off x="6656832" y="4280324"/>
            <a:ext cx="118872" cy="118872"/>
          </a:xfrm>
          <a:prstGeom prst="rect">
            <a:avLst/>
          </a:prstGeom>
          <a:solidFill>
            <a:srgbClr val="C9A227"/>
          </a:solidFill>
          <a:ln/>
        </p:spPr>
        <p:txBody>
          <a:bodyPr/>
          <a:lstStyle/>
          <a:p>
            <a:endParaRPr lang="pt-BR" noProof="0" dirty="0"/>
          </a:p>
        </p:txBody>
      </p:sp>
      <p:sp>
        <p:nvSpPr>
          <p:cNvPr id="35" name="Text 33"/>
          <p:cNvSpPr/>
          <p:nvPr/>
        </p:nvSpPr>
        <p:spPr>
          <a:xfrm>
            <a:off x="6876288" y="4211744"/>
            <a:ext cx="4663440"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PERGUNTAS PARA ANÁLISE</a:t>
            </a:r>
            <a:endParaRPr lang="pt-BR" sz="1250" noProof="0" dirty="0"/>
          </a:p>
        </p:txBody>
      </p:sp>
      <p:sp>
        <p:nvSpPr>
          <p:cNvPr id="36" name="Text 34"/>
          <p:cNvSpPr/>
          <p:nvPr/>
        </p:nvSpPr>
        <p:spPr>
          <a:xfrm>
            <a:off x="6656832" y="4559216"/>
            <a:ext cx="4882896" cy="765556"/>
          </a:xfrm>
          <a:prstGeom prst="rect">
            <a:avLst/>
          </a:prstGeom>
          <a:noFill/>
          <a:ln/>
        </p:spPr>
        <p:txBody>
          <a:bodyPr wrap="square" lIns="0" tIns="0" rIns="0" bIns="0" rtlCol="0" anchor="t"/>
          <a:lstStyle/>
          <a:p>
            <a:pPr marL="177800" indent="-177800">
              <a:lnSpc>
                <a:spcPct val="106000"/>
              </a:lnSpc>
              <a:spcAft>
                <a:spcPts val="150"/>
              </a:spcAft>
              <a:buSzPct val="100000"/>
              <a:buChar char="▪"/>
            </a:pPr>
            <a:r>
              <a:rPr lang="pt-BR" sz="1400" i="1" noProof="0" dirty="0">
                <a:solidFill>
                  <a:srgbClr val="1B2A4A"/>
                </a:solidFill>
                <a:latin typeface="Calibri" pitchFamily="34" charset="0"/>
                <a:ea typeface="Calibri" pitchFamily="34" charset="-122"/>
                <a:cs typeface="Calibri" pitchFamily="34" charset="-120"/>
              </a:rPr>
              <a:t>O cliente conhece um detalhe interno?</a:t>
            </a:r>
            <a:endParaRPr lang="pt-BR" sz="1400" noProof="0" dirty="0"/>
          </a:p>
          <a:p>
            <a:pPr marL="177800" indent="-177800">
              <a:lnSpc>
                <a:spcPct val="106000"/>
              </a:lnSpc>
              <a:spcAft>
                <a:spcPts val="150"/>
              </a:spcAft>
              <a:buSzPct val="100000"/>
              <a:buChar char="▪"/>
            </a:pPr>
            <a:r>
              <a:rPr lang="pt-BR" sz="1400" i="1" noProof="0" dirty="0">
                <a:solidFill>
                  <a:srgbClr val="1B2A4A"/>
                </a:solidFill>
                <a:latin typeface="Calibri" pitchFamily="34" charset="0"/>
                <a:ea typeface="Calibri" pitchFamily="34" charset="-122"/>
                <a:cs typeface="Calibri" pitchFamily="34" charset="-120"/>
              </a:rPr>
              <a:t>A estrutura intermediária pode mudar?</a:t>
            </a:r>
            <a:endParaRPr lang="pt-BR" sz="1400" noProof="0" dirty="0"/>
          </a:p>
          <a:p>
            <a:pPr marL="177800" indent="-177800">
              <a:lnSpc>
                <a:spcPct val="106000"/>
              </a:lnSpc>
              <a:spcAft>
                <a:spcPts val="150"/>
              </a:spcAft>
              <a:buSzPct val="100000"/>
              <a:buChar char="▪"/>
            </a:pPr>
            <a:r>
              <a:rPr lang="pt-BR" sz="1400" i="1" noProof="0" dirty="0">
                <a:solidFill>
                  <a:srgbClr val="1B2A4A"/>
                </a:solidFill>
                <a:latin typeface="Calibri" pitchFamily="34" charset="0"/>
                <a:ea typeface="Calibri" pitchFamily="34" charset="-122"/>
                <a:cs typeface="Calibri" pitchFamily="34" charset="-120"/>
              </a:rPr>
              <a:t>Vários clientes repetem a navegação?</a:t>
            </a:r>
            <a:endParaRPr lang="pt-BR" sz="1400" noProof="0" dirty="0"/>
          </a:p>
          <a:p>
            <a:pPr marL="177800" indent="-177800">
              <a:lnSpc>
                <a:spcPct val="106000"/>
              </a:lnSpc>
              <a:spcAft>
                <a:spcPts val="150"/>
              </a:spcAft>
              <a:buSzPct val="100000"/>
              <a:buChar char="▪"/>
            </a:pPr>
            <a:r>
              <a:rPr lang="pt-BR" sz="1400" i="1" noProof="0" dirty="0">
                <a:solidFill>
                  <a:srgbClr val="1B2A4A"/>
                </a:solidFill>
                <a:latin typeface="Calibri" pitchFamily="34" charset="0"/>
                <a:ea typeface="Calibri" pitchFamily="34" charset="-122"/>
                <a:cs typeface="Calibri" pitchFamily="34" charset="-120"/>
              </a:rPr>
              <a:t>A nova operação representa uma responsabilidade real?</a:t>
            </a:r>
            <a:endParaRPr lang="pt-BR" sz="1400" noProof="0" dirty="0"/>
          </a:p>
          <a:p>
            <a:pPr marL="177800" indent="-177800">
              <a:lnSpc>
                <a:spcPct val="106000"/>
              </a:lnSpc>
              <a:spcAft>
                <a:spcPts val="150"/>
              </a:spcAft>
              <a:buSzPct val="100000"/>
              <a:buChar char="▪"/>
            </a:pPr>
            <a:r>
              <a:rPr lang="pt-BR" sz="1400" i="1" noProof="0" dirty="0">
                <a:solidFill>
                  <a:srgbClr val="1B2A4A"/>
                </a:solidFill>
                <a:latin typeface="Calibri" pitchFamily="34" charset="0"/>
                <a:ea typeface="Calibri" pitchFamily="34" charset="-122"/>
                <a:cs typeface="Calibri" pitchFamily="34" charset="-120"/>
              </a:rPr>
              <a:t>A redução de acoplamento compensa a nova delegação?</a:t>
            </a:r>
            <a:endParaRPr lang="pt-BR" sz="1400" noProof="0" dirty="0"/>
          </a:p>
        </p:txBody>
      </p:sp>
      <p:sp>
        <p:nvSpPr>
          <p:cNvPr id="37" name="Shape 35"/>
          <p:cNvSpPr/>
          <p:nvPr/>
        </p:nvSpPr>
        <p:spPr>
          <a:xfrm>
            <a:off x="0" y="6528816"/>
            <a:ext cx="12188952" cy="329184"/>
          </a:xfrm>
          <a:prstGeom prst="rect">
            <a:avLst/>
          </a:prstGeom>
          <a:solidFill>
            <a:srgbClr val="1B2A4A"/>
          </a:solidFill>
          <a:ln/>
        </p:spPr>
        <p:txBody>
          <a:bodyPr/>
          <a:lstStyle/>
          <a:p>
            <a:endParaRPr lang="pt-BR" noProof="0" dirty="0"/>
          </a:p>
        </p:txBody>
      </p:sp>
      <p:sp>
        <p:nvSpPr>
          <p:cNvPr id="38" name="Text 36"/>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39" name="Text 37"/>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11 / 13</a:t>
            </a:r>
            <a:endParaRPr lang="pt-BR" sz="950" noProof="0" dirty="0"/>
          </a:p>
        </p:txBody>
      </p:sp>
      <p:grpSp>
        <p:nvGrpSpPr>
          <p:cNvPr id="21" name="Agrupar 20">
            <a:extLst>
              <a:ext uri="{FF2B5EF4-FFF2-40B4-BE49-F238E27FC236}">
                <a16:creationId xmlns:a16="http://schemas.microsoft.com/office/drawing/2014/main" id="{9F077476-A256-9DB9-9C83-8C8139AD0617}"/>
              </a:ext>
            </a:extLst>
          </p:cNvPr>
          <p:cNvGrpSpPr/>
          <p:nvPr/>
        </p:nvGrpSpPr>
        <p:grpSpPr>
          <a:xfrm>
            <a:off x="278892" y="205740"/>
            <a:ext cx="566928" cy="566928"/>
            <a:chOff x="384048" y="290322"/>
            <a:chExt cx="566928" cy="566928"/>
          </a:xfrm>
        </p:grpSpPr>
        <p:sp>
          <p:nvSpPr>
            <p:cNvPr id="22" name="Shape 0">
              <a:extLst>
                <a:ext uri="{FF2B5EF4-FFF2-40B4-BE49-F238E27FC236}">
                  <a16:creationId xmlns:a16="http://schemas.microsoft.com/office/drawing/2014/main" id="{CDD8D223-99A9-7F4D-9103-AC5FA4389BD6}"/>
                </a:ext>
              </a:extLst>
            </p:cNvPr>
            <p:cNvSpPr/>
            <p:nvPr/>
          </p:nvSpPr>
          <p:spPr>
            <a:xfrm>
              <a:off x="457200" y="384048"/>
              <a:ext cx="429768" cy="388620"/>
            </a:xfrm>
            <a:prstGeom prst="ellipse">
              <a:avLst/>
            </a:prstGeom>
            <a:solidFill>
              <a:srgbClr val="C9A227"/>
            </a:solidFill>
            <a:ln w="12700">
              <a:noFill/>
              <a:prstDash val="solid"/>
            </a:ln>
          </p:spPr>
          <p:txBody>
            <a:bodyPr/>
            <a:lstStyle/>
            <a:p>
              <a:endParaRPr lang="pt-BR" noProof="0" dirty="0"/>
            </a:p>
          </p:txBody>
        </p:sp>
        <p:sp>
          <p:nvSpPr>
            <p:cNvPr id="23" name="Text 1">
              <a:extLst>
                <a:ext uri="{FF2B5EF4-FFF2-40B4-BE49-F238E27FC236}">
                  <a16:creationId xmlns:a16="http://schemas.microsoft.com/office/drawing/2014/main" id="{5A469FF8-0985-9E28-B87B-E96045F73687}"/>
                </a:ext>
              </a:extLst>
            </p:cNvPr>
            <p:cNvSpPr/>
            <p:nvPr/>
          </p:nvSpPr>
          <p:spPr>
            <a:xfrm>
              <a:off x="384048" y="290322"/>
              <a:ext cx="566928" cy="566928"/>
            </a:xfrm>
            <a:prstGeom prst="rect">
              <a:avLst/>
            </a:prstGeom>
            <a:noFill/>
            <a:ln/>
          </p:spPr>
          <p:txBody>
            <a:bodyPr wrap="square" rtlCol="0" anchor="ctr"/>
            <a:lstStyle/>
            <a:p>
              <a:pPr marL="0" indent="0" algn="ctr">
                <a:buNone/>
              </a:pPr>
              <a:r>
                <a:rPr lang="pt-BR" sz="2000" b="1" noProof="0" dirty="0">
                  <a:solidFill>
                    <a:schemeClr val="bg1"/>
                  </a:solidFill>
                  <a:latin typeface="Tahoma" pitchFamily="34" charset="0"/>
                  <a:ea typeface="Tahoma" pitchFamily="34" charset="-122"/>
                  <a:cs typeface="Tahoma" pitchFamily="34" charset="-120"/>
                </a:rPr>
                <a:t>4</a:t>
              </a:r>
              <a:endParaRPr lang="pt-BR" sz="2000" noProof="0" dirty="0">
                <a:solidFill>
                  <a:schemeClr val="bg1"/>
                </a:solidFil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51" name="Shape 31">
            <a:extLst>
              <a:ext uri="{FF2B5EF4-FFF2-40B4-BE49-F238E27FC236}">
                <a16:creationId xmlns:a16="http://schemas.microsoft.com/office/drawing/2014/main" id="{5C043DED-81D6-3F4A-EC62-6A66312FF8AF}"/>
              </a:ext>
            </a:extLst>
          </p:cNvPr>
          <p:cNvSpPr/>
          <p:nvPr/>
        </p:nvSpPr>
        <p:spPr>
          <a:xfrm>
            <a:off x="502919" y="994902"/>
            <a:ext cx="11223415" cy="637093"/>
          </a:xfrm>
          <a:prstGeom prst="roundRect">
            <a:avLst>
              <a:gd name="adj" fmla="val 5882"/>
            </a:avLst>
          </a:prstGeom>
          <a:solidFill>
            <a:srgbClr val="1B2A4A"/>
          </a:solidFill>
          <a:ln w="12700">
            <a:solidFill>
              <a:srgbClr val="1B2A4A"/>
            </a:solidFill>
            <a:prstDash val="solid"/>
          </a:ln>
        </p:spPr>
        <p:txBody>
          <a:bodyPr anchor="ctr"/>
          <a:lstStyle/>
          <a:p>
            <a:pPr algn="ctr"/>
            <a:r>
              <a:rPr lang="pt-BR" dirty="0">
                <a:solidFill>
                  <a:schemeClr val="bg1"/>
                </a:solidFill>
              </a:rPr>
              <a:t>Após cada alteração, execute os testes e verifique se um princípio não prejudicou os demais</a:t>
            </a:r>
            <a:endParaRPr lang="pt-BR" noProof="0" dirty="0"/>
          </a:p>
        </p:txBody>
      </p:sp>
      <p:sp>
        <p:nvSpPr>
          <p:cNvPr id="2" name="Text 0"/>
          <p:cNvSpPr/>
          <p:nvPr/>
        </p:nvSpPr>
        <p:spPr>
          <a:xfrm>
            <a:off x="502920" y="292608"/>
            <a:ext cx="11155680" cy="566928"/>
          </a:xfrm>
          <a:prstGeom prst="rect">
            <a:avLst/>
          </a:prstGeom>
          <a:noFill/>
          <a:ln/>
        </p:spPr>
        <p:txBody>
          <a:bodyPr wrap="square" lIns="0" tIns="0" rIns="0" bIns="0" rtlCol="0" anchor="t"/>
          <a:lstStyle/>
          <a:p>
            <a:pPr marL="0" indent="0">
              <a:buNone/>
            </a:pPr>
            <a:r>
              <a:rPr lang="pt-BR" sz="2700" b="1" noProof="0" dirty="0">
                <a:solidFill>
                  <a:srgbClr val="1B2A4A"/>
                </a:solidFill>
                <a:latin typeface="Cambria" pitchFamily="34" charset="0"/>
                <a:ea typeface="Cambria" pitchFamily="34" charset="-122"/>
                <a:cs typeface="Cambria" pitchFamily="34" charset="-120"/>
              </a:rPr>
              <a:t>Síntese: Roteiro de Análise para uma Refatoração</a:t>
            </a:r>
            <a:endParaRPr lang="pt-BR" sz="2700" noProof="0" dirty="0"/>
          </a:p>
        </p:txBody>
      </p:sp>
      <p:sp>
        <p:nvSpPr>
          <p:cNvPr id="26" name="Shape 24"/>
          <p:cNvSpPr/>
          <p:nvPr/>
        </p:nvSpPr>
        <p:spPr>
          <a:xfrm>
            <a:off x="579123" y="4773170"/>
            <a:ext cx="118872" cy="118872"/>
          </a:xfrm>
          <a:prstGeom prst="rect">
            <a:avLst/>
          </a:prstGeom>
          <a:solidFill>
            <a:srgbClr val="C9A227"/>
          </a:solidFill>
          <a:ln/>
        </p:spPr>
        <p:txBody>
          <a:bodyPr/>
          <a:lstStyle/>
          <a:p>
            <a:endParaRPr lang="pt-BR" noProof="0" dirty="0"/>
          </a:p>
        </p:txBody>
      </p:sp>
      <p:sp>
        <p:nvSpPr>
          <p:cNvPr id="27" name="Text 25"/>
          <p:cNvSpPr/>
          <p:nvPr/>
        </p:nvSpPr>
        <p:spPr>
          <a:xfrm>
            <a:off x="768096" y="4679935"/>
            <a:ext cx="10936224" cy="256032"/>
          </a:xfrm>
          <a:prstGeom prst="rect">
            <a:avLst/>
          </a:prstGeom>
          <a:noFill/>
          <a:ln/>
        </p:spPr>
        <p:txBody>
          <a:bodyPr wrap="square" lIns="0" tIns="0" rIns="0" bIns="0" rtlCol="0" anchor="ctr"/>
          <a:lstStyle/>
          <a:p>
            <a:pPr marL="0" indent="0">
              <a:buNone/>
            </a:pPr>
            <a:r>
              <a:rPr lang="pt-BR" sz="1250" b="1" kern="0" spc="50" noProof="0" dirty="0">
                <a:solidFill>
                  <a:srgbClr val="1B2A4A"/>
                </a:solidFill>
                <a:latin typeface="Calibri" pitchFamily="34" charset="0"/>
                <a:ea typeface="Calibri" pitchFamily="34" charset="-122"/>
                <a:cs typeface="Calibri" pitchFamily="34" charset="-120"/>
              </a:rPr>
              <a:t>PERGUNTAS POR CONCEITO</a:t>
            </a:r>
            <a:endParaRPr lang="pt-BR" sz="1250" noProof="0" dirty="0"/>
          </a:p>
        </p:txBody>
      </p:sp>
      <p:sp>
        <p:nvSpPr>
          <p:cNvPr id="28" name="Shape 26"/>
          <p:cNvSpPr/>
          <p:nvPr/>
        </p:nvSpPr>
        <p:spPr>
          <a:xfrm>
            <a:off x="502920" y="5070350"/>
            <a:ext cx="2697480" cy="1067985"/>
          </a:xfrm>
          <a:prstGeom prst="roundRect">
            <a:avLst>
              <a:gd name="adj" fmla="val 3226"/>
            </a:avLst>
          </a:prstGeom>
          <a:solidFill>
            <a:srgbClr val="F6F5EF"/>
          </a:solidFill>
          <a:ln w="12700">
            <a:solidFill>
              <a:srgbClr val="C9CDD6"/>
            </a:solidFill>
            <a:prstDash val="solid"/>
          </a:ln>
        </p:spPr>
        <p:txBody>
          <a:bodyPr/>
          <a:lstStyle/>
          <a:p>
            <a:endParaRPr lang="pt-BR" noProof="0" dirty="0"/>
          </a:p>
        </p:txBody>
      </p:sp>
      <p:sp>
        <p:nvSpPr>
          <p:cNvPr id="29" name="Text 27"/>
          <p:cNvSpPr/>
          <p:nvPr/>
        </p:nvSpPr>
        <p:spPr>
          <a:xfrm>
            <a:off x="649224" y="5180078"/>
            <a:ext cx="2404872" cy="292608"/>
          </a:xfrm>
          <a:prstGeom prst="rect">
            <a:avLst/>
          </a:prstGeom>
          <a:noFill/>
          <a:ln/>
        </p:spPr>
        <p:txBody>
          <a:bodyPr wrap="square" lIns="0" tIns="0" rIns="0" bIns="0" rtlCol="0" anchor="ctr"/>
          <a:lstStyle/>
          <a:p>
            <a:pPr marL="0" indent="0">
              <a:buNone/>
            </a:pPr>
            <a:r>
              <a:rPr lang="pt-BR" sz="1150" b="1" noProof="0" dirty="0">
                <a:solidFill>
                  <a:srgbClr val="1B2A4A"/>
                </a:solidFill>
                <a:latin typeface="Calibri" pitchFamily="34" charset="0"/>
                <a:ea typeface="Calibri" pitchFamily="34" charset="-122"/>
                <a:cs typeface="Calibri" pitchFamily="34" charset="-120"/>
              </a:rPr>
              <a:t>1. Clean Code — Está claro?</a:t>
            </a:r>
            <a:endParaRPr lang="pt-BR" sz="1150" noProof="0" dirty="0"/>
          </a:p>
        </p:txBody>
      </p:sp>
      <p:sp>
        <p:nvSpPr>
          <p:cNvPr id="30" name="Text 28"/>
          <p:cNvSpPr/>
          <p:nvPr/>
        </p:nvSpPr>
        <p:spPr>
          <a:xfrm>
            <a:off x="649224" y="5509262"/>
            <a:ext cx="2404872" cy="527473"/>
          </a:xfrm>
          <a:prstGeom prst="rect">
            <a:avLst/>
          </a:prstGeom>
          <a:noFill/>
          <a:ln/>
        </p:spPr>
        <p:txBody>
          <a:bodyPr wrap="square" lIns="0" tIns="0" rIns="0" bIns="0" rtlCol="0" anchor="ctr"/>
          <a:lstStyle/>
          <a:p>
            <a:pPr marL="0" indent="0">
              <a:lnSpc>
                <a:spcPct val="112000"/>
              </a:lnSpc>
              <a:buNone/>
            </a:pPr>
            <a:r>
              <a:rPr lang="pt-BR" sz="1200" i="1" noProof="0" dirty="0">
                <a:solidFill>
                  <a:srgbClr val="2B2B2E"/>
                </a:solidFill>
                <a:latin typeface="Calibri" pitchFamily="34" charset="0"/>
                <a:ea typeface="Calibri" pitchFamily="34" charset="-122"/>
                <a:cs typeface="Calibri" pitchFamily="34" charset="-120"/>
              </a:rPr>
              <a:t>Explicite intenções, responsabilidades e efeitos.</a:t>
            </a:r>
            <a:endParaRPr lang="pt-BR" sz="1200" noProof="0" dirty="0"/>
          </a:p>
        </p:txBody>
      </p:sp>
      <p:sp>
        <p:nvSpPr>
          <p:cNvPr id="31" name="Shape 29"/>
          <p:cNvSpPr/>
          <p:nvPr/>
        </p:nvSpPr>
        <p:spPr>
          <a:xfrm>
            <a:off x="3337560" y="5070350"/>
            <a:ext cx="2697480" cy="1067985"/>
          </a:xfrm>
          <a:prstGeom prst="roundRect">
            <a:avLst>
              <a:gd name="adj" fmla="val 3226"/>
            </a:avLst>
          </a:prstGeom>
          <a:solidFill>
            <a:srgbClr val="F6F5EF"/>
          </a:solidFill>
          <a:ln w="12700">
            <a:solidFill>
              <a:srgbClr val="C9CDD6"/>
            </a:solidFill>
            <a:prstDash val="solid"/>
          </a:ln>
        </p:spPr>
        <p:txBody>
          <a:bodyPr/>
          <a:lstStyle/>
          <a:p>
            <a:endParaRPr lang="pt-BR" noProof="0" dirty="0"/>
          </a:p>
        </p:txBody>
      </p:sp>
      <p:sp>
        <p:nvSpPr>
          <p:cNvPr id="32" name="Text 30"/>
          <p:cNvSpPr/>
          <p:nvPr/>
        </p:nvSpPr>
        <p:spPr>
          <a:xfrm>
            <a:off x="3483864" y="5180078"/>
            <a:ext cx="2404872" cy="292608"/>
          </a:xfrm>
          <a:prstGeom prst="rect">
            <a:avLst/>
          </a:prstGeom>
          <a:noFill/>
          <a:ln/>
        </p:spPr>
        <p:txBody>
          <a:bodyPr wrap="square" lIns="0" tIns="0" rIns="0" bIns="0" rtlCol="0" anchor="ctr"/>
          <a:lstStyle/>
          <a:p>
            <a:pPr marL="0" indent="0">
              <a:buNone/>
            </a:pPr>
            <a:r>
              <a:rPr lang="pt-BR" sz="1150" b="1" noProof="0" dirty="0">
                <a:solidFill>
                  <a:srgbClr val="1B2A4A"/>
                </a:solidFill>
                <a:latin typeface="Calibri" pitchFamily="34" charset="0"/>
                <a:ea typeface="Calibri" pitchFamily="34" charset="-122"/>
                <a:cs typeface="Calibri" pitchFamily="34" charset="-120"/>
              </a:rPr>
              <a:t>2. DRY — Está duplicado?</a:t>
            </a:r>
            <a:endParaRPr lang="pt-BR" sz="1150" noProof="0" dirty="0"/>
          </a:p>
        </p:txBody>
      </p:sp>
      <p:sp>
        <p:nvSpPr>
          <p:cNvPr id="33" name="Text 31"/>
          <p:cNvSpPr/>
          <p:nvPr/>
        </p:nvSpPr>
        <p:spPr>
          <a:xfrm>
            <a:off x="3483864" y="5509262"/>
            <a:ext cx="2404872" cy="527473"/>
          </a:xfrm>
          <a:prstGeom prst="rect">
            <a:avLst/>
          </a:prstGeom>
          <a:noFill/>
          <a:ln/>
        </p:spPr>
        <p:txBody>
          <a:bodyPr wrap="square" lIns="0" tIns="0" rIns="0" bIns="0" rtlCol="0" anchor="ctr"/>
          <a:lstStyle/>
          <a:p>
            <a:pPr>
              <a:lnSpc>
                <a:spcPct val="112000"/>
              </a:lnSpc>
            </a:pPr>
            <a:r>
              <a:rPr lang="pt-BR" sz="1200" i="1" dirty="0">
                <a:solidFill>
                  <a:srgbClr val="2B2B2E"/>
                </a:solidFill>
                <a:latin typeface="Calibri" pitchFamily="34" charset="0"/>
                <a:ea typeface="Calibri" pitchFamily="34" charset="-122"/>
                <a:cs typeface="Calibri" pitchFamily="34" charset="-120"/>
              </a:rPr>
              <a:t>Centralize regras que precisam mudar juntas.</a:t>
            </a:r>
          </a:p>
        </p:txBody>
      </p:sp>
      <p:sp>
        <p:nvSpPr>
          <p:cNvPr id="34" name="Shape 32"/>
          <p:cNvSpPr/>
          <p:nvPr/>
        </p:nvSpPr>
        <p:spPr>
          <a:xfrm>
            <a:off x="6172200" y="5070350"/>
            <a:ext cx="2697480" cy="1067985"/>
          </a:xfrm>
          <a:prstGeom prst="roundRect">
            <a:avLst>
              <a:gd name="adj" fmla="val 3226"/>
            </a:avLst>
          </a:prstGeom>
          <a:solidFill>
            <a:srgbClr val="F6F5EF"/>
          </a:solidFill>
          <a:ln w="12700">
            <a:solidFill>
              <a:srgbClr val="C9CDD6"/>
            </a:solidFill>
            <a:prstDash val="solid"/>
          </a:ln>
        </p:spPr>
        <p:txBody>
          <a:bodyPr/>
          <a:lstStyle/>
          <a:p>
            <a:endParaRPr lang="pt-BR" noProof="0" dirty="0"/>
          </a:p>
        </p:txBody>
      </p:sp>
      <p:sp>
        <p:nvSpPr>
          <p:cNvPr id="35" name="Text 33"/>
          <p:cNvSpPr/>
          <p:nvPr/>
        </p:nvSpPr>
        <p:spPr>
          <a:xfrm>
            <a:off x="6318504" y="5180078"/>
            <a:ext cx="2404872" cy="292608"/>
          </a:xfrm>
          <a:prstGeom prst="rect">
            <a:avLst/>
          </a:prstGeom>
          <a:noFill/>
          <a:ln/>
        </p:spPr>
        <p:txBody>
          <a:bodyPr wrap="square" lIns="0" tIns="0" rIns="0" bIns="0" rtlCol="0" anchor="ctr"/>
          <a:lstStyle/>
          <a:p>
            <a:pPr marL="0" indent="0">
              <a:buNone/>
            </a:pPr>
            <a:r>
              <a:rPr lang="pt-BR" sz="1150" b="1" noProof="0" dirty="0">
                <a:solidFill>
                  <a:srgbClr val="1B2A4A"/>
                </a:solidFill>
                <a:latin typeface="Calibri" pitchFamily="34" charset="0"/>
                <a:ea typeface="Calibri" pitchFamily="34" charset="-122"/>
                <a:cs typeface="Calibri" pitchFamily="34" charset="-120"/>
              </a:rPr>
              <a:t>3. KISS — É necessário?</a:t>
            </a:r>
            <a:endParaRPr lang="pt-BR" sz="1150" noProof="0" dirty="0"/>
          </a:p>
        </p:txBody>
      </p:sp>
      <p:sp>
        <p:nvSpPr>
          <p:cNvPr id="36" name="Text 34"/>
          <p:cNvSpPr/>
          <p:nvPr/>
        </p:nvSpPr>
        <p:spPr>
          <a:xfrm>
            <a:off x="6318504" y="5509262"/>
            <a:ext cx="2404872" cy="527473"/>
          </a:xfrm>
          <a:prstGeom prst="rect">
            <a:avLst/>
          </a:prstGeom>
          <a:noFill/>
          <a:ln/>
        </p:spPr>
        <p:txBody>
          <a:bodyPr wrap="square" lIns="0" tIns="0" rIns="0" bIns="0" rtlCol="0" anchor="ctr"/>
          <a:lstStyle/>
          <a:p>
            <a:pPr indent="0">
              <a:lnSpc>
                <a:spcPct val="112000"/>
              </a:lnSpc>
              <a:buNone/>
            </a:pPr>
            <a:r>
              <a:rPr lang="pt-BR" sz="1200" i="1" dirty="0">
                <a:solidFill>
                  <a:srgbClr val="2B2B2E"/>
                </a:solidFill>
                <a:latin typeface="Calibri" pitchFamily="34" charset="0"/>
                <a:ea typeface="Calibri" pitchFamily="34" charset="-122"/>
                <a:cs typeface="Calibri" pitchFamily="34" charset="-120"/>
              </a:rPr>
              <a:t>Remova abstrações e mecanismos sem justificativa atual.</a:t>
            </a:r>
          </a:p>
        </p:txBody>
      </p:sp>
      <p:sp>
        <p:nvSpPr>
          <p:cNvPr id="37" name="Shape 35"/>
          <p:cNvSpPr/>
          <p:nvPr/>
        </p:nvSpPr>
        <p:spPr>
          <a:xfrm>
            <a:off x="9006840" y="5070350"/>
            <a:ext cx="2697480" cy="1067985"/>
          </a:xfrm>
          <a:prstGeom prst="roundRect">
            <a:avLst>
              <a:gd name="adj" fmla="val 3226"/>
            </a:avLst>
          </a:prstGeom>
          <a:solidFill>
            <a:srgbClr val="F6F5EF"/>
          </a:solidFill>
          <a:ln w="12700">
            <a:solidFill>
              <a:srgbClr val="C9CDD6"/>
            </a:solidFill>
            <a:prstDash val="solid"/>
          </a:ln>
        </p:spPr>
        <p:txBody>
          <a:bodyPr/>
          <a:lstStyle/>
          <a:p>
            <a:endParaRPr lang="pt-BR" noProof="0" dirty="0"/>
          </a:p>
        </p:txBody>
      </p:sp>
      <p:sp>
        <p:nvSpPr>
          <p:cNvPr id="38" name="Text 36"/>
          <p:cNvSpPr/>
          <p:nvPr/>
        </p:nvSpPr>
        <p:spPr>
          <a:xfrm>
            <a:off x="9153144" y="5180078"/>
            <a:ext cx="2404872" cy="292608"/>
          </a:xfrm>
          <a:prstGeom prst="rect">
            <a:avLst/>
          </a:prstGeom>
          <a:noFill/>
          <a:ln/>
        </p:spPr>
        <p:txBody>
          <a:bodyPr wrap="square" lIns="0" tIns="0" rIns="0" bIns="0" rtlCol="0" anchor="ctr"/>
          <a:lstStyle/>
          <a:p>
            <a:pPr marL="0" indent="0">
              <a:buNone/>
            </a:pPr>
            <a:r>
              <a:rPr lang="pt-BR" sz="1150" b="1" noProof="0" dirty="0">
                <a:solidFill>
                  <a:srgbClr val="1B2A4A"/>
                </a:solidFill>
                <a:latin typeface="Calibri" pitchFamily="34" charset="0"/>
                <a:ea typeface="Calibri" pitchFamily="34" charset="-122"/>
                <a:cs typeface="Calibri" pitchFamily="34" charset="-120"/>
              </a:rPr>
              <a:t>4. Lei de Demeter — Sabe demais?</a:t>
            </a:r>
            <a:endParaRPr lang="pt-BR" sz="1150" noProof="0" dirty="0"/>
          </a:p>
        </p:txBody>
      </p:sp>
      <p:sp>
        <p:nvSpPr>
          <p:cNvPr id="39" name="Text 37"/>
          <p:cNvSpPr/>
          <p:nvPr/>
        </p:nvSpPr>
        <p:spPr>
          <a:xfrm>
            <a:off x="9153144" y="5509262"/>
            <a:ext cx="2404872" cy="527473"/>
          </a:xfrm>
          <a:prstGeom prst="rect">
            <a:avLst/>
          </a:prstGeom>
          <a:noFill/>
          <a:ln/>
        </p:spPr>
        <p:txBody>
          <a:bodyPr wrap="square" lIns="0" tIns="0" rIns="0" bIns="0" rtlCol="0" anchor="ctr"/>
          <a:lstStyle/>
          <a:p>
            <a:pPr>
              <a:lnSpc>
                <a:spcPct val="112000"/>
              </a:lnSpc>
            </a:pPr>
            <a:r>
              <a:rPr lang="pt-BR" sz="1200" i="1" dirty="0">
                <a:solidFill>
                  <a:srgbClr val="2B2B2E"/>
                </a:solidFill>
                <a:latin typeface="Calibri" pitchFamily="34" charset="0"/>
                <a:ea typeface="Calibri" pitchFamily="34" charset="-122"/>
                <a:cs typeface="Calibri" pitchFamily="34" charset="-120"/>
              </a:rPr>
              <a:t>Limite o acesso aos detalhes internos de outros objetos.</a:t>
            </a:r>
          </a:p>
        </p:txBody>
      </p:sp>
      <p:sp>
        <p:nvSpPr>
          <p:cNvPr id="42" name="Shape 40"/>
          <p:cNvSpPr/>
          <p:nvPr/>
        </p:nvSpPr>
        <p:spPr>
          <a:xfrm>
            <a:off x="0" y="6528816"/>
            <a:ext cx="12188952" cy="329184"/>
          </a:xfrm>
          <a:prstGeom prst="rect">
            <a:avLst/>
          </a:prstGeom>
          <a:solidFill>
            <a:srgbClr val="1B2A4A"/>
          </a:solidFill>
          <a:ln/>
        </p:spPr>
        <p:txBody>
          <a:bodyPr/>
          <a:lstStyle/>
          <a:p>
            <a:endParaRPr lang="pt-BR" noProof="0" dirty="0"/>
          </a:p>
        </p:txBody>
      </p:sp>
      <p:sp>
        <p:nvSpPr>
          <p:cNvPr id="43" name="Text 41"/>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44" name="Text 42"/>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12 / 13</a:t>
            </a:r>
            <a:endParaRPr lang="pt-BR" sz="950" noProof="0" dirty="0"/>
          </a:p>
        </p:txBody>
      </p:sp>
      <p:graphicFrame>
        <p:nvGraphicFramePr>
          <p:cNvPr id="45" name="Tabela 44">
            <a:extLst>
              <a:ext uri="{FF2B5EF4-FFF2-40B4-BE49-F238E27FC236}">
                <a16:creationId xmlns:a16="http://schemas.microsoft.com/office/drawing/2014/main" id="{96EAD833-8AF2-84E7-A8AC-984426FCEBBA}"/>
              </a:ext>
            </a:extLst>
          </p:cNvPr>
          <p:cNvGraphicFramePr>
            <a:graphicFrameLocks noGrp="1"/>
          </p:cNvGraphicFramePr>
          <p:nvPr>
            <p:extLst>
              <p:ext uri="{D42A27DB-BD31-4B8C-83A1-F6EECF244321}">
                <p14:modId xmlns:p14="http://schemas.microsoft.com/office/powerpoint/2010/main" val="1729650423"/>
              </p:ext>
            </p:extLst>
          </p:nvPr>
        </p:nvGraphicFramePr>
        <p:xfrm>
          <a:off x="618066" y="1997235"/>
          <a:ext cx="11108268" cy="2300656"/>
        </p:xfrm>
        <a:graphic>
          <a:graphicData uri="http://schemas.openxmlformats.org/drawingml/2006/table">
            <a:tbl>
              <a:tblPr>
                <a:tableStyleId>{8799B23B-EC83-4686-B30A-512413B5E67A}</a:tableStyleId>
              </a:tblPr>
              <a:tblGrid>
                <a:gridCol w="1346201">
                  <a:extLst>
                    <a:ext uri="{9D8B030D-6E8A-4147-A177-3AD203B41FA5}">
                      <a16:colId xmlns:a16="http://schemas.microsoft.com/office/drawing/2014/main" val="182269290"/>
                    </a:ext>
                  </a:extLst>
                </a:gridCol>
                <a:gridCol w="2438400">
                  <a:extLst>
                    <a:ext uri="{9D8B030D-6E8A-4147-A177-3AD203B41FA5}">
                      <a16:colId xmlns:a16="http://schemas.microsoft.com/office/drawing/2014/main" val="2704560803"/>
                    </a:ext>
                  </a:extLst>
                </a:gridCol>
                <a:gridCol w="3759200">
                  <a:extLst>
                    <a:ext uri="{9D8B030D-6E8A-4147-A177-3AD203B41FA5}">
                      <a16:colId xmlns:a16="http://schemas.microsoft.com/office/drawing/2014/main" val="3544561434"/>
                    </a:ext>
                  </a:extLst>
                </a:gridCol>
                <a:gridCol w="3564467">
                  <a:extLst>
                    <a:ext uri="{9D8B030D-6E8A-4147-A177-3AD203B41FA5}">
                      <a16:colId xmlns:a16="http://schemas.microsoft.com/office/drawing/2014/main" val="3557326789"/>
                    </a:ext>
                  </a:extLst>
                </a:gridCol>
              </a:tblGrid>
              <a:tr h="251928">
                <a:tc>
                  <a:txBody>
                    <a:bodyPr/>
                    <a:lstStyle/>
                    <a:p>
                      <a:pPr>
                        <a:buNone/>
                      </a:pPr>
                      <a:r>
                        <a:rPr lang="pt-PT" sz="1200" dirty="0"/>
                        <a:t>Princípio</a:t>
                      </a:r>
                    </a:p>
                  </a:txBody>
                  <a:tcPr marL="82101" marR="82101" marT="41050" marB="41050" anchor="ctr"/>
                </a:tc>
                <a:tc>
                  <a:txBody>
                    <a:bodyPr/>
                    <a:lstStyle/>
                    <a:p>
                      <a:pPr>
                        <a:buNone/>
                      </a:pPr>
                      <a:r>
                        <a:rPr lang="pt-PT" sz="1200" dirty="0"/>
                        <a:t>Foco principal</a:t>
                      </a:r>
                    </a:p>
                  </a:txBody>
                  <a:tcPr marL="82101" marR="82101" marT="41050" marB="41050" anchor="ctr"/>
                </a:tc>
                <a:tc>
                  <a:txBody>
                    <a:bodyPr/>
                    <a:lstStyle/>
                    <a:p>
                      <a:pPr>
                        <a:buNone/>
                      </a:pPr>
                      <a:r>
                        <a:rPr lang="pt-PT" sz="1200"/>
                        <a:t>Pergunta para o código</a:t>
                      </a:r>
                    </a:p>
                  </a:txBody>
                  <a:tcPr marL="82101" marR="82101" marT="41050" marB="41050" anchor="ctr"/>
                </a:tc>
                <a:tc>
                  <a:txBody>
                    <a:bodyPr/>
                    <a:lstStyle/>
                    <a:p>
                      <a:pPr>
                        <a:buNone/>
                      </a:pPr>
                      <a:r>
                        <a:rPr lang="pt-PT" sz="1200"/>
                        <a:t>Aplicação típica</a:t>
                      </a:r>
                    </a:p>
                  </a:txBody>
                  <a:tcPr marL="82101" marR="82101" marT="41050" marB="41050" anchor="ctr"/>
                </a:tc>
                <a:extLst>
                  <a:ext uri="{0D108BD9-81ED-4DB2-BD59-A6C34878D82A}">
                    <a16:rowId xmlns:a16="http://schemas.microsoft.com/office/drawing/2014/main" val="524362034"/>
                  </a:ext>
                </a:extLst>
              </a:tr>
              <a:tr h="529272">
                <a:tc>
                  <a:txBody>
                    <a:bodyPr/>
                    <a:lstStyle/>
                    <a:p>
                      <a:pPr>
                        <a:buNone/>
                      </a:pPr>
                      <a:r>
                        <a:rPr lang="pt-PT" sz="1200" b="1"/>
                        <a:t>Clean Code</a:t>
                      </a:r>
                      <a:endParaRPr lang="pt-PT" sz="1200"/>
                    </a:p>
                  </a:txBody>
                  <a:tcPr marL="82101" marR="82101" marT="41050" marB="41050" anchor="ctr"/>
                </a:tc>
                <a:tc>
                  <a:txBody>
                    <a:bodyPr/>
                    <a:lstStyle/>
                    <a:p>
                      <a:pPr>
                        <a:buNone/>
                      </a:pPr>
                      <a:r>
                        <a:rPr lang="pt-PT" sz="1200" dirty="0"/>
                        <a:t>Clareza e intenção</a:t>
                      </a:r>
                    </a:p>
                  </a:txBody>
                  <a:tcPr marL="82101" marR="82101" marT="41050" marB="41050" anchor="ctr"/>
                </a:tc>
                <a:tc>
                  <a:txBody>
                    <a:bodyPr/>
                    <a:lstStyle/>
                    <a:p>
                      <a:pPr>
                        <a:buNone/>
                      </a:pPr>
                      <a:r>
                        <a:rPr lang="pt-BR" sz="1200" dirty="0"/>
                        <a:t>Consigo entender o propósito sem precisar decifrar a implementação?</a:t>
                      </a:r>
                    </a:p>
                  </a:txBody>
                  <a:tcPr marL="82101" marR="82101" marT="41050" marB="41050" anchor="ctr"/>
                </a:tc>
                <a:tc>
                  <a:txBody>
                    <a:bodyPr/>
                    <a:lstStyle/>
                    <a:p>
                      <a:pPr>
                        <a:buNone/>
                      </a:pPr>
                      <a:r>
                        <a:rPr lang="pt-BR" sz="1200"/>
                        <a:t>Melhorar nomes, dividir responsabilidades e explicitar intenções.</a:t>
                      </a:r>
                    </a:p>
                  </a:txBody>
                  <a:tcPr marL="82101" marR="82101" marT="41050" marB="41050" anchor="ctr"/>
                </a:tc>
                <a:extLst>
                  <a:ext uri="{0D108BD9-81ED-4DB2-BD59-A6C34878D82A}">
                    <a16:rowId xmlns:a16="http://schemas.microsoft.com/office/drawing/2014/main" val="3487296893"/>
                  </a:ext>
                </a:extLst>
              </a:tr>
              <a:tr h="433852">
                <a:tc>
                  <a:txBody>
                    <a:bodyPr/>
                    <a:lstStyle/>
                    <a:p>
                      <a:pPr>
                        <a:buNone/>
                      </a:pPr>
                      <a:r>
                        <a:rPr lang="pt-PT" sz="1200" b="1"/>
                        <a:t>DRY</a:t>
                      </a:r>
                      <a:endParaRPr lang="pt-PT" sz="1200"/>
                    </a:p>
                  </a:txBody>
                  <a:tcPr marL="82101" marR="82101" marT="41050" marB="41050" anchor="ctr"/>
                </a:tc>
                <a:tc>
                  <a:txBody>
                    <a:bodyPr/>
                    <a:lstStyle/>
                    <a:p>
                      <a:pPr>
                        <a:buNone/>
                      </a:pPr>
                      <a:r>
                        <a:rPr lang="pt-PT" sz="1200"/>
                        <a:t>Duplicação de conhecimento</a:t>
                      </a:r>
                    </a:p>
                  </a:txBody>
                  <a:tcPr marL="82101" marR="82101" marT="41050" marB="41050" anchor="ctr"/>
                </a:tc>
                <a:tc>
                  <a:txBody>
                    <a:bodyPr/>
                    <a:lstStyle/>
                    <a:p>
                      <a:pPr>
                        <a:buNone/>
                      </a:pPr>
                      <a:r>
                        <a:rPr lang="pt-BR" sz="1200" dirty="0"/>
                        <a:t>A mesma regra está definida em mais de um lugar?</a:t>
                      </a:r>
                    </a:p>
                  </a:txBody>
                  <a:tcPr marL="82101" marR="82101" marT="41050" marB="41050" anchor="ctr"/>
                </a:tc>
                <a:tc>
                  <a:txBody>
                    <a:bodyPr/>
                    <a:lstStyle/>
                    <a:p>
                      <a:pPr>
                        <a:buNone/>
                      </a:pPr>
                      <a:r>
                        <a:rPr lang="pt-BR" sz="1200"/>
                        <a:t>Criar uma fonte única para regras que precisam mudar juntas.</a:t>
                      </a:r>
                    </a:p>
                  </a:txBody>
                  <a:tcPr marL="82101" marR="82101" marT="41050" marB="41050" anchor="ctr"/>
                </a:tc>
                <a:extLst>
                  <a:ext uri="{0D108BD9-81ED-4DB2-BD59-A6C34878D82A}">
                    <a16:rowId xmlns:a16="http://schemas.microsoft.com/office/drawing/2014/main" val="3100363919"/>
                  </a:ext>
                </a:extLst>
              </a:tr>
              <a:tr h="529272">
                <a:tc>
                  <a:txBody>
                    <a:bodyPr/>
                    <a:lstStyle/>
                    <a:p>
                      <a:pPr>
                        <a:buNone/>
                      </a:pPr>
                      <a:r>
                        <a:rPr lang="pt-PT" sz="1200" b="1"/>
                        <a:t>KISS</a:t>
                      </a:r>
                      <a:endParaRPr lang="pt-PT" sz="1200"/>
                    </a:p>
                  </a:txBody>
                  <a:tcPr marL="82101" marR="82101" marT="41050" marB="41050" anchor="ctr"/>
                </a:tc>
                <a:tc>
                  <a:txBody>
                    <a:bodyPr/>
                    <a:lstStyle/>
                    <a:p>
                      <a:pPr>
                        <a:buNone/>
                      </a:pPr>
                      <a:r>
                        <a:rPr lang="pt-PT" sz="1200"/>
                        <a:t>Complexidade desnecessária</a:t>
                      </a:r>
                    </a:p>
                  </a:txBody>
                  <a:tcPr marL="82101" marR="82101" marT="41050" marB="41050" anchor="ctr"/>
                </a:tc>
                <a:tc>
                  <a:txBody>
                    <a:bodyPr/>
                    <a:lstStyle/>
                    <a:p>
                      <a:pPr>
                        <a:buNone/>
                      </a:pPr>
                      <a:r>
                        <a:rPr lang="pt-BR" sz="1200" dirty="0"/>
                        <a:t>Todos estes conceitos e mecanismos são realmente necessários agora?</a:t>
                      </a:r>
                    </a:p>
                  </a:txBody>
                  <a:tcPr marL="82101" marR="82101" marT="41050" marB="41050" anchor="ctr"/>
                </a:tc>
                <a:tc>
                  <a:txBody>
                    <a:bodyPr/>
                    <a:lstStyle/>
                    <a:p>
                      <a:pPr>
                        <a:buNone/>
                      </a:pPr>
                      <a:r>
                        <a:rPr lang="pt-BR" sz="1200"/>
                        <a:t>Remover camadas, parâmetros e abstrações sem justificativa concreta.</a:t>
                      </a:r>
                    </a:p>
                  </a:txBody>
                  <a:tcPr marL="82101" marR="82101" marT="41050" marB="41050" anchor="ctr"/>
                </a:tc>
                <a:extLst>
                  <a:ext uri="{0D108BD9-81ED-4DB2-BD59-A6C34878D82A}">
                    <a16:rowId xmlns:a16="http://schemas.microsoft.com/office/drawing/2014/main" val="314836359"/>
                  </a:ext>
                </a:extLst>
              </a:tr>
              <a:tr h="529272">
                <a:tc>
                  <a:txBody>
                    <a:bodyPr/>
                    <a:lstStyle/>
                    <a:p>
                      <a:pPr>
                        <a:buNone/>
                      </a:pPr>
                      <a:r>
                        <a:rPr lang="pt-PT" sz="1200" b="1"/>
                        <a:t>Lei de Demeter</a:t>
                      </a:r>
                      <a:endParaRPr lang="pt-PT" sz="1200"/>
                    </a:p>
                  </a:txBody>
                  <a:tcPr marL="82101" marR="82101" marT="41050" marB="41050" anchor="ctr"/>
                </a:tc>
                <a:tc>
                  <a:txBody>
                    <a:bodyPr/>
                    <a:lstStyle/>
                    <a:p>
                      <a:pPr>
                        <a:buNone/>
                      </a:pPr>
                      <a:r>
                        <a:rPr lang="pt-PT" sz="1200"/>
                        <a:t>Acoplamento estrutural</a:t>
                      </a:r>
                    </a:p>
                  </a:txBody>
                  <a:tcPr marL="82101" marR="82101" marT="41050" marB="41050" anchor="ctr"/>
                </a:tc>
                <a:tc>
                  <a:txBody>
                    <a:bodyPr/>
                    <a:lstStyle/>
                    <a:p>
                      <a:pPr>
                        <a:buNone/>
                      </a:pPr>
                      <a:r>
                        <a:rPr lang="pt-BR" sz="1200"/>
                        <a:t>Este objeto conhece detalhes internos demais de outros objetos?</a:t>
                      </a:r>
                    </a:p>
                  </a:txBody>
                  <a:tcPr marL="82101" marR="82101" marT="41050" marB="41050" anchor="ctr"/>
                </a:tc>
                <a:tc>
                  <a:txBody>
                    <a:bodyPr/>
                    <a:lstStyle/>
                    <a:p>
                      <a:pPr>
                        <a:buNone/>
                      </a:pPr>
                      <a:r>
                        <a:rPr lang="pt-BR" sz="1200" dirty="0"/>
                        <a:t>Pedir a informação ao colaborador direto, evitando navegar pela estrutura interna.</a:t>
                      </a:r>
                    </a:p>
                  </a:txBody>
                  <a:tcPr marL="82101" marR="82101" marT="41050" marB="41050" anchor="ctr"/>
                </a:tc>
                <a:extLst>
                  <a:ext uri="{0D108BD9-81ED-4DB2-BD59-A6C34878D82A}">
                    <a16:rowId xmlns:a16="http://schemas.microsoft.com/office/drawing/2014/main" val="334095778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92608"/>
            <a:ext cx="11155680" cy="566928"/>
          </a:xfrm>
          <a:prstGeom prst="rect">
            <a:avLst/>
          </a:prstGeom>
          <a:noFill/>
          <a:ln/>
        </p:spPr>
        <p:txBody>
          <a:bodyPr wrap="square" lIns="0" tIns="0" rIns="0" bIns="0" rtlCol="0" anchor="t"/>
          <a:lstStyle/>
          <a:p>
            <a:pPr marL="0" indent="0">
              <a:buNone/>
            </a:pPr>
            <a:r>
              <a:rPr lang="pt-BR" sz="2700" b="1" noProof="0" dirty="0">
                <a:solidFill>
                  <a:srgbClr val="1B2A4A"/>
                </a:solidFill>
                <a:latin typeface="Cambria" pitchFamily="34" charset="0"/>
                <a:ea typeface="Cambria" pitchFamily="34" charset="-122"/>
                <a:cs typeface="Cambria" pitchFamily="34" charset="-120"/>
              </a:rPr>
              <a:t>Referências e Leituras Recomendadas</a:t>
            </a:r>
            <a:endParaRPr lang="pt-BR" sz="2700" noProof="0" dirty="0"/>
          </a:p>
        </p:txBody>
      </p:sp>
      <p:sp>
        <p:nvSpPr>
          <p:cNvPr id="3" name="Shape 1"/>
          <p:cNvSpPr/>
          <p:nvPr/>
        </p:nvSpPr>
        <p:spPr>
          <a:xfrm>
            <a:off x="502920" y="1051560"/>
            <a:ext cx="118872" cy="118872"/>
          </a:xfrm>
          <a:prstGeom prst="rect">
            <a:avLst/>
          </a:prstGeom>
          <a:solidFill>
            <a:srgbClr val="C9A227"/>
          </a:solidFill>
          <a:ln/>
        </p:spPr>
        <p:txBody>
          <a:bodyPr/>
          <a:lstStyle/>
          <a:p>
            <a:endParaRPr lang="pt-BR" noProof="0" dirty="0"/>
          </a:p>
        </p:txBody>
      </p:sp>
      <p:sp>
        <p:nvSpPr>
          <p:cNvPr id="4" name="Text 2"/>
          <p:cNvSpPr/>
          <p:nvPr/>
        </p:nvSpPr>
        <p:spPr>
          <a:xfrm>
            <a:off x="868680" y="960120"/>
            <a:ext cx="10835640" cy="566928"/>
          </a:xfrm>
          <a:prstGeom prst="rect">
            <a:avLst/>
          </a:prstGeom>
          <a:noFill/>
          <a:ln/>
        </p:spPr>
        <p:txBody>
          <a:bodyPr wrap="square" lIns="0" tIns="0" rIns="0" bIns="0" rtlCol="0" anchor="t"/>
          <a:lstStyle/>
          <a:p>
            <a:pPr marL="0" indent="0">
              <a:lnSpc>
                <a:spcPct val="110000"/>
              </a:lnSpc>
              <a:buNone/>
            </a:pPr>
            <a:r>
              <a:rPr lang="pt-BR" sz="1130" noProof="0" dirty="0">
                <a:solidFill>
                  <a:srgbClr val="2B2B2E"/>
                </a:solidFill>
                <a:latin typeface="Calibri" pitchFamily="34" charset="0"/>
                <a:ea typeface="Calibri" pitchFamily="34" charset="-122"/>
                <a:cs typeface="Calibri" pitchFamily="34" charset="-120"/>
              </a:rPr>
              <a:t>FOWLER, Martin. Refatoração: aperfeiçoando o design de códigos existentes. 2. ed. São Paulo: </a:t>
            </a:r>
            <a:r>
              <a:rPr lang="pt-BR" sz="1130" noProof="0" dirty="0" err="1">
                <a:solidFill>
                  <a:srgbClr val="2B2B2E"/>
                </a:solidFill>
                <a:latin typeface="Calibri" pitchFamily="34" charset="0"/>
                <a:ea typeface="Calibri" pitchFamily="34" charset="-122"/>
                <a:cs typeface="Calibri" pitchFamily="34" charset="-120"/>
              </a:rPr>
              <a:t>Novatec</a:t>
            </a:r>
            <a:r>
              <a:rPr lang="pt-BR" sz="1130" noProof="0" dirty="0">
                <a:solidFill>
                  <a:srgbClr val="2B2B2E"/>
                </a:solidFill>
                <a:latin typeface="Calibri" pitchFamily="34" charset="0"/>
                <a:ea typeface="Calibri" pitchFamily="34" charset="-122"/>
                <a:cs typeface="Calibri" pitchFamily="34" charset="-120"/>
              </a:rPr>
              <a:t>, 2020. Capítulos 2 e 3.</a:t>
            </a:r>
            <a:endParaRPr lang="pt-BR" sz="1130" noProof="0" dirty="0"/>
          </a:p>
        </p:txBody>
      </p:sp>
      <p:sp>
        <p:nvSpPr>
          <p:cNvPr id="5" name="Shape 3"/>
          <p:cNvSpPr/>
          <p:nvPr/>
        </p:nvSpPr>
        <p:spPr>
          <a:xfrm>
            <a:off x="502920" y="1673352"/>
            <a:ext cx="118872" cy="118872"/>
          </a:xfrm>
          <a:prstGeom prst="rect">
            <a:avLst/>
          </a:prstGeom>
          <a:solidFill>
            <a:srgbClr val="C9A227"/>
          </a:solidFill>
          <a:ln/>
        </p:spPr>
        <p:txBody>
          <a:bodyPr/>
          <a:lstStyle/>
          <a:p>
            <a:endParaRPr lang="pt-BR" noProof="0" dirty="0"/>
          </a:p>
        </p:txBody>
      </p:sp>
      <p:sp>
        <p:nvSpPr>
          <p:cNvPr id="6" name="Text 4"/>
          <p:cNvSpPr/>
          <p:nvPr/>
        </p:nvSpPr>
        <p:spPr>
          <a:xfrm>
            <a:off x="868680" y="1581912"/>
            <a:ext cx="10835640" cy="566928"/>
          </a:xfrm>
          <a:prstGeom prst="rect">
            <a:avLst/>
          </a:prstGeom>
          <a:noFill/>
          <a:ln/>
        </p:spPr>
        <p:txBody>
          <a:bodyPr wrap="square" lIns="0" tIns="0" rIns="0" bIns="0" rtlCol="0" anchor="t"/>
          <a:lstStyle/>
          <a:p>
            <a:pPr marL="0" indent="0">
              <a:lnSpc>
                <a:spcPct val="110000"/>
              </a:lnSpc>
              <a:buNone/>
            </a:pPr>
            <a:r>
              <a:rPr lang="pt-BR" sz="1130" noProof="0" dirty="0">
                <a:solidFill>
                  <a:srgbClr val="2B2B2E"/>
                </a:solidFill>
                <a:latin typeface="Calibri" pitchFamily="34" charset="0"/>
                <a:ea typeface="Calibri" pitchFamily="34" charset="-122"/>
                <a:cs typeface="Calibri" pitchFamily="34" charset="-120"/>
              </a:rPr>
              <a:t>MARTIN, Robert C. Código limpo: habilidades práticas do </a:t>
            </a:r>
            <a:r>
              <a:rPr lang="pt-BR" sz="1130" noProof="0" dirty="0" err="1">
                <a:solidFill>
                  <a:srgbClr val="2B2B2E"/>
                </a:solidFill>
                <a:latin typeface="Calibri" pitchFamily="34" charset="0"/>
                <a:ea typeface="Calibri" pitchFamily="34" charset="-122"/>
                <a:cs typeface="Calibri" pitchFamily="34" charset="-120"/>
              </a:rPr>
              <a:t>Agile</a:t>
            </a:r>
            <a:r>
              <a:rPr lang="pt-BR" sz="1130" noProof="0" dirty="0">
                <a:solidFill>
                  <a:srgbClr val="2B2B2E"/>
                </a:solidFill>
                <a:latin typeface="Calibri" pitchFamily="34" charset="0"/>
                <a:ea typeface="Calibri" pitchFamily="34" charset="-122"/>
                <a:cs typeface="Calibri" pitchFamily="34" charset="-120"/>
              </a:rPr>
              <a:t> Software. Rio de Janeiro: Alta Books, 2009. Capítulos 1 a 5.</a:t>
            </a:r>
            <a:endParaRPr lang="pt-BR" sz="1130" noProof="0" dirty="0"/>
          </a:p>
        </p:txBody>
      </p:sp>
      <p:sp>
        <p:nvSpPr>
          <p:cNvPr id="7" name="Shape 5"/>
          <p:cNvSpPr/>
          <p:nvPr/>
        </p:nvSpPr>
        <p:spPr>
          <a:xfrm>
            <a:off x="502920" y="2295144"/>
            <a:ext cx="118872" cy="118872"/>
          </a:xfrm>
          <a:prstGeom prst="rect">
            <a:avLst/>
          </a:prstGeom>
          <a:solidFill>
            <a:srgbClr val="C9A227"/>
          </a:solidFill>
          <a:ln/>
        </p:spPr>
        <p:txBody>
          <a:bodyPr/>
          <a:lstStyle/>
          <a:p>
            <a:endParaRPr lang="pt-BR" noProof="0" dirty="0"/>
          </a:p>
        </p:txBody>
      </p:sp>
      <p:sp>
        <p:nvSpPr>
          <p:cNvPr id="8" name="Text 6"/>
          <p:cNvSpPr/>
          <p:nvPr/>
        </p:nvSpPr>
        <p:spPr>
          <a:xfrm>
            <a:off x="868680" y="2203704"/>
            <a:ext cx="10835640" cy="566928"/>
          </a:xfrm>
          <a:prstGeom prst="rect">
            <a:avLst/>
          </a:prstGeom>
          <a:noFill/>
          <a:ln/>
        </p:spPr>
        <p:txBody>
          <a:bodyPr wrap="square" lIns="0" tIns="0" rIns="0" bIns="0" rtlCol="0" anchor="t"/>
          <a:lstStyle/>
          <a:p>
            <a:pPr marL="0" indent="0">
              <a:lnSpc>
                <a:spcPct val="110000"/>
              </a:lnSpc>
              <a:buNone/>
            </a:pPr>
            <a:r>
              <a:rPr lang="pt-BR" sz="1130" noProof="0" dirty="0">
                <a:solidFill>
                  <a:srgbClr val="2B2B2E"/>
                </a:solidFill>
                <a:latin typeface="Calibri" pitchFamily="34" charset="0"/>
                <a:ea typeface="Calibri" pitchFamily="34" charset="-122"/>
                <a:cs typeface="Calibri" pitchFamily="34" charset="-120"/>
              </a:rPr>
              <a:t>HUNT, Andrew; THOMAS, David. O Programador Pragmático: de aprendiz a mestre. Porto Alegre: Bookman, 2010. Seção “Os males da duplicação”.</a:t>
            </a:r>
            <a:endParaRPr lang="pt-BR" sz="1130" noProof="0" dirty="0"/>
          </a:p>
        </p:txBody>
      </p:sp>
      <p:sp>
        <p:nvSpPr>
          <p:cNvPr id="9" name="Shape 7"/>
          <p:cNvSpPr/>
          <p:nvPr/>
        </p:nvSpPr>
        <p:spPr>
          <a:xfrm>
            <a:off x="502920" y="2916936"/>
            <a:ext cx="118872" cy="118872"/>
          </a:xfrm>
          <a:prstGeom prst="rect">
            <a:avLst/>
          </a:prstGeom>
          <a:solidFill>
            <a:srgbClr val="C9A227"/>
          </a:solidFill>
          <a:ln/>
        </p:spPr>
        <p:txBody>
          <a:bodyPr/>
          <a:lstStyle/>
          <a:p>
            <a:endParaRPr lang="pt-BR" noProof="0" dirty="0"/>
          </a:p>
        </p:txBody>
      </p:sp>
      <p:sp>
        <p:nvSpPr>
          <p:cNvPr id="10" name="Text 8"/>
          <p:cNvSpPr/>
          <p:nvPr/>
        </p:nvSpPr>
        <p:spPr>
          <a:xfrm>
            <a:off x="868680" y="2825496"/>
            <a:ext cx="10835640" cy="566928"/>
          </a:xfrm>
          <a:prstGeom prst="rect">
            <a:avLst/>
          </a:prstGeom>
          <a:noFill/>
          <a:ln/>
        </p:spPr>
        <p:txBody>
          <a:bodyPr wrap="square" lIns="0" tIns="0" rIns="0" bIns="0" rtlCol="0" anchor="t"/>
          <a:lstStyle/>
          <a:p>
            <a:pPr marL="0" indent="0">
              <a:lnSpc>
                <a:spcPct val="110000"/>
              </a:lnSpc>
              <a:buNone/>
            </a:pPr>
            <a:r>
              <a:rPr lang="pt-BR" sz="1130" noProof="0" dirty="0">
                <a:solidFill>
                  <a:srgbClr val="2B2B2E"/>
                </a:solidFill>
                <a:latin typeface="Calibri" pitchFamily="34" charset="0"/>
                <a:ea typeface="Calibri" pitchFamily="34" charset="-122"/>
                <a:cs typeface="Calibri" pitchFamily="34" charset="-120"/>
              </a:rPr>
              <a:t>BLOCH, Joshua. </a:t>
            </a:r>
            <a:r>
              <a:rPr lang="pt-BR" sz="1130" noProof="0" dirty="0" err="1">
                <a:solidFill>
                  <a:srgbClr val="2B2B2E"/>
                </a:solidFill>
                <a:latin typeface="Calibri" pitchFamily="34" charset="0"/>
                <a:ea typeface="Calibri" pitchFamily="34" charset="-122"/>
                <a:cs typeface="Calibri" pitchFamily="34" charset="-120"/>
              </a:rPr>
              <a:t>Effective</a:t>
            </a:r>
            <a:r>
              <a:rPr lang="pt-BR" sz="1130" noProof="0" dirty="0">
                <a:solidFill>
                  <a:srgbClr val="2B2B2E"/>
                </a:solidFill>
                <a:latin typeface="Calibri" pitchFamily="34" charset="0"/>
                <a:ea typeface="Calibri" pitchFamily="34" charset="-122"/>
                <a:cs typeface="Calibri" pitchFamily="34" charset="-120"/>
              </a:rPr>
              <a:t> Java. 3. ed. Addison-Wesley Professional, 2018. Item 34: Use </a:t>
            </a:r>
            <a:r>
              <a:rPr lang="pt-BR" sz="1130" noProof="0" dirty="0" err="1">
                <a:solidFill>
                  <a:srgbClr val="2B2B2E"/>
                </a:solidFill>
                <a:latin typeface="Calibri" pitchFamily="34" charset="0"/>
                <a:ea typeface="Calibri" pitchFamily="34" charset="-122"/>
                <a:cs typeface="Calibri" pitchFamily="34" charset="-120"/>
              </a:rPr>
              <a:t>enums</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instead</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of</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int</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constants</a:t>
            </a:r>
            <a:r>
              <a:rPr lang="pt-BR" sz="1130" noProof="0" dirty="0">
                <a:solidFill>
                  <a:srgbClr val="2B2B2E"/>
                </a:solidFill>
                <a:latin typeface="Calibri" pitchFamily="34" charset="0"/>
                <a:ea typeface="Calibri" pitchFamily="34" charset="-122"/>
                <a:cs typeface="Calibri" pitchFamily="34" charset="-120"/>
              </a:rPr>
              <a:t>.</a:t>
            </a:r>
            <a:endParaRPr lang="pt-BR" sz="1130" noProof="0" dirty="0"/>
          </a:p>
        </p:txBody>
      </p:sp>
      <p:sp>
        <p:nvSpPr>
          <p:cNvPr id="11" name="Shape 9"/>
          <p:cNvSpPr/>
          <p:nvPr/>
        </p:nvSpPr>
        <p:spPr>
          <a:xfrm>
            <a:off x="502920" y="3538728"/>
            <a:ext cx="118872" cy="118872"/>
          </a:xfrm>
          <a:prstGeom prst="rect">
            <a:avLst/>
          </a:prstGeom>
          <a:solidFill>
            <a:srgbClr val="C9A227"/>
          </a:solidFill>
          <a:ln/>
        </p:spPr>
        <p:txBody>
          <a:bodyPr/>
          <a:lstStyle/>
          <a:p>
            <a:endParaRPr lang="pt-BR" noProof="0" dirty="0"/>
          </a:p>
        </p:txBody>
      </p:sp>
      <p:sp>
        <p:nvSpPr>
          <p:cNvPr id="12" name="Text 10"/>
          <p:cNvSpPr/>
          <p:nvPr/>
        </p:nvSpPr>
        <p:spPr>
          <a:xfrm>
            <a:off x="868680" y="3447288"/>
            <a:ext cx="10835640" cy="566928"/>
          </a:xfrm>
          <a:prstGeom prst="rect">
            <a:avLst/>
          </a:prstGeom>
          <a:noFill/>
          <a:ln/>
        </p:spPr>
        <p:txBody>
          <a:bodyPr wrap="square" lIns="0" tIns="0" rIns="0" bIns="0" rtlCol="0" anchor="t"/>
          <a:lstStyle/>
          <a:p>
            <a:pPr marL="0" indent="0">
              <a:lnSpc>
                <a:spcPct val="110000"/>
              </a:lnSpc>
              <a:buNone/>
            </a:pPr>
            <a:r>
              <a:rPr lang="pt-BR" sz="1130" noProof="0" dirty="0">
                <a:solidFill>
                  <a:srgbClr val="2B2B2E"/>
                </a:solidFill>
                <a:latin typeface="Calibri" pitchFamily="34" charset="0"/>
                <a:ea typeface="Calibri" pitchFamily="34" charset="-122"/>
                <a:cs typeface="Calibri" pitchFamily="34" charset="-120"/>
              </a:rPr>
              <a:t>LIEBERHERR, Karl J.; HOLLAND, Ian; RIEL, Arthur J. </a:t>
            </a:r>
            <a:r>
              <a:rPr lang="pt-BR" sz="1130" noProof="0" dirty="0" err="1">
                <a:solidFill>
                  <a:srgbClr val="2B2B2E"/>
                </a:solidFill>
                <a:latin typeface="Calibri" pitchFamily="34" charset="0"/>
                <a:ea typeface="Calibri" pitchFamily="34" charset="-122"/>
                <a:cs typeface="Calibri" pitchFamily="34" charset="-120"/>
              </a:rPr>
              <a:t>Object-oriented</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programming</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an</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objective</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sense</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of</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style</a:t>
            </a:r>
            <a:r>
              <a:rPr lang="pt-BR" sz="1130" noProof="0" dirty="0">
                <a:solidFill>
                  <a:srgbClr val="2B2B2E"/>
                </a:solidFill>
                <a:latin typeface="Calibri" pitchFamily="34" charset="0"/>
                <a:ea typeface="Calibri" pitchFamily="34" charset="-122"/>
                <a:cs typeface="Calibri" pitchFamily="34" charset="-120"/>
              </a:rPr>
              <a:t>. In: OOPSLA ’88 </a:t>
            </a:r>
            <a:r>
              <a:rPr lang="pt-BR" sz="1130" noProof="0" dirty="0" err="1">
                <a:solidFill>
                  <a:srgbClr val="2B2B2E"/>
                </a:solidFill>
                <a:latin typeface="Calibri" pitchFamily="34" charset="0"/>
                <a:ea typeface="Calibri" pitchFamily="34" charset="-122"/>
                <a:cs typeface="Calibri" pitchFamily="34" charset="-120"/>
              </a:rPr>
              <a:t>Conference</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Proceedings</a:t>
            </a:r>
            <a:r>
              <a:rPr lang="pt-BR" sz="1130" noProof="0" dirty="0">
                <a:solidFill>
                  <a:srgbClr val="2B2B2E"/>
                </a:solidFill>
                <a:latin typeface="Calibri" pitchFamily="34" charset="0"/>
                <a:ea typeface="Calibri" pitchFamily="34" charset="-122"/>
                <a:cs typeface="Calibri" pitchFamily="34" charset="-120"/>
              </a:rPr>
              <a:t>. San Diego: ACM, 1988. p. 323–334.</a:t>
            </a:r>
            <a:endParaRPr lang="pt-BR" sz="1130" noProof="0" dirty="0"/>
          </a:p>
        </p:txBody>
      </p:sp>
      <p:sp>
        <p:nvSpPr>
          <p:cNvPr id="13" name="Shape 11"/>
          <p:cNvSpPr/>
          <p:nvPr/>
        </p:nvSpPr>
        <p:spPr>
          <a:xfrm>
            <a:off x="502920" y="4160520"/>
            <a:ext cx="118872" cy="118872"/>
          </a:xfrm>
          <a:prstGeom prst="rect">
            <a:avLst/>
          </a:prstGeom>
          <a:solidFill>
            <a:srgbClr val="C9A227"/>
          </a:solidFill>
          <a:ln/>
        </p:spPr>
        <p:txBody>
          <a:bodyPr/>
          <a:lstStyle/>
          <a:p>
            <a:endParaRPr lang="pt-BR" noProof="0" dirty="0"/>
          </a:p>
        </p:txBody>
      </p:sp>
      <p:sp>
        <p:nvSpPr>
          <p:cNvPr id="14" name="Text 12"/>
          <p:cNvSpPr/>
          <p:nvPr/>
        </p:nvSpPr>
        <p:spPr>
          <a:xfrm>
            <a:off x="868680" y="4069080"/>
            <a:ext cx="10835640" cy="566928"/>
          </a:xfrm>
          <a:prstGeom prst="rect">
            <a:avLst/>
          </a:prstGeom>
          <a:noFill/>
          <a:ln/>
        </p:spPr>
        <p:txBody>
          <a:bodyPr wrap="square" lIns="0" tIns="0" rIns="0" bIns="0" rtlCol="0" anchor="t"/>
          <a:lstStyle/>
          <a:p>
            <a:pPr marL="0" indent="0">
              <a:lnSpc>
                <a:spcPct val="110000"/>
              </a:lnSpc>
              <a:buNone/>
            </a:pPr>
            <a:r>
              <a:rPr lang="pt-BR" sz="1130" noProof="0" dirty="0">
                <a:solidFill>
                  <a:srgbClr val="2B2B2E"/>
                </a:solidFill>
                <a:latin typeface="Calibri" pitchFamily="34" charset="0"/>
                <a:ea typeface="Calibri" pitchFamily="34" charset="-122"/>
                <a:cs typeface="Calibri" pitchFamily="34" charset="-120"/>
              </a:rPr>
              <a:t>BOCK, David. The </a:t>
            </a:r>
            <a:r>
              <a:rPr lang="pt-BR" sz="1130" noProof="0" dirty="0" err="1">
                <a:solidFill>
                  <a:srgbClr val="2B2B2E"/>
                </a:solidFill>
                <a:latin typeface="Calibri" pitchFamily="34" charset="0"/>
                <a:ea typeface="Calibri" pitchFamily="34" charset="-122"/>
                <a:cs typeface="Calibri" pitchFamily="34" charset="-120"/>
              </a:rPr>
              <a:t>Paperboy</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the</a:t>
            </a:r>
            <a:r>
              <a:rPr lang="pt-BR" sz="1130" noProof="0" dirty="0">
                <a:solidFill>
                  <a:srgbClr val="2B2B2E"/>
                </a:solidFill>
                <a:latin typeface="Calibri" pitchFamily="34" charset="0"/>
                <a:ea typeface="Calibri" pitchFamily="34" charset="-122"/>
                <a:cs typeface="Calibri" pitchFamily="34" charset="-120"/>
              </a:rPr>
              <a:t> Wallet, </a:t>
            </a:r>
            <a:r>
              <a:rPr lang="pt-BR" sz="1130" noProof="0" dirty="0" err="1">
                <a:solidFill>
                  <a:srgbClr val="2B2B2E"/>
                </a:solidFill>
                <a:latin typeface="Calibri" pitchFamily="34" charset="0"/>
                <a:ea typeface="Calibri" pitchFamily="34" charset="-122"/>
                <a:cs typeface="Calibri" pitchFamily="34" charset="-120"/>
              </a:rPr>
              <a:t>and</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the</a:t>
            </a:r>
            <a:r>
              <a:rPr lang="pt-BR" sz="1130" noProof="0" dirty="0">
                <a:solidFill>
                  <a:srgbClr val="2B2B2E"/>
                </a:solidFill>
                <a:latin typeface="Calibri" pitchFamily="34" charset="0"/>
                <a:ea typeface="Calibri" pitchFamily="34" charset="-122"/>
                <a:cs typeface="Calibri" pitchFamily="34" charset="-120"/>
              </a:rPr>
              <a:t> Law </a:t>
            </a:r>
            <a:r>
              <a:rPr lang="pt-BR" sz="1130" noProof="0" dirty="0" err="1">
                <a:solidFill>
                  <a:srgbClr val="2B2B2E"/>
                </a:solidFill>
                <a:latin typeface="Calibri" pitchFamily="34" charset="0"/>
                <a:ea typeface="Calibri" pitchFamily="34" charset="-122"/>
                <a:cs typeface="Calibri" pitchFamily="34" charset="-120"/>
              </a:rPr>
              <a:t>of</a:t>
            </a:r>
            <a:r>
              <a:rPr lang="pt-BR" sz="1130" noProof="0" dirty="0">
                <a:solidFill>
                  <a:srgbClr val="2B2B2E"/>
                </a:solidFill>
                <a:latin typeface="Calibri" pitchFamily="34" charset="0"/>
                <a:ea typeface="Calibri" pitchFamily="34" charset="-122"/>
                <a:cs typeface="Calibri" pitchFamily="34" charset="-120"/>
              </a:rPr>
              <a:t> Demeter.</a:t>
            </a:r>
            <a:endParaRPr lang="pt-BR" sz="1130" noProof="0" dirty="0"/>
          </a:p>
        </p:txBody>
      </p:sp>
      <p:sp>
        <p:nvSpPr>
          <p:cNvPr id="15" name="Shape 13"/>
          <p:cNvSpPr/>
          <p:nvPr/>
        </p:nvSpPr>
        <p:spPr>
          <a:xfrm>
            <a:off x="502920" y="4782312"/>
            <a:ext cx="118872" cy="118872"/>
          </a:xfrm>
          <a:prstGeom prst="rect">
            <a:avLst/>
          </a:prstGeom>
          <a:solidFill>
            <a:srgbClr val="C9A227"/>
          </a:solidFill>
          <a:ln/>
        </p:spPr>
        <p:txBody>
          <a:bodyPr/>
          <a:lstStyle/>
          <a:p>
            <a:endParaRPr lang="pt-BR" noProof="0" dirty="0"/>
          </a:p>
        </p:txBody>
      </p:sp>
      <p:sp>
        <p:nvSpPr>
          <p:cNvPr id="16" name="Text 14"/>
          <p:cNvSpPr/>
          <p:nvPr/>
        </p:nvSpPr>
        <p:spPr>
          <a:xfrm>
            <a:off x="868680" y="4690872"/>
            <a:ext cx="10835640" cy="566928"/>
          </a:xfrm>
          <a:prstGeom prst="rect">
            <a:avLst/>
          </a:prstGeom>
          <a:noFill/>
          <a:ln/>
        </p:spPr>
        <p:txBody>
          <a:bodyPr wrap="square" lIns="0" tIns="0" rIns="0" bIns="0" rtlCol="0" anchor="t"/>
          <a:lstStyle/>
          <a:p>
            <a:pPr marL="0" indent="0">
              <a:lnSpc>
                <a:spcPct val="110000"/>
              </a:lnSpc>
              <a:buNone/>
            </a:pPr>
            <a:r>
              <a:rPr lang="pt-BR" sz="1130" noProof="0" dirty="0">
                <a:solidFill>
                  <a:srgbClr val="2B2B2E"/>
                </a:solidFill>
                <a:latin typeface="Calibri" pitchFamily="34" charset="0"/>
                <a:ea typeface="Calibri" pitchFamily="34" charset="-122"/>
                <a:cs typeface="Calibri" pitchFamily="34" charset="-120"/>
              </a:rPr>
              <a:t>STRIPE. The </a:t>
            </a:r>
            <a:r>
              <a:rPr lang="pt-BR" sz="1130" noProof="0" dirty="0" err="1">
                <a:solidFill>
                  <a:srgbClr val="2B2B2E"/>
                </a:solidFill>
                <a:latin typeface="Calibri" pitchFamily="34" charset="0"/>
                <a:ea typeface="Calibri" pitchFamily="34" charset="-122"/>
                <a:cs typeface="Calibri" pitchFamily="34" charset="-120"/>
              </a:rPr>
              <a:t>Developer</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Coefficient</a:t>
            </a:r>
            <a:r>
              <a:rPr lang="pt-BR" sz="1130" noProof="0" dirty="0">
                <a:solidFill>
                  <a:srgbClr val="2B2B2E"/>
                </a:solidFill>
                <a:latin typeface="Calibri" pitchFamily="34" charset="0"/>
                <a:ea typeface="Calibri" pitchFamily="34" charset="-122"/>
                <a:cs typeface="Calibri" pitchFamily="34" charset="-120"/>
              </a:rPr>
              <a:t>. 2018.</a:t>
            </a:r>
            <a:endParaRPr lang="pt-BR" sz="1130" noProof="0" dirty="0"/>
          </a:p>
        </p:txBody>
      </p:sp>
      <p:sp>
        <p:nvSpPr>
          <p:cNvPr id="17" name="Shape 15"/>
          <p:cNvSpPr/>
          <p:nvPr/>
        </p:nvSpPr>
        <p:spPr>
          <a:xfrm>
            <a:off x="502920" y="5404104"/>
            <a:ext cx="118872" cy="118872"/>
          </a:xfrm>
          <a:prstGeom prst="rect">
            <a:avLst/>
          </a:prstGeom>
          <a:solidFill>
            <a:srgbClr val="C9A227"/>
          </a:solidFill>
          <a:ln/>
        </p:spPr>
        <p:txBody>
          <a:bodyPr/>
          <a:lstStyle/>
          <a:p>
            <a:endParaRPr lang="pt-BR" noProof="0" dirty="0"/>
          </a:p>
        </p:txBody>
      </p:sp>
      <p:sp>
        <p:nvSpPr>
          <p:cNvPr id="18" name="Text 16"/>
          <p:cNvSpPr/>
          <p:nvPr/>
        </p:nvSpPr>
        <p:spPr>
          <a:xfrm>
            <a:off x="868680" y="5312664"/>
            <a:ext cx="10835640" cy="566928"/>
          </a:xfrm>
          <a:prstGeom prst="rect">
            <a:avLst/>
          </a:prstGeom>
          <a:noFill/>
          <a:ln/>
        </p:spPr>
        <p:txBody>
          <a:bodyPr wrap="square" lIns="0" tIns="0" rIns="0" bIns="0" rtlCol="0" anchor="t"/>
          <a:lstStyle/>
          <a:p>
            <a:pPr marL="0" indent="0">
              <a:lnSpc>
                <a:spcPct val="110000"/>
              </a:lnSpc>
              <a:buNone/>
            </a:pPr>
            <a:r>
              <a:rPr lang="pt-BR" sz="1130" noProof="0" dirty="0">
                <a:solidFill>
                  <a:srgbClr val="2B2B2E"/>
                </a:solidFill>
                <a:latin typeface="Calibri" pitchFamily="34" charset="0"/>
                <a:ea typeface="Calibri" pitchFamily="34" charset="-122"/>
                <a:cs typeface="Calibri" pitchFamily="34" charset="-120"/>
              </a:rPr>
              <a:t>MCKINSEY &amp; COMPANY. </a:t>
            </a:r>
            <a:r>
              <a:rPr lang="pt-BR" sz="1130" noProof="0" dirty="0" err="1">
                <a:solidFill>
                  <a:srgbClr val="2B2B2E"/>
                </a:solidFill>
                <a:latin typeface="Calibri" pitchFamily="34" charset="0"/>
                <a:ea typeface="Calibri" pitchFamily="34" charset="-122"/>
                <a:cs typeface="Calibri" pitchFamily="34" charset="-120"/>
              </a:rPr>
              <a:t>Developer</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Velocity</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How</a:t>
            </a:r>
            <a:r>
              <a:rPr lang="pt-BR" sz="1130" noProof="0" dirty="0">
                <a:solidFill>
                  <a:srgbClr val="2B2B2E"/>
                </a:solidFill>
                <a:latin typeface="Calibri" pitchFamily="34" charset="0"/>
                <a:ea typeface="Calibri" pitchFamily="34" charset="-122"/>
                <a:cs typeface="Calibri" pitchFamily="34" charset="-120"/>
              </a:rPr>
              <a:t> software </a:t>
            </a:r>
            <a:r>
              <a:rPr lang="pt-BR" sz="1130" noProof="0" dirty="0" err="1">
                <a:solidFill>
                  <a:srgbClr val="2B2B2E"/>
                </a:solidFill>
                <a:latin typeface="Calibri" pitchFamily="34" charset="0"/>
                <a:ea typeface="Calibri" pitchFamily="34" charset="-122"/>
                <a:cs typeface="Calibri" pitchFamily="34" charset="-120"/>
              </a:rPr>
              <a:t>excellence</a:t>
            </a:r>
            <a:r>
              <a:rPr lang="pt-BR" sz="1130" noProof="0" dirty="0">
                <a:solidFill>
                  <a:srgbClr val="2B2B2E"/>
                </a:solidFill>
                <a:latin typeface="Calibri" pitchFamily="34" charset="0"/>
                <a:ea typeface="Calibri" pitchFamily="34" charset="-122"/>
                <a:cs typeface="Calibri" pitchFamily="34" charset="-120"/>
              </a:rPr>
              <a:t> </a:t>
            </a:r>
            <a:r>
              <a:rPr lang="pt-BR" sz="1130" noProof="0" dirty="0" err="1">
                <a:solidFill>
                  <a:srgbClr val="2B2B2E"/>
                </a:solidFill>
                <a:latin typeface="Calibri" pitchFamily="34" charset="0"/>
                <a:ea typeface="Calibri" pitchFamily="34" charset="-122"/>
                <a:cs typeface="Calibri" pitchFamily="34" charset="-120"/>
              </a:rPr>
              <a:t>fuels</a:t>
            </a:r>
            <a:r>
              <a:rPr lang="pt-BR" sz="1130" noProof="0" dirty="0">
                <a:solidFill>
                  <a:srgbClr val="2B2B2E"/>
                </a:solidFill>
                <a:latin typeface="Calibri" pitchFamily="34" charset="0"/>
                <a:ea typeface="Calibri" pitchFamily="34" charset="-122"/>
                <a:cs typeface="Calibri" pitchFamily="34" charset="-120"/>
              </a:rPr>
              <a:t> business performance. 2020.</a:t>
            </a:r>
            <a:endParaRPr lang="pt-BR" sz="1130" noProof="0" dirty="0"/>
          </a:p>
        </p:txBody>
      </p:sp>
      <p:sp>
        <p:nvSpPr>
          <p:cNvPr id="19" name="Shape 17"/>
          <p:cNvSpPr/>
          <p:nvPr/>
        </p:nvSpPr>
        <p:spPr>
          <a:xfrm>
            <a:off x="502920" y="6035040"/>
            <a:ext cx="11201400" cy="457200"/>
          </a:xfrm>
          <a:prstGeom prst="roundRect">
            <a:avLst>
              <a:gd name="adj" fmla="val 10000"/>
            </a:avLst>
          </a:prstGeom>
          <a:solidFill>
            <a:srgbClr val="F6F5EF"/>
          </a:solidFill>
          <a:ln w="12700">
            <a:solidFill>
              <a:srgbClr val="C9CDD6"/>
            </a:solidFill>
            <a:prstDash val="solid"/>
          </a:ln>
        </p:spPr>
        <p:txBody>
          <a:bodyPr/>
          <a:lstStyle/>
          <a:p>
            <a:endParaRPr lang="pt-BR" noProof="0" dirty="0"/>
          </a:p>
        </p:txBody>
      </p:sp>
      <p:sp>
        <p:nvSpPr>
          <p:cNvPr id="20" name="Text 18"/>
          <p:cNvSpPr/>
          <p:nvPr/>
        </p:nvSpPr>
        <p:spPr>
          <a:xfrm>
            <a:off x="685800" y="6035040"/>
            <a:ext cx="10835640" cy="457200"/>
          </a:xfrm>
          <a:prstGeom prst="rect">
            <a:avLst/>
          </a:prstGeom>
          <a:noFill/>
          <a:ln/>
        </p:spPr>
        <p:txBody>
          <a:bodyPr wrap="square" lIns="0" tIns="0" rIns="0" bIns="0" rtlCol="0" anchor="ctr"/>
          <a:lstStyle/>
          <a:p>
            <a:pPr marL="0" indent="0">
              <a:lnSpc>
                <a:spcPct val="110000"/>
              </a:lnSpc>
              <a:buNone/>
            </a:pPr>
            <a:r>
              <a:rPr lang="pt-BR" sz="900" i="1" noProof="0" dirty="0">
                <a:solidFill>
                  <a:srgbClr val="6B7280"/>
                </a:solidFill>
                <a:latin typeface="Calibri" pitchFamily="34" charset="0"/>
                <a:ea typeface="Calibri" pitchFamily="34" charset="-122"/>
                <a:cs typeface="Calibri" pitchFamily="34" charset="-120"/>
              </a:rPr>
              <a:t>KISS é apresentado como heurística de projeto. A distinção entre complexidade essencial e acidental ajuda a discutir seu uso, mas não transforma simplicidade em uma métrica puramente quantitativa.</a:t>
            </a:r>
            <a:endParaRPr lang="pt-BR" sz="900" noProof="0" dirty="0"/>
          </a:p>
        </p:txBody>
      </p:sp>
      <p:sp>
        <p:nvSpPr>
          <p:cNvPr id="21" name="Shape 19"/>
          <p:cNvSpPr/>
          <p:nvPr/>
        </p:nvSpPr>
        <p:spPr>
          <a:xfrm>
            <a:off x="0" y="6528816"/>
            <a:ext cx="12188952" cy="329184"/>
          </a:xfrm>
          <a:prstGeom prst="rect">
            <a:avLst/>
          </a:prstGeom>
          <a:solidFill>
            <a:srgbClr val="1B2A4A"/>
          </a:solidFill>
          <a:ln/>
        </p:spPr>
        <p:txBody>
          <a:bodyPr/>
          <a:lstStyle/>
          <a:p>
            <a:endParaRPr lang="pt-BR" noProof="0" dirty="0"/>
          </a:p>
        </p:txBody>
      </p:sp>
      <p:sp>
        <p:nvSpPr>
          <p:cNvPr id="22" name="Text 20"/>
          <p:cNvSpPr/>
          <p:nvPr/>
        </p:nvSpPr>
        <p:spPr>
          <a:xfrm>
            <a:off x="502920" y="6528816"/>
            <a:ext cx="9052560" cy="329184"/>
          </a:xfrm>
          <a:prstGeom prst="rect">
            <a:avLst/>
          </a:prstGeom>
          <a:noFill/>
          <a:ln/>
        </p:spPr>
        <p:txBody>
          <a:bodyPr wrap="square" lIns="0" tIns="0" rIns="0" bIns="0" rtlCol="0" anchor="ctr"/>
          <a:lstStyle/>
          <a:p>
            <a:pPr marL="0" indent="0">
              <a:buNone/>
            </a:pPr>
            <a:r>
              <a:rPr lang="pt-BR" sz="900" noProof="0" dirty="0">
                <a:solidFill>
                  <a:srgbClr val="FFFFFF"/>
                </a:solidFill>
                <a:latin typeface="Calibri" pitchFamily="34" charset="0"/>
                <a:ea typeface="Calibri" pitchFamily="34" charset="-122"/>
                <a:cs typeface="Calibri" pitchFamily="34" charset="-120"/>
              </a:rPr>
              <a:t>Qualidade e Refatoração de Código  |  Técnicas Avançadas de Programação</a:t>
            </a:r>
            <a:endParaRPr lang="pt-BR" sz="900" noProof="0" dirty="0"/>
          </a:p>
        </p:txBody>
      </p:sp>
      <p:sp>
        <p:nvSpPr>
          <p:cNvPr id="23" name="Text 21"/>
          <p:cNvSpPr/>
          <p:nvPr/>
        </p:nvSpPr>
        <p:spPr>
          <a:xfrm>
            <a:off x="10607040" y="6528816"/>
            <a:ext cx="1097280" cy="329184"/>
          </a:xfrm>
          <a:prstGeom prst="rect">
            <a:avLst/>
          </a:prstGeom>
          <a:noFill/>
          <a:ln/>
        </p:spPr>
        <p:txBody>
          <a:bodyPr wrap="square" lIns="0" tIns="0" rIns="0" bIns="0" rtlCol="0" anchor="ctr"/>
          <a:lstStyle/>
          <a:p>
            <a:pPr marL="0" indent="0" algn="r">
              <a:buNone/>
            </a:pPr>
            <a:r>
              <a:rPr lang="pt-BR" sz="950" b="1" noProof="0" dirty="0">
                <a:solidFill>
                  <a:srgbClr val="C9A227"/>
                </a:solidFill>
                <a:latin typeface="Calibri" pitchFamily="34" charset="0"/>
                <a:ea typeface="Calibri" pitchFamily="34" charset="-122"/>
                <a:cs typeface="Calibri" pitchFamily="34" charset="-120"/>
              </a:rPr>
              <a:t>15 / 15</a:t>
            </a:r>
            <a:endParaRPr lang="pt-BR" sz="95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TotalTime>
  <Words>11412</Words>
  <Application>Microsoft Office PowerPoint</Application>
  <PresentationFormat>Widescreen</PresentationFormat>
  <Paragraphs>478</Paragraphs>
  <Slides>16</Slides>
  <Notes>16</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16</vt:i4>
      </vt:variant>
    </vt:vector>
  </HeadingPairs>
  <TitlesOfParts>
    <vt:vector size="24" baseType="lpstr">
      <vt:lpstr>Arial</vt:lpstr>
      <vt:lpstr>Calibri</vt:lpstr>
      <vt:lpstr>Cambria</vt:lpstr>
      <vt:lpstr>Consolas</vt:lpstr>
      <vt:lpstr>Courier New</vt:lpstr>
      <vt:lpstr>Tahoma</vt:lpstr>
      <vt:lpstr>Wingdings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Qualidade e Refatoração de Código</dc:title>
  <dc:subject>PptxGenJS Presentation</dc:subject>
  <dc:creator>Técnicas Avançadas de Programação</dc:creator>
  <cp:lastModifiedBy>beLIVE</cp:lastModifiedBy>
  <cp:revision>59</cp:revision>
  <dcterms:created xsi:type="dcterms:W3CDTF">2026-08-17T14:52:47Z</dcterms:created>
  <dcterms:modified xsi:type="dcterms:W3CDTF">2026-08-21T00:59:19Z</dcterms:modified>
</cp:coreProperties>
</file>